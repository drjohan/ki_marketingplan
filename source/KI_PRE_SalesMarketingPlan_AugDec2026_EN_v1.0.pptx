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15216865c84bd9" /><Relationship Type="http://schemas.openxmlformats.org/officeDocument/2006/relationships/extended-properties" Target="/docProps/app.xml" Id="R069f4861591b4112" /><Relationship Type="http://schemas.openxmlformats.org/officeDocument/2006/relationships/officeDocument" Target="/ppt/presentation.xml" Id="Rb96af8635d9044c8" /></Relationships>
</file>

<file path=ppt/presentation.xml><?xml version="1.0" encoding="utf-8"?>
<p:presentation xmlns:p="http://schemas.openxmlformats.org/presentationml/2006/main">
  <p:sldMasterIdLst>
    <p:sldMasterId xmlns:r="http://schemas.openxmlformats.org/officeDocument/2006/relationships" id="2147483648" r:id="R5a3a81e069d24b1c"/>
  </p:sldMasterIdLst>
  <p:notesMasterIdLst>
    <p:notesMasterId xmlns:r="http://schemas.openxmlformats.org/officeDocument/2006/relationships" r:id="R9f1a701173cf4c76"/>
  </p:notesMasterIdLst>
  <p:sldIdLst>
    <p:sldId xmlns:r="http://schemas.openxmlformats.org/officeDocument/2006/relationships" id="256" r:id="R46d15c675f354f9d"/>
    <p:sldId xmlns:r="http://schemas.openxmlformats.org/officeDocument/2006/relationships" id="257" r:id="R249b21099d324c43"/>
    <p:sldId xmlns:r="http://schemas.openxmlformats.org/officeDocument/2006/relationships" id="258" r:id="R7514ac852fc44de0"/>
    <p:sldId xmlns:r="http://schemas.openxmlformats.org/officeDocument/2006/relationships" id="259" r:id="R0d4fa56a740b45f3"/>
    <p:sldId xmlns:r="http://schemas.openxmlformats.org/officeDocument/2006/relationships" id="260" r:id="R5bae26d3b96d493b"/>
    <p:sldId xmlns:r="http://schemas.openxmlformats.org/officeDocument/2006/relationships" id="261" r:id="R373be55e81fd4759"/>
    <p:sldId xmlns:r="http://schemas.openxmlformats.org/officeDocument/2006/relationships" id="262" r:id="R402e5b21240649bc"/>
    <p:sldId xmlns:r="http://schemas.openxmlformats.org/officeDocument/2006/relationships" id="263" r:id="R4f2a0796d3e24aeb"/>
    <p:sldId xmlns:r="http://schemas.openxmlformats.org/officeDocument/2006/relationships" id="264" r:id="R1b9f0e86ce4d40f9"/>
    <p:sldId xmlns:r="http://schemas.openxmlformats.org/officeDocument/2006/relationships" id="265" r:id="R3fa7ed98ad494820"/>
    <p:sldId xmlns:r="http://schemas.openxmlformats.org/officeDocument/2006/relationships" id="266" r:id="R0fd214ce9a334395"/>
    <p:sldId xmlns:r="http://schemas.openxmlformats.org/officeDocument/2006/relationships" id="267" r:id="R41f05224e48f49a9"/>
    <p:sldId xmlns:r="http://schemas.openxmlformats.org/officeDocument/2006/relationships" id="268" r:id="R35be1bdabe094d02"/>
    <p:sldId xmlns:r="http://schemas.openxmlformats.org/officeDocument/2006/relationships" id="269" r:id="Ra23ca35cc70440f7"/>
    <p:sldId xmlns:r="http://schemas.openxmlformats.org/officeDocument/2006/relationships" id="270" r:id="R58f239e77cbc451b"/>
    <p:sldId xmlns:r="http://schemas.openxmlformats.org/officeDocument/2006/relationships" id="271" r:id="R9c3716c9f08f4019"/>
    <p:sldId xmlns:r="http://schemas.openxmlformats.org/officeDocument/2006/relationships" id="272" r:id="R30f62401bf004f83"/>
    <p:sldId xmlns:r="http://schemas.openxmlformats.org/officeDocument/2006/relationships" id="273" r:id="Rda585752b0484165"/>
    <p:sldId xmlns:r="http://schemas.openxmlformats.org/officeDocument/2006/relationships" id="274" r:id="R059e6f9888c54d97"/>
    <p:sldId xmlns:r="http://schemas.openxmlformats.org/officeDocument/2006/relationships" id="275" r:id="Ra905788dc3f6494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49c21096194d1f" /><Relationship Type="http://schemas.openxmlformats.org/officeDocument/2006/relationships/slideMaster" Target="/ppt/slideMasters/slideMaster1.xml" Id="R5a3a81e069d24b1c" /><Relationship Type="http://schemas.openxmlformats.org/officeDocument/2006/relationships/notesMaster" Target="/ppt/notesMasters/notesMaster1.xml" Id="R9f1a701173cf4c76" /><Relationship Type="http://schemas.openxmlformats.org/officeDocument/2006/relationships/presProps" Target="/ppt/presProps.xml" Id="R974558b8c242477f" /><Relationship Type="http://schemas.openxmlformats.org/officeDocument/2006/relationships/tableStyles" Target="/ppt/tableStyles.xml" Id="Ra73259c2dcb844ea" /><Relationship Type="http://schemas.openxmlformats.org/officeDocument/2006/relationships/slide" Target="/ppt/slides/slide1.xml" Id="R46d15c675f354f9d" /><Relationship Type="http://schemas.openxmlformats.org/officeDocument/2006/relationships/slide" Target="/ppt/slides/slide2.xml" Id="R249b21099d324c43" /><Relationship Type="http://schemas.openxmlformats.org/officeDocument/2006/relationships/slide" Target="/ppt/slides/slide3.xml" Id="R7514ac852fc44de0" /><Relationship Type="http://schemas.openxmlformats.org/officeDocument/2006/relationships/slide" Target="/ppt/slides/slide4.xml" Id="R0d4fa56a740b45f3" /><Relationship Type="http://schemas.openxmlformats.org/officeDocument/2006/relationships/slide" Target="/ppt/slides/slide5.xml" Id="R5bae26d3b96d493b" /><Relationship Type="http://schemas.openxmlformats.org/officeDocument/2006/relationships/slide" Target="/ppt/slides/slide6.xml" Id="R373be55e81fd4759" /><Relationship Type="http://schemas.openxmlformats.org/officeDocument/2006/relationships/slide" Target="/ppt/slides/slide7.xml" Id="R402e5b21240649bc" /><Relationship Type="http://schemas.openxmlformats.org/officeDocument/2006/relationships/slide" Target="/ppt/slides/slide8.xml" Id="R4f2a0796d3e24aeb" /><Relationship Type="http://schemas.openxmlformats.org/officeDocument/2006/relationships/slide" Target="/ppt/slides/slide9.xml" Id="R1b9f0e86ce4d40f9" /><Relationship Type="http://schemas.openxmlformats.org/officeDocument/2006/relationships/slide" Target="/ppt/slides/slide10.xml" Id="R3fa7ed98ad494820" /><Relationship Type="http://schemas.openxmlformats.org/officeDocument/2006/relationships/slide" Target="/ppt/slides/slide11.xml" Id="R0fd214ce9a334395" /><Relationship Type="http://schemas.openxmlformats.org/officeDocument/2006/relationships/slide" Target="/ppt/slides/slide12.xml" Id="R41f05224e48f49a9" /><Relationship Type="http://schemas.openxmlformats.org/officeDocument/2006/relationships/slide" Target="/ppt/slides/slide13.xml" Id="R35be1bdabe094d02" /><Relationship Type="http://schemas.openxmlformats.org/officeDocument/2006/relationships/slide" Target="/ppt/slides/slide14.xml" Id="Ra23ca35cc70440f7" /><Relationship Type="http://schemas.openxmlformats.org/officeDocument/2006/relationships/slide" Target="/ppt/slides/slide15.xml" Id="R58f239e77cbc451b" /><Relationship Type="http://schemas.openxmlformats.org/officeDocument/2006/relationships/slide" Target="/ppt/slides/slide16.xml" Id="R9c3716c9f08f4019" /><Relationship Type="http://schemas.openxmlformats.org/officeDocument/2006/relationships/slide" Target="/ppt/slides/slide17.xml" Id="R30f62401bf004f83" /><Relationship Type="http://schemas.openxmlformats.org/officeDocument/2006/relationships/slide" Target="/ppt/slides/slide18.xml" Id="Rda585752b0484165" /><Relationship Type="http://schemas.openxmlformats.org/officeDocument/2006/relationships/slide" Target="/ppt/slides/slide19.xml" Id="R059e6f9888c54d97" /><Relationship Type="http://schemas.openxmlformats.org/officeDocument/2006/relationships/slide" Target="/ppt/slides/slide20.xml" Id="Ra905788dc3f649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fd04567a054f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600de26ee14004" /><Relationship Type="http://schemas.openxmlformats.org/officeDocument/2006/relationships/notesMaster" Target="/ppt/notesMasters/notesMaster1.xml" Id="R19d49cb9e16048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6b93f04e9443f2" /><Relationship Type="http://schemas.openxmlformats.org/officeDocument/2006/relationships/notesMaster" Target="/ppt/notesMasters/notesMaster1.xml" Id="R758b9b4e34214f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c4e91325284fda" /><Relationship Type="http://schemas.openxmlformats.org/officeDocument/2006/relationships/notesMaster" Target="/ppt/notesMasters/notesMaster1.xml" Id="R8871be6ed86a49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530ebbd279458d" /><Relationship Type="http://schemas.openxmlformats.org/officeDocument/2006/relationships/notesMaster" Target="/ppt/notesMasters/notesMaster1.xml" Id="R2248db83a9c64c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ac81636d744b60" /><Relationship Type="http://schemas.openxmlformats.org/officeDocument/2006/relationships/notesMaster" Target="/ppt/notesMasters/notesMaster1.xml" Id="R2de2ac52d4fb47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deef94dcb64910" /><Relationship Type="http://schemas.openxmlformats.org/officeDocument/2006/relationships/notesMaster" Target="/ppt/notesMasters/notesMaster1.xml" Id="R37db1cc8b8344a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04c9ec15cb4ede" /><Relationship Type="http://schemas.openxmlformats.org/officeDocument/2006/relationships/notesMaster" Target="/ppt/notesMasters/notesMaster1.xml" Id="Ra5a6823bbc5945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73155514734ed2" /><Relationship Type="http://schemas.openxmlformats.org/officeDocument/2006/relationships/notesMaster" Target="/ppt/notesMasters/notesMaster1.xml" Id="Re0c22867f30a4e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c6c2724e9d4518" /><Relationship Type="http://schemas.openxmlformats.org/officeDocument/2006/relationships/notesMaster" Target="/ppt/notesMasters/notesMaster1.xml" Id="R68c5958516484d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101417b0ac84d01" /><Relationship Type="http://schemas.openxmlformats.org/officeDocument/2006/relationships/notesMaster" Target="/ppt/notesMasters/notesMaster1.xml" Id="Rf8f879e2f79c4b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7808253b5a4dcc" /><Relationship Type="http://schemas.openxmlformats.org/officeDocument/2006/relationships/notesMaster" Target="/ppt/notesMasters/notesMaster1.xml" Id="Rae4483aced704f5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fbf7cd4c3a4b45" /><Relationship Type="http://schemas.openxmlformats.org/officeDocument/2006/relationships/notesMaster" Target="/ppt/notesMasters/notesMaster1.xml" Id="R89a51e2932d44b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4cdc782d5a4718" /><Relationship Type="http://schemas.openxmlformats.org/officeDocument/2006/relationships/notesMaster" Target="/ppt/notesMasters/notesMaster1.xml" Id="R7ca62794bc0446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9b7fa21d0d48bc" /><Relationship Type="http://schemas.openxmlformats.org/officeDocument/2006/relationships/notesMaster" Target="/ppt/notesMasters/notesMaster1.xml" Id="R570b0a2ec2ae43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8022510850c4fca" /><Relationship Type="http://schemas.openxmlformats.org/officeDocument/2006/relationships/notesMaster" Target="/ppt/notesMasters/notesMaster1.xml" Id="R1d8fc1c42059497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cd928d7c074201" /><Relationship Type="http://schemas.openxmlformats.org/officeDocument/2006/relationships/notesMaster" Target="/ppt/notesMasters/notesMaster1.xml" Id="Re8718dccf41a4a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03bc9a6d121485a" /><Relationship Type="http://schemas.openxmlformats.org/officeDocument/2006/relationships/notesMaster" Target="/ppt/notesMasters/notesMaster1.xml" Id="Ra1957640fcee4e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7ede96d4174d5b" /><Relationship Type="http://schemas.openxmlformats.org/officeDocument/2006/relationships/notesMaster" Target="/ppt/notesMasters/notesMaster1.xml" Id="Rf216186bd69e41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1a15ea418d4035" /><Relationship Type="http://schemas.openxmlformats.org/officeDocument/2006/relationships/notesMaster" Target="/ppt/notesMasters/notesMaster1.xml" Id="Re58310b9543542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6cb13ba07d40f2" /><Relationship Type="http://schemas.openxmlformats.org/officeDocument/2006/relationships/notesMaster" Target="/ppt/notesMasters/notesMaster1.xml" Id="R3fc58b5493f74e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the deck as an approval and execution discussion. The goal is not merely to increase posting activity; it is to create a measurable, clinically governed route from awareness to wound assessment and treatment-plan start.</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that registration is an enabler, not the complete go-to-market strategy. Growth depends on three disciplines: governance, measurement and repeatable execution.</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align the room around the central positioning. Avoid discussing Cellmax as an isolated commodity. The service pathway and clinical assessment are the basis of trust and differentiation.</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a balanced scorecard: reputation, conversion pathway, clinical differentiation, referral growth and revenue progress.</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who the plan is designed to reach and what the clinic is actually offering. The geographic focus protects the feasibility of repeat follow-up.</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dependency between months. August creates the operating foundation. September builds demand. October deepens trust and referral access. November concentrates the campaign. December scales proven activity while protecting continuity.</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August is a controlled soft launch. The priority is to remove operational and compliance gaps before meaningful spend is committed.</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September is the first full demand-generation month. The team must combine education, paid discovery, outreach and disciplined WhatsApp follow-up.</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October turns awareness into authority and referral access. The proof is transparent process, professional education and an easier referral route.</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November is the campaign peak. Keep the education clinically responsible and ensure screening activity has an immediate route to booked assessment.</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December is not simply a higher-spend month. Scale only proven channels, protect treatment continuity and carry qualified demand into January.</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these as stretch targets, not forecasts. The funnel must be calibrated against actual capacity and pricing. Active referral partners are cumulative.</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ramp avoids assuming the July baseline. Once B is confirmed, the monthly target closes 20%, 40%, 60%, 80% and 100% of the gap to RM100,000.</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weekly meeting operational. Review the funnel from source to revenue and resolve blockers. The initial response and show-up targets should be validated after the first month.</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useful wound education. Trust content and patient journeys support conversion, while the call to action remains clear but non-pressuring. Match channels to audience intent.</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operating backbone. Every prospect should receive the same minimum service standard, and every step should be visible in the tracking system.</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range is RM18,500-RM23,000 for paid media. Scaling should be conditional on lead quality, appointment economics and conversion; non-media costs are outside this budget.</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 the owner for each workflow. The weekly review should be short, data-led and focused on resolving operational blockers rather than reporting activity alone.</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release gate. Confirm the current certificate, authorised claims, approval route and consent before any asset is published. The internal plan does not replace formal regulatory or legal review.</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 Medical Device Authority - Advertisement of Medical Device: https://www.mda.gov.my/index.php/industry/medical-device-advertisements/medical-device-advertisement</a:t>
            </a:r>
          </a:p>
          <a:p xmlns:a="http://schemas.openxmlformats.org/drawingml/2006/main">
            <a:r>
              <a:t>- MDA/GL/04 - Application for Medical Device Advertisement Approval: https://www.mda.gov.my/index.php/documents/guideline-documents/1923-approved-guideline-advertisement-update-on-januari-2022-v2-2/file</a:t>
            </a:r>
          </a:p>
          <a:p xmlns:a="http://schemas.openxmlformats.org/drawingml/2006/main">
            <a:r>
              <a:t>- Ministry of Health Pharmaceutical Services - Advertising FAQ: https://pharmacy.moh.gov.my/en/faq-categories/pengiklanan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the decisions needed today. Once the approvals, owners and dates are confirmed, August can operate as a controlled soft launch with a clear first review point.</a:t>
            </a:r>
          </a:p>
          <a:p xmlns:a="http://schemas.openxmlformats.org/drawingml/2006/main">
            <a:r>
              <a:t/>
            </a:r>
          </a:p>
          <a:p xmlns:a="http://schemas.openxmlformats.org/drawingml/2006/main">
            <a:r>
              <a:t>[Sources]</a:t>
            </a:r>
          </a:p>
          <a:p xmlns:a="http://schemas.openxmlformats.org/drawingml/2006/main">
            <a:r>
              <a:t>- Klinik Inocare Sales &amp; Marketing Plan, August-December 2026 (internal working draft, English section).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8114282c9e40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59ce34598e4fdc" /><Relationship Type="http://schemas.openxmlformats.org/officeDocument/2006/relationships/slideLayout" Target="/ppt/slideLayouts/slideLayout1.xml" Id="R6e41acf23f984c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41acf23f984c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dad0e0c5194188" /><Relationship Type="http://schemas.openxmlformats.org/officeDocument/2006/relationships/image" Target="/ppt/media/image.png" Id="Reac185e6d3f147b6" /><Relationship Type="http://schemas.openxmlformats.org/officeDocument/2006/relationships/notesSlide" Target="/ppt/notesSlides/notesSlide1.xml" Id="R8b0b5122f65241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9cff99fc734f7a" /><Relationship Type="http://schemas.openxmlformats.org/officeDocument/2006/relationships/image" Target="/ppt/media/image2.png" Id="R075b52e9e2ed4ec0" /><Relationship Type="http://schemas.openxmlformats.org/officeDocument/2006/relationships/notesSlide" Target="/ppt/notesSlides/notesSlide2.xml" Id="Re5c2adbaba234c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45b585a96d47d4" /><Relationship Type="http://schemas.openxmlformats.org/officeDocument/2006/relationships/image" Target="/ppt/media/image3.png" Id="Raf66848592ec4a5d" /><Relationship Type="http://schemas.openxmlformats.org/officeDocument/2006/relationships/notesSlide" Target="/ppt/notesSlides/notesSlide3.xml" Id="Ree3f21f3a18b47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3c554ff8ad54448" /><Relationship Type="http://schemas.openxmlformats.org/officeDocument/2006/relationships/image" Target="/ppt/media/image4.png" Id="Rbd52e4a1e62845c3" /><Relationship Type="http://schemas.openxmlformats.org/officeDocument/2006/relationships/notesSlide" Target="/ppt/notesSlides/notesSlide4.xml" Id="Rc8ebdaca580649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68ddb88e8b497b" /><Relationship Type="http://schemas.openxmlformats.org/officeDocument/2006/relationships/image" Target="/ppt/media/image5.png" Id="R91b8de97adc9419b" /><Relationship Type="http://schemas.openxmlformats.org/officeDocument/2006/relationships/notesSlide" Target="/ppt/notesSlides/notesSlide5.xml" Id="R2b2df5bf15b643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8ef6f0440c4326" /><Relationship Type="http://schemas.openxmlformats.org/officeDocument/2006/relationships/image" Target="/ppt/media/image6.png" Id="R403e3024755947f9" /><Relationship Type="http://schemas.openxmlformats.org/officeDocument/2006/relationships/notesSlide" Target="/ppt/notesSlides/notesSlide6.xml" Id="Rf5f23eb437e945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366af78d8542ec" /><Relationship Type="http://schemas.openxmlformats.org/officeDocument/2006/relationships/image" Target="/ppt/media/image7.png" Id="Rfdf25da0034c4bc4" /><Relationship Type="http://schemas.openxmlformats.org/officeDocument/2006/relationships/notesSlide" Target="/ppt/notesSlides/notesSlide7.xml" Id="Rf1c4767308d148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9946b949ac400e" /><Relationship Type="http://schemas.openxmlformats.org/officeDocument/2006/relationships/image" Target="/ppt/media/image8.png" Id="Rda3d70e21d7c4cdb" /><Relationship Type="http://schemas.openxmlformats.org/officeDocument/2006/relationships/notesSlide" Target="/ppt/notesSlides/notesSlide8.xml" Id="Rb7895ca1876846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c285d07f604013" /><Relationship Type="http://schemas.openxmlformats.org/officeDocument/2006/relationships/image" Target="/ppt/media/image9.png" Id="Rff42345cacd14b47" /><Relationship Type="http://schemas.openxmlformats.org/officeDocument/2006/relationships/notesSlide" Target="/ppt/notesSlides/notesSlide9.xml" Id="R9da59e34b20c43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2a28acacdd14cb9" /><Relationship Type="http://schemas.openxmlformats.org/officeDocument/2006/relationships/image" Target="/ppt/media/image10.png" Id="R2d04beea8a9a4dfc" /><Relationship Type="http://schemas.openxmlformats.org/officeDocument/2006/relationships/notesSlide" Target="/ppt/notesSlides/notesSlide10.xml" Id="Ra93889cd4edb43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e0c86be2c0b4e6d" /><Relationship Type="http://schemas.openxmlformats.org/officeDocument/2006/relationships/image" Target="/ppt/media/image11.png" Id="R5c5648a8a4154768" /><Relationship Type="http://schemas.openxmlformats.org/officeDocument/2006/relationships/notesSlide" Target="/ppt/notesSlides/notesSlide11.xml" Id="Rec53c15995c443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18699201244586" /><Relationship Type="http://schemas.openxmlformats.org/officeDocument/2006/relationships/image" Target="/ppt/media/image12.png" Id="Radf00582a7344d71" /><Relationship Type="http://schemas.openxmlformats.org/officeDocument/2006/relationships/chart" Target="/ppt/slides/charts/chart1.xml" Id="R922d69487e1d4184" /><Relationship Type="http://schemas.openxmlformats.org/officeDocument/2006/relationships/notesSlide" Target="/ppt/notesSlides/notesSlide12.xml" Id="R1c57fe1a9a7048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7cd8085b5b4eec" /><Relationship Type="http://schemas.openxmlformats.org/officeDocument/2006/relationships/image" Target="/ppt/media/image13.png" Id="R630f1596c155419b" /><Relationship Type="http://schemas.openxmlformats.org/officeDocument/2006/relationships/chart" Target="/ppt/slides/charts/chart2.xml" Id="Rad4356c74ade45ef" /><Relationship Type="http://schemas.openxmlformats.org/officeDocument/2006/relationships/notesSlide" Target="/ppt/notesSlides/notesSlide13.xml" Id="Rde5652703a2f46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fee2b51fe7f4d78" /><Relationship Type="http://schemas.openxmlformats.org/officeDocument/2006/relationships/image" Target="/ppt/media/image14.png" Id="Rf89cc1ec48034a17" /><Relationship Type="http://schemas.openxmlformats.org/officeDocument/2006/relationships/notesSlide" Target="/ppt/notesSlides/notesSlide14.xml" Id="R6e4f3ab4d8bb43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46f3d6a44d246e0" /><Relationship Type="http://schemas.openxmlformats.org/officeDocument/2006/relationships/image" Target="/ppt/media/image15.png" Id="R815709d3f5b84746" /><Relationship Type="http://schemas.openxmlformats.org/officeDocument/2006/relationships/chart" Target="/ppt/slides/charts/chart3.xml" Id="Rf4522b04303c4797" /><Relationship Type="http://schemas.openxmlformats.org/officeDocument/2006/relationships/notesSlide" Target="/ppt/notesSlides/notesSlide15.xml" Id="Rc23dd05b4ea04d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f6112ef820645dc" /><Relationship Type="http://schemas.openxmlformats.org/officeDocument/2006/relationships/image" Target="/ppt/media/image16.png" Id="Rfc33b335a99b41fd" /><Relationship Type="http://schemas.openxmlformats.org/officeDocument/2006/relationships/notesSlide" Target="/ppt/notesSlides/notesSlide16.xml" Id="R69d0c7f82e804fe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c349f689d61497d" /><Relationship Type="http://schemas.openxmlformats.org/officeDocument/2006/relationships/image" Target="/ppt/media/image17.png" Id="R8454ae2be86e4c60" /><Relationship Type="http://schemas.openxmlformats.org/officeDocument/2006/relationships/chart" Target="/ppt/slides/charts/chart4.xml" Id="R9b3b1d8a98154bf0" /><Relationship Type="http://schemas.openxmlformats.org/officeDocument/2006/relationships/notesSlide" Target="/ppt/notesSlides/notesSlide17.xml" Id="R3a5ffd2b997743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2cead01be5d4ba6" /><Relationship Type="http://schemas.openxmlformats.org/officeDocument/2006/relationships/image" Target="/ppt/media/image18.png" Id="R0b9522a5925d4e7b" /><Relationship Type="http://schemas.openxmlformats.org/officeDocument/2006/relationships/notesSlide" Target="/ppt/notesSlides/notesSlide18.xml" Id="Rac5f13f4eb2542e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632b5be7b9d4724" /><Relationship Type="http://schemas.openxmlformats.org/officeDocument/2006/relationships/image" Target="/ppt/media/image19.png" Id="R1a7eb5ea12434eb4" /><Relationship Type="http://schemas.openxmlformats.org/officeDocument/2006/relationships/notesSlide" Target="/ppt/notesSlides/notesSlide19.xml" Id="Rc567a2a5199942a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772e78a30914b1f" /><Relationship Type="http://schemas.openxmlformats.org/officeDocument/2006/relationships/image" Target="/ppt/media/image20.png" Id="R296c6ba1af80464e" /><Relationship Type="http://schemas.openxmlformats.org/officeDocument/2006/relationships/notesSlide" Target="/ppt/notesSlides/notesSlide20.xml" Id="Rfc205be8f7754562" /></Relationships>
</file>

<file path=ppt/slides/charts/chart1.xml><?xml version="1.0" encoding="utf-8"?>
<c:chartSpace xmlns:c="http://schemas.openxmlformats.org/drawingml/2006/chart">
  <c:lang val="en-US"/>
  <c:chart>
    <c:plotArea>
      <c:barChart>
        <c:barDir val="col"/>
        <c:grouping val="clustered"/>
        <c:varyColors val="0"/>
        <c:ser>
          <c:idx val="0"/>
          <c:order val="0"/>
          <c:tx>
            <c:v>Qualified leads</c:v>
          </c:tx>
          <c:spPr>
            <a:solidFill xmlns:a="http://schemas.openxmlformats.org/drawingml/2006/main">
              <a:srgbClr val="234173"/>
            </a:solidFill>
          </c:spPr>
          <c:cat>
            <c:strLit>
              <c:ptCount val="5"/>
              <c:pt idx="0">
                <c:v>Aug 15-31</c:v>
              </c:pt>
              <c:pt idx="1">
                <c:v>Sep</c:v>
              </c:pt>
              <c:pt idx="2">
                <c:v>Oct</c:v>
              </c:pt>
              <c:pt idx="3">
                <c:v>Nov</c:v>
              </c:pt>
              <c:pt idx="4">
                <c:v>Dec</c:v>
              </c:pt>
            </c:strLit>
          </c:cat>
          <c:val>
            <c:numLit>
              <c:formatCode>General</c:formatCode>
              <c:ptCount val="5"/>
              <c:pt idx="0">
                <c:v>20</c:v>
              </c:pt>
              <c:pt idx="1">
                <c:v>60</c:v>
              </c:pt>
              <c:pt idx="2">
                <c:v>90</c:v>
              </c:pt>
              <c:pt idx="3">
                <c:v>120</c:v>
              </c:pt>
              <c:pt idx="4">
                <c:v>150</c:v>
              </c:pt>
            </c:numLit>
          </c:val>
        </c:ser>
        <c:ser>
          <c:idx val="1"/>
          <c:order val="1"/>
          <c:tx>
            <c:v>Assessments booked</c:v>
          </c:tx>
          <c:spPr>
            <a:solidFill xmlns:a="http://schemas.openxmlformats.org/drawingml/2006/main">
              <a:srgbClr val="538AC3"/>
            </a:solidFill>
          </c:spPr>
          <c:cat>
            <c:strLit>
              <c:ptCount val="5"/>
              <c:pt idx="0">
                <c:v>Aug 15-31</c:v>
              </c:pt>
              <c:pt idx="1">
                <c:v>Sep</c:v>
              </c:pt>
              <c:pt idx="2">
                <c:v>Oct</c:v>
              </c:pt>
              <c:pt idx="3">
                <c:v>Nov</c:v>
              </c:pt>
              <c:pt idx="4">
                <c:v>Dec</c:v>
              </c:pt>
            </c:strLit>
          </c:cat>
          <c:val>
            <c:numLit>
              <c:formatCode>General</c:formatCode>
              <c:ptCount val="5"/>
              <c:pt idx="0">
                <c:v>8</c:v>
              </c:pt>
              <c:pt idx="1">
                <c:v>24</c:v>
              </c:pt>
              <c:pt idx="2">
                <c:v>36</c:v>
              </c:pt>
              <c:pt idx="3">
                <c:v>48</c:v>
              </c:pt>
              <c:pt idx="4">
                <c:v>60</c:v>
              </c:pt>
            </c:numLit>
          </c:val>
        </c:ser>
        <c:ser>
          <c:idx val="2"/>
          <c:order val="2"/>
          <c:tx>
            <c:v>Treatment plans started</c:v>
          </c:tx>
          <c:spPr>
            <a:solidFill xmlns:a="http://schemas.openxmlformats.org/drawingml/2006/main">
              <a:srgbClr val="2E7D32"/>
            </a:solidFill>
          </c:spPr>
          <c:cat>
            <c:strLit>
              <c:ptCount val="5"/>
              <c:pt idx="0">
                <c:v>Aug 15-31</c:v>
              </c:pt>
              <c:pt idx="1">
                <c:v>Sep</c:v>
              </c:pt>
              <c:pt idx="2">
                <c:v>Oct</c:v>
              </c:pt>
              <c:pt idx="3">
                <c:v>Nov</c:v>
              </c:pt>
              <c:pt idx="4">
                <c:v>Dec</c:v>
              </c:pt>
            </c:strLit>
          </c:cat>
          <c:val>
            <c:numLit>
              <c:formatCode>General</c:formatCode>
              <c:ptCount val="5"/>
              <c:pt idx="0">
                <c:v>3</c:v>
              </c:pt>
              <c:pt idx="1">
                <c:v>8</c:v>
              </c:pt>
              <c:pt idx="2">
                <c:v>12</c:v>
              </c:pt>
              <c:pt idx="3">
                <c:v>16</c:v>
              </c:pt>
              <c:pt idx="4">
                <c:v>20</c:v>
              </c:pt>
            </c:numLit>
          </c:val>
        </c:ser>
        <c:gapWidth val="54"/>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F"/>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atAx>
      <c:valAx>
        <c:axId val="48672768"/>
        <c:scaling>
          <c:orientation val="minMax"/>
          <c:max val="160"/>
          <c:min val="0"/>
        </c:scaling>
        <c:delete val="0"/>
        <c:axPos val="l"/>
        <c:majorGridlines>
          <c:spPr>
            <a:ln xmlns:a="http://schemas.openxmlformats.org/drawingml/2006/main" w="9525">
              <a:solidFill>
                <a:srgbClr val="D7E2EF"/>
              </a:solidFill>
              <a:prstDash val="solid"/>
            </a:ln>
          </c:spPr>
        </c:majorGridlines>
        <c:numFmt formatCode="General"/>
        <c:majorTickMark val="none"/>
        <c:minorTickMark val="none"/>
        <c:spPr>
          <a:ln xmlns:a="http://schemas.openxmlformats.org/drawingml/2006/main" w="9525">
            <a:solidFill>
              <a:srgbClr val="D7E2EF"/>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Between val="between"/>
        <c:majorUnit val="40"/>
      </c:valAx>
      <c:spPr>
        <a:solidFill xmlns:a="http://schemas.openxmlformats.org/drawingml/2006/main">
          <a:srgbClr val="F7F9FC"/>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4748B"/>
              </a:solidFill>
            </a:defRPr>
          </a:pPr>
        </a:p>
      </c:txPr>
    </c:legend>
    <c:plotVisOnly val="1"/>
  </c:chart>
  <c:spPr>
    <a:solidFill xmlns:a="http://schemas.openxmlformats.org/drawingml/2006/main">
      <a:srgbClr val="F7F9FC"/>
    </a:solidFill>
    <a:ln xmlns:a="http://schemas.openxmlformats.org/drawingml/2006/main" w="0">
      <a:noFill/>
      <a:prstDash val="solid"/>
    </a:ln>
  </c:spPr>
</c:chartSpace>
</file>

<file path=ppt/slides/charts/chart2.xml><?xml version="1.0" encoding="utf-8"?>
<c:chartSpace xmlns:c="http://schemas.openxmlformats.org/drawingml/2006/chart">
  <c:lang val="en-US"/>
  <c:chart>
    <c:plotArea>
      <c:lineChart>
        <c:grouping val="standard"/>
        <c:ser>
          <c:idx val="0"/>
          <c:order val="0"/>
          <c:tx>
            <c:v>Example target if July was RM40,000</c:v>
          </c:tx>
          <c:spPr>
            <a:ln xmlns:a="http://schemas.openxmlformats.org/drawingml/2006/main" w="38100">
              <a:solidFill>
                <a:srgbClr val="234173"/>
              </a:solidFill>
              <a:prstDash val="solid"/>
            </a:ln>
          </c:spPr>
          <c:marker>
            <c:symbol val="circle"/>
            <c:size val="8"/>
            <c:spPr>
              <a:solidFill xmlns:a="http://schemas.openxmlformats.org/drawingml/2006/main">
                <a:srgbClr val="234173"/>
              </a:solidFill>
            </c:spPr>
          </c:marker>
          <c:cat>
            <c:strLit>
              <c:ptCount val="5"/>
              <c:pt idx="0">
                <c:v>Aug</c:v>
              </c:pt>
              <c:pt idx="1">
                <c:v>Sep</c:v>
              </c:pt>
              <c:pt idx="2">
                <c:v>Oct</c:v>
              </c:pt>
              <c:pt idx="3">
                <c:v>Nov</c:v>
              </c:pt>
              <c:pt idx="4">
                <c:v>Dec</c:v>
              </c:pt>
            </c:strLit>
          </c:cat>
          <c:val>
            <c:numLit>
              <c:formatCode>RM#,##0</c:formatCode>
              <c:ptCount val="5"/>
              <c:pt idx="0">
                <c:v>52000</c:v>
              </c:pt>
              <c:pt idx="1">
                <c:v>64000</c:v>
              </c:pt>
              <c:pt idx="2">
                <c:v>76000</c:v>
              </c:pt>
              <c:pt idx="3">
                <c:v>88000</c:v>
              </c:pt>
              <c:pt idx="4">
                <c:v>100000</c:v>
              </c:pt>
            </c:numLit>
          </c:val>
        </c:ser>
        <c:dLbls>
          <c:txPr>
            <a:bodyPr xmlns:a="http://schemas.openxmlformats.org/drawingml/2006/main" anchorCtr="1"/>
            <a:lstStyle xmlns:a="http://schemas.openxmlformats.org/drawingml/2006/main"/>
            <a:p xmlns:a="http://schemas.openxmlformats.org/drawingml/2006/main">
              <a:pPr>
                <a:defRPr sz="975" b="1">
                  <a:solidFill>
                    <a:srgbClr val="234173"/>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7E2EF"/>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atAx>
      <c:valAx>
        <c:axId val="48672768"/>
        <c:scaling>
          <c:orientation val="minMax"/>
          <c:max val="100000"/>
          <c:min val="40000"/>
        </c:scaling>
        <c:delete val="0"/>
        <c:axPos val="l"/>
        <c:majorGridlines>
          <c:spPr>
            <a:ln xmlns:a="http://schemas.openxmlformats.org/drawingml/2006/main" w="9525">
              <a:solidFill>
                <a:srgbClr val="D7E2EF"/>
              </a:solidFill>
              <a:prstDash val="solid"/>
            </a:ln>
          </c:spPr>
        </c:majorGridlines>
        <c:numFmt formatCode="RM#,##0"/>
        <c:majorTickMark val="none"/>
        <c:minorTickMark val="none"/>
        <c:spPr>
          <a:ln xmlns:a="http://schemas.openxmlformats.org/drawingml/2006/main" w="9525">
            <a:solidFill>
              <a:srgbClr val="D7E2EF"/>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Between val="between"/>
        <c:majorUnit val="2000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3.xml><?xml version="1.0" encoding="utf-8"?>
<c:chartSpace xmlns:c="http://schemas.openxmlformats.org/drawingml/2006/chart">
  <c:lang val="en-US"/>
  <c:chart>
    <c:plotArea>
      <c:doughnutChart>
        <c:ser>
          <c:idx val="0"/>
          <c:order val="0"/>
          <c:tx>
            <c:v>Content mix</c:v>
          </c:tx>
          <c:dPt>
            <c:idx val="0"/>
            <c:spPr>
              <a:solidFill xmlns:a="http://schemas.openxmlformats.org/drawingml/2006/main">
                <a:srgbClr val="234173"/>
              </a:solidFill>
            </c:spPr>
          </c:dPt>
          <c:dPt>
            <c:idx val="1"/>
            <c:spPr>
              <a:solidFill xmlns:a="http://schemas.openxmlformats.org/drawingml/2006/main">
                <a:srgbClr val="538AC3"/>
              </a:solidFill>
            </c:spPr>
          </c:dPt>
          <c:dPt>
            <c:idx val="2"/>
            <c:spPr>
              <a:solidFill xmlns:a="http://schemas.openxmlformats.org/drawingml/2006/main">
                <a:srgbClr val="86ADD3"/>
              </a:solidFill>
            </c:spPr>
          </c:dPt>
          <c:dPt>
            <c:idx val="3"/>
            <c:spPr>
              <a:solidFill xmlns:a="http://schemas.openxmlformats.org/drawingml/2006/main">
                <a:srgbClr val="B9CDE4"/>
              </a:solidFill>
            </c:spPr>
          </c:dPt>
          <c:dPt>
            <c:idx val="4"/>
            <c:spPr>
              <a:solidFill xmlns:a="http://schemas.openxmlformats.org/drawingml/2006/main">
                <a:srgbClr val="2E7D32"/>
              </a:solidFill>
            </c:spPr>
          </c:dPt>
          <c:cat>
            <c:strLit>
              <c:ptCount val="5"/>
              <c:pt idx="0">
                <c:v>Wound education</c:v>
              </c:pt>
              <c:pt idx="1">
                <c:v>Trust</c:v>
              </c:pt>
              <c:pt idx="2">
                <c:v>Cellmax &amp; FAQs</c:v>
              </c:pt>
              <c:pt idx="3">
                <c:v>Patient journeys</c:v>
              </c:pt>
              <c:pt idx="4">
                <c:v>Call to action</c:v>
              </c:pt>
            </c:strLit>
          </c:cat>
          <c:val>
            <c:numLit>
              <c:formatCode>General</c:formatCode>
              <c:ptCount val="5"/>
              <c:pt idx="0">
                <c:v>40</c:v>
              </c:pt>
              <c:pt idx="1">
                <c:v>25</c:v>
              </c:pt>
              <c:pt idx="2">
                <c:v>15</c:v>
              </c:pt>
              <c:pt idx="3">
                <c:v>10</c:v>
              </c:pt>
              <c:pt idx="4">
                <c:v>10</c:v>
              </c:pt>
            </c:numLit>
          </c:val>
        </c:ser>
        <c:dLbls>
          <c:txPr>
            <a:bodyPr xmlns:a="http://schemas.openxmlformats.org/drawingml/2006/main" anchorCtr="1"/>
            <a:lstStyle xmlns:a="http://schemas.openxmlformats.org/drawingml/2006/main"/>
            <a:p xmlns:a="http://schemas.openxmlformats.org/drawingml/2006/main">
              <a:pPr>
                <a:defRPr sz="975" b="1">
                  <a:solidFill>
                    <a:srgbClr val="1E293B"/>
                  </a:solidFill>
                </a:defRPr>
              </a:pPr>
            </a:p>
          </c:txPr>
          <c:showLegendKey val="0"/>
          <c:showVal val="0"/>
          <c:showCatName val="1"/>
          <c:showSerName val="0"/>
          <c:showPercent val="1"/>
          <c:showBubbleSize val="0"/>
          <c:showLeaderLines val="1"/>
        </c:dLbls>
        <c:firstSliceAng val="270"/>
        <c:holeSize val="58"/>
      </c:doughnutChart>
      <c:spPr>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Minimum</c:v>
          </c:tx>
          <c:spPr>
            <a:solidFill xmlns:a="http://schemas.openxmlformats.org/drawingml/2006/main">
              <a:srgbClr val="234173"/>
            </a:solidFill>
          </c:spPr>
          <c:cat>
            <c:strLit>
              <c:ptCount val="5"/>
              <c:pt idx="0">
                <c:v>Aug</c:v>
              </c:pt>
              <c:pt idx="1">
                <c:v>Sep</c:v>
              </c:pt>
              <c:pt idx="2">
                <c:v>Oct</c:v>
              </c:pt>
              <c:pt idx="3">
                <c:v>Nov</c:v>
              </c:pt>
              <c:pt idx="4">
                <c:v>Dec</c:v>
              </c:pt>
            </c:strLit>
          </c:cat>
          <c:val>
            <c:numLit>
              <c:formatCode>RM#,##0</c:formatCode>
              <c:ptCount val="5"/>
              <c:pt idx="0">
                <c:v>1500</c:v>
              </c:pt>
              <c:pt idx="1">
                <c:v>3000</c:v>
              </c:pt>
              <c:pt idx="2">
                <c:v>4000</c:v>
              </c:pt>
              <c:pt idx="3">
                <c:v>5000</c:v>
              </c:pt>
              <c:pt idx="4">
                <c:v>5000</c:v>
              </c:pt>
            </c:numLit>
          </c:val>
        </c:ser>
        <c:ser>
          <c:idx val="1"/>
          <c:order val="1"/>
          <c:tx>
            <c:v>Maximum</c:v>
          </c:tx>
          <c:spPr>
            <a:solidFill xmlns:a="http://schemas.openxmlformats.org/drawingml/2006/main">
              <a:srgbClr val="538AC3"/>
            </a:solidFill>
          </c:spPr>
          <c:cat>
            <c:strLit>
              <c:ptCount val="5"/>
              <c:pt idx="0">
                <c:v>Aug</c:v>
              </c:pt>
              <c:pt idx="1">
                <c:v>Sep</c:v>
              </c:pt>
              <c:pt idx="2">
                <c:v>Oct</c:v>
              </c:pt>
              <c:pt idx="3">
                <c:v>Nov</c:v>
              </c:pt>
              <c:pt idx="4">
                <c:v>Dec</c:v>
              </c:pt>
            </c:strLit>
          </c:cat>
          <c:val>
            <c:numLit>
              <c:formatCode>RM#,##0</c:formatCode>
              <c:ptCount val="5"/>
              <c:pt idx="0">
                <c:v>2000</c:v>
              </c:pt>
              <c:pt idx="1">
                <c:v>4000</c:v>
              </c:pt>
              <c:pt idx="2">
                <c:v>5000</c:v>
              </c:pt>
              <c:pt idx="3">
                <c:v>6000</c:v>
              </c:pt>
              <c:pt idx="4">
                <c:v>6000</c:v>
              </c:pt>
            </c:numLit>
          </c:val>
        </c:ser>
        <c:gapWidth val="4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F"/>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48B"/>
                </a:solidFill>
              </a:defRPr>
            </a:pPr>
          </a:p>
        </c:txPr>
        <c:crossAx val="48672768"/>
      </c:catAx>
      <c:valAx>
        <c:axId val="48672768"/>
        <c:scaling>
          <c:orientation val="minMax"/>
          <c:max val="7000"/>
          <c:min val="0"/>
        </c:scaling>
        <c:delete val="0"/>
        <c:axPos val="l"/>
        <c:majorGridlines>
          <c:spPr>
            <a:ln xmlns:a="http://schemas.openxmlformats.org/drawingml/2006/main" w="9525">
              <a:solidFill>
                <a:srgbClr val="D7E2EF"/>
              </a:solidFill>
              <a:prstDash val="solid"/>
            </a:ln>
          </c:spPr>
        </c:majorGridlines>
        <c:numFmt formatCode="RM#,##0"/>
        <c:majorTickMark val="none"/>
        <c:minorTickMark val="none"/>
        <c:spPr>
          <a:ln xmlns:a="http://schemas.openxmlformats.org/drawingml/2006/main" w="9525">
            <a:solidFill>
              <a:srgbClr val="D7E2EF"/>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48B"/>
                </a:solidFill>
              </a:defRPr>
            </a:pPr>
          </a:p>
        </c:txPr>
        <c:crossAx val="48650112"/>
        <c:crossBetween val="between"/>
        <c:majorUnit val="1000"/>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4748B"/>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ac185e6d3f147b6"/>
          <a:stretch xmlns:a="http://schemas.openxmlformats.org/drawingml/2006/main"/>
        </p:blipFill>
        <p:spPr>
          <a:xfrm xmlns:a="http://schemas.openxmlformats.org/drawingml/2006/main">
            <a:off x="857430" y="523875"/>
            <a:ext cx="3428639" cy="876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FF9F323-27E9-4413-9B4E-0543F88A444E}"/>
              </a:ext>
            </a:extLst>
          </p:cNvPr>
          <p:cNvSpPr>
            <a:spLocks xmlns:a="http://schemas.openxmlformats.org/drawingml/2006/main" noGrp="1"/>
          </p:cNvSpPr>
          <p:nvPr/>
        </p:nvSpPr>
        <p:spPr>
          <a:xfrm xmlns:a="http://schemas.openxmlformats.org/drawingml/2006/main">
            <a:off x="9620250" y="666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64748B"/>
                </a:solidFill>
                <a:latin typeface="Arial"/>
                <a:ea typeface="Arial"/>
                <a:cs typeface="Arial"/>
              </a:defRPr>
            </a:pPr>
            <a:r>
              <a:rPr sz="1125" b="1" i="0">
                <a:solidFill>
                  <a:srgbClr val="64748B"/>
                </a:solidFill>
                <a:latin typeface="Arial"/>
                <a:ea typeface="Arial"/>
                <a:cs typeface="Arial"/>
              </a:rPr>
              <a:t>INTERNAL WORKING DECK  |  15 AUGUST 2026</a:t>
            </a:r>
          </a:p>
        </p:txBody>
      </p:sp>
      <p:sp>
        <p:nvSpPr>
          <p:cNvPr id="3" name="">
            <a:extLst xmlns:a="http://schemas.openxmlformats.org/drawingml/2006/main">
              <a:ext uri="{FF2B5EF4-FFF2-40B4-BE49-F238E27FC236}">
                <a16:creationId xmlns:a16="http://schemas.microsoft.com/office/drawing/2014/main" id="{534871D1-3C03-4E1B-B5CD-F34878CA1913}"/>
              </a:ext>
            </a:extLst>
          </p:cNvPr>
          <p:cNvSpPr>
            <a:spLocks xmlns:a="http://schemas.openxmlformats.org/drawingml/2006/main" noGrp="1"/>
          </p:cNvSpPr>
          <p:nvPr/>
        </p:nvSpPr>
        <p:spPr>
          <a:xfrm xmlns:a="http://schemas.openxmlformats.org/drawingml/2006/main">
            <a:off x="838200" y="7791450"/>
            <a:ext cx="13563600" cy="28575"/>
          </a:xfrm>
          <a:prstGeom xmlns:a="http://schemas.openxmlformats.org/drawingml/2006/main" prst="rect">
            <a:avLst/>
          </a:prstGeom>
          <a:solidFill xmlns:a="http://schemas.openxmlformats.org/drawingml/2006/main">
            <a:srgbClr val="538A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DF695C-B479-40A8-BFA4-8B6FA6356E54}"/>
              </a:ext>
            </a:extLst>
          </p:cNvPr>
          <p:cNvSpPr>
            <a:spLocks xmlns:a="http://schemas.openxmlformats.org/drawingml/2006/main" noGrp="1"/>
          </p:cNvSpPr>
          <p:nvPr/>
        </p:nvSpPr>
        <p:spPr>
          <a:xfrm xmlns:a="http://schemas.openxmlformats.org/drawingml/2006/main">
            <a:off x="857250" y="7972425"/>
            <a:ext cx="6762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234173"/>
                </a:solidFill>
                <a:latin typeface="Arial"/>
                <a:ea typeface="Arial"/>
                <a:cs typeface="Arial"/>
              </a:defRPr>
            </a:pPr>
            <a:r>
              <a:rPr sz="975" b="1" i="0">
                <a:solidFill>
                  <a:srgbClr val="234173"/>
                </a:solidFill>
                <a:latin typeface="Arial"/>
                <a:ea typeface="Arial"/>
                <a:cs typeface="Arial"/>
              </a:rPr>
              <a:t>Prepared for Medical Director &amp; Clinic Management</a:t>
            </a:r>
          </a:p>
        </p:txBody>
      </p:sp>
      <p:sp>
        <p:nvSpPr>
          <p:cNvPr id="5" name="">
            <a:extLst xmlns:a="http://schemas.openxmlformats.org/drawingml/2006/main">
              <a:ext uri="{FF2B5EF4-FFF2-40B4-BE49-F238E27FC236}">
                <a16:creationId xmlns:a16="http://schemas.microsoft.com/office/drawing/2014/main" id="{B29A5968-1824-4281-A2B6-67FACBD358F5}"/>
              </a:ext>
            </a:extLst>
          </p:cNvPr>
          <p:cNvSpPr>
            <a:spLocks xmlns:a="http://schemas.openxmlformats.org/drawingml/2006/main" noGrp="1"/>
          </p:cNvSpPr>
          <p:nvPr/>
        </p:nvSpPr>
        <p:spPr>
          <a:xfrm xmlns:a="http://schemas.openxmlformats.org/drawingml/2006/main">
            <a:off x="857250" y="8191500"/>
            <a:ext cx="676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0" i="0">
                <a:solidFill>
                  <a:srgbClr val="64748B"/>
                </a:solidFill>
                <a:latin typeface="Arial"/>
                <a:ea typeface="Arial"/>
                <a:cs typeface="Arial"/>
              </a:defRPr>
            </a:pPr>
            <a:r>
              <a:rPr sz="900" b="0" i="0">
                <a:solidFill>
                  <a:srgbClr val="64748B"/>
                </a:solidFill>
                <a:latin typeface="Arial"/>
                <a:ea typeface="Arial"/>
                <a:cs typeface="Arial"/>
              </a:rPr>
              <a:t>Dr Johan Ibrahim MD  |  Clinic Operations Officer</a:t>
            </a:r>
          </a:p>
        </p:txBody>
      </p:sp>
      <p:sp>
        <p:nvSpPr>
          <p:cNvPr id="6" name="">
            <a:extLst xmlns:a="http://schemas.openxmlformats.org/drawingml/2006/main">
              <a:ext uri="{FF2B5EF4-FFF2-40B4-BE49-F238E27FC236}">
                <a16:creationId xmlns:a16="http://schemas.microsoft.com/office/drawing/2014/main" id="{F6202F6E-80C9-44B1-80D3-F18F9B587EFC}"/>
              </a:ext>
            </a:extLst>
          </p:cNvPr>
          <p:cNvSpPr>
            <a:spLocks xmlns:a="http://schemas.openxmlformats.org/drawingml/2006/main" noGrp="1"/>
          </p:cNvSpPr>
          <p:nvPr/>
        </p:nvSpPr>
        <p:spPr>
          <a:xfrm xmlns:a="http://schemas.openxmlformats.org/drawingml/2006/main">
            <a:off x="838200" y="2000250"/>
            <a:ext cx="928687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1000"/>
              </a:lnSpc>
              <a:buNone/>
              <a:defRPr sz="4950" b="1" i="0">
                <a:solidFill>
                  <a:srgbClr val="234173"/>
                </a:solidFill>
                <a:latin typeface="Arial"/>
                <a:ea typeface="Arial"/>
                <a:cs typeface="Arial"/>
              </a:defRPr>
            </a:pPr>
            <a:r>
              <a:rPr sz="4950" b="1" i="0">
                <a:solidFill>
                  <a:srgbClr val="234173"/>
                </a:solidFill>
                <a:latin typeface="Arial"/>
                <a:ea typeface="Arial"/>
                <a:cs typeface="Arial"/>
              </a:rPr>
              <a:t>SALES &amp;</a:t>
            </a:r>
          </a:p>
          <a:p xmlns:a="http://schemas.openxmlformats.org/drawingml/2006/main">
            <a:pPr algn="l">
              <a:lnSpc>
                <a:spcPct val="91000"/>
              </a:lnSpc>
              <a:buNone/>
              <a:defRPr sz="4950" b="1" i="0">
                <a:solidFill>
                  <a:srgbClr val="234173"/>
                </a:solidFill>
                <a:latin typeface="Arial"/>
                <a:ea typeface="Arial"/>
                <a:cs typeface="Arial"/>
              </a:defRPr>
            </a:pPr>
            <a:r>
              <a:rPr sz="4950" b="1" i="0">
                <a:solidFill>
                  <a:srgbClr val="234173"/>
                </a:solidFill>
                <a:latin typeface="Arial"/>
                <a:ea typeface="Arial"/>
                <a:cs typeface="Arial"/>
              </a:rPr>
              <a:t>MARKETING PLAN</a:t>
            </a:r>
          </a:p>
        </p:txBody>
      </p:sp>
      <p:sp>
        <p:nvSpPr>
          <p:cNvPr id="7" name="">
            <a:extLst xmlns:a="http://schemas.openxmlformats.org/drawingml/2006/main">
              <a:ext uri="{FF2B5EF4-FFF2-40B4-BE49-F238E27FC236}">
                <a16:creationId xmlns:a16="http://schemas.microsoft.com/office/drawing/2014/main" id="{9852C2D7-5A81-4CBB-B10E-E4A0931FA80F}"/>
              </a:ext>
            </a:extLst>
          </p:cNvPr>
          <p:cNvSpPr>
            <a:spLocks xmlns:a="http://schemas.openxmlformats.org/drawingml/2006/main" noGrp="1"/>
          </p:cNvSpPr>
          <p:nvPr/>
        </p:nvSpPr>
        <p:spPr>
          <a:xfrm xmlns:a="http://schemas.openxmlformats.org/drawingml/2006/main">
            <a:off x="857250" y="3971925"/>
            <a:ext cx="676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538AC3"/>
                </a:solidFill>
                <a:latin typeface="Arial"/>
                <a:ea typeface="Arial"/>
                <a:cs typeface="Arial"/>
              </a:defRPr>
            </a:pPr>
            <a:r>
              <a:rPr sz="2550" b="1" i="0">
                <a:solidFill>
                  <a:srgbClr val="538AC3"/>
                </a:solidFill>
                <a:latin typeface="Arial"/>
                <a:ea typeface="Arial"/>
                <a:cs typeface="Arial"/>
              </a:rPr>
              <a:t>Cellmax New Phase</a:t>
            </a:r>
          </a:p>
        </p:txBody>
      </p:sp>
      <p:sp>
        <p:nvSpPr>
          <p:cNvPr id="8" name="">
            <a:extLst xmlns:a="http://schemas.openxmlformats.org/drawingml/2006/main">
              <a:ext uri="{FF2B5EF4-FFF2-40B4-BE49-F238E27FC236}">
                <a16:creationId xmlns:a16="http://schemas.microsoft.com/office/drawing/2014/main" id="{D9AAB483-D043-4626-8536-B9EC4E3C932A}"/>
              </a:ext>
            </a:extLst>
          </p:cNvPr>
          <p:cNvSpPr>
            <a:spLocks xmlns:a="http://schemas.openxmlformats.org/drawingml/2006/main" noGrp="1"/>
          </p:cNvSpPr>
          <p:nvPr/>
        </p:nvSpPr>
        <p:spPr>
          <a:xfrm xmlns:a="http://schemas.openxmlformats.org/drawingml/2006/main">
            <a:off x="857250" y="4572000"/>
            <a:ext cx="676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00" b="0" i="0">
                <a:solidFill>
                  <a:srgbClr val="64748B"/>
                </a:solidFill>
                <a:latin typeface="Arial"/>
                <a:ea typeface="Arial"/>
                <a:cs typeface="Arial"/>
              </a:defRPr>
            </a:pPr>
            <a:r>
              <a:rPr sz="2100" b="0" i="0">
                <a:solidFill>
                  <a:srgbClr val="64748B"/>
                </a:solidFill>
                <a:latin typeface="Arial"/>
                <a:ea typeface="Arial"/>
                <a:cs typeface="Arial"/>
              </a:rPr>
              <a:t>August-December 2026</a:t>
            </a:r>
          </a:p>
        </p:txBody>
      </p:sp>
      <p:sp>
        <p:nvSpPr>
          <p:cNvPr id="9" name="">
            <a:extLst xmlns:a="http://schemas.openxmlformats.org/drawingml/2006/main">
              <a:ext uri="{FF2B5EF4-FFF2-40B4-BE49-F238E27FC236}">
                <a16:creationId xmlns:a16="http://schemas.microsoft.com/office/drawing/2014/main" id="{3A0C80CF-84E0-442C-9CDA-C1FC83921FD9}"/>
              </a:ext>
            </a:extLst>
          </p:cNvPr>
          <p:cNvSpPr>
            <a:spLocks xmlns:a="http://schemas.openxmlformats.org/drawingml/2006/main" noGrp="1"/>
          </p:cNvSpPr>
          <p:nvPr/>
        </p:nvSpPr>
        <p:spPr>
          <a:xfrm xmlns:a="http://schemas.openxmlformats.org/drawingml/2006/main">
            <a:off x="10668000" y="1857375"/>
            <a:ext cx="3714750" cy="438150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8C74A0C-2891-42F2-B5D2-7C1FE2930BBC}"/>
              </a:ext>
            </a:extLst>
          </p:cNvPr>
          <p:cNvSpPr>
            <a:spLocks xmlns:a="http://schemas.openxmlformats.org/drawingml/2006/main" noGrp="1"/>
          </p:cNvSpPr>
          <p:nvPr/>
        </p:nvSpPr>
        <p:spPr>
          <a:xfrm xmlns:a="http://schemas.openxmlformats.org/drawingml/2006/main">
            <a:off x="11049000" y="22669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C9D8EB"/>
                </a:solidFill>
                <a:latin typeface="Arial"/>
                <a:ea typeface="Arial"/>
                <a:cs typeface="Arial"/>
              </a:defRPr>
            </a:pPr>
            <a:r>
              <a:rPr sz="1125" b="1" i="0">
                <a:solidFill>
                  <a:srgbClr val="C9D8EB"/>
                </a:solidFill>
                <a:latin typeface="Arial"/>
                <a:ea typeface="Arial"/>
                <a:cs typeface="Arial"/>
              </a:rPr>
              <a:t>THE FIVE-MONTH ARC</a:t>
            </a:r>
          </a:p>
        </p:txBody>
      </p:sp>
      <p:sp>
        <p:nvSpPr>
          <p:cNvPr id="11" name="">
            <a:extLst xmlns:a="http://schemas.openxmlformats.org/drawingml/2006/main">
              <a:ext uri="{FF2B5EF4-FFF2-40B4-BE49-F238E27FC236}">
                <a16:creationId xmlns:a16="http://schemas.microsoft.com/office/drawing/2014/main" id="{B621372B-38EC-44C8-95DD-1182C47371D3}"/>
              </a:ext>
            </a:extLst>
          </p:cNvPr>
          <p:cNvSpPr>
            <a:spLocks xmlns:a="http://schemas.openxmlformats.org/drawingml/2006/main" noGrp="1"/>
          </p:cNvSpPr>
          <p:nvPr/>
        </p:nvSpPr>
        <p:spPr>
          <a:xfrm xmlns:a="http://schemas.openxmlformats.org/drawingml/2006/main">
            <a:off x="11049000" y="2809875"/>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AUG</a:t>
            </a:r>
          </a:p>
        </p:txBody>
      </p:sp>
      <p:sp>
        <p:nvSpPr>
          <p:cNvPr id="12" name="">
            <a:extLst xmlns:a="http://schemas.openxmlformats.org/drawingml/2006/main">
              <a:ext uri="{FF2B5EF4-FFF2-40B4-BE49-F238E27FC236}">
                <a16:creationId xmlns:a16="http://schemas.microsoft.com/office/drawing/2014/main" id="{9B57F8C1-E074-4621-89E1-5067E512F4CB}"/>
              </a:ext>
            </a:extLst>
          </p:cNvPr>
          <p:cNvSpPr>
            <a:spLocks xmlns:a="http://schemas.openxmlformats.org/drawingml/2006/main" noGrp="1"/>
          </p:cNvSpPr>
          <p:nvPr/>
        </p:nvSpPr>
        <p:spPr>
          <a:xfrm xmlns:a="http://schemas.openxmlformats.org/drawingml/2006/main">
            <a:off x="11811000" y="27908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Foundation</a:t>
            </a:r>
          </a:p>
        </p:txBody>
      </p:sp>
      <p:sp>
        <p:nvSpPr>
          <p:cNvPr id="13" name="">
            <a:extLst xmlns:a="http://schemas.openxmlformats.org/drawingml/2006/main">
              <a:ext uri="{FF2B5EF4-FFF2-40B4-BE49-F238E27FC236}">
                <a16:creationId xmlns:a16="http://schemas.microsoft.com/office/drawing/2014/main" id="{1EB3A734-243D-456F-93ED-968D34B673AA}"/>
              </a:ext>
            </a:extLst>
          </p:cNvPr>
          <p:cNvSpPr>
            <a:spLocks xmlns:a="http://schemas.openxmlformats.org/drawingml/2006/main" noGrp="1"/>
          </p:cNvSpPr>
          <p:nvPr/>
        </p:nvSpPr>
        <p:spPr>
          <a:xfrm xmlns:a="http://schemas.openxmlformats.org/drawingml/2006/main">
            <a:off x="11049000" y="3209925"/>
            <a:ext cx="2857500"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8C3E498-B2C7-4BC7-B8A4-020A88CA7E86}"/>
              </a:ext>
            </a:extLst>
          </p:cNvPr>
          <p:cNvSpPr>
            <a:spLocks xmlns:a="http://schemas.openxmlformats.org/drawingml/2006/main" noGrp="1"/>
          </p:cNvSpPr>
          <p:nvPr/>
        </p:nvSpPr>
        <p:spPr>
          <a:xfrm xmlns:a="http://schemas.openxmlformats.org/drawingml/2006/main">
            <a:off x="11049000" y="3419475"/>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SEP</a:t>
            </a:r>
          </a:p>
        </p:txBody>
      </p:sp>
      <p:sp>
        <p:nvSpPr>
          <p:cNvPr id="15" name="">
            <a:extLst xmlns:a="http://schemas.openxmlformats.org/drawingml/2006/main">
              <a:ext uri="{FF2B5EF4-FFF2-40B4-BE49-F238E27FC236}">
                <a16:creationId xmlns:a16="http://schemas.microsoft.com/office/drawing/2014/main" id="{6000FCDA-146B-4BDC-91D4-BC4D602F095E}"/>
              </a:ext>
            </a:extLst>
          </p:cNvPr>
          <p:cNvSpPr>
            <a:spLocks xmlns:a="http://schemas.openxmlformats.org/drawingml/2006/main" noGrp="1"/>
          </p:cNvSpPr>
          <p:nvPr/>
        </p:nvSpPr>
        <p:spPr>
          <a:xfrm xmlns:a="http://schemas.openxmlformats.org/drawingml/2006/main">
            <a:off x="11811000" y="34004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Awareness</a:t>
            </a:r>
          </a:p>
        </p:txBody>
      </p:sp>
      <p:sp>
        <p:nvSpPr>
          <p:cNvPr id="16" name="">
            <a:extLst xmlns:a="http://schemas.openxmlformats.org/drawingml/2006/main">
              <a:ext uri="{FF2B5EF4-FFF2-40B4-BE49-F238E27FC236}">
                <a16:creationId xmlns:a16="http://schemas.microsoft.com/office/drawing/2014/main" id="{54A227F5-EE4D-4DC0-9259-264D4FA6965F}"/>
              </a:ext>
            </a:extLst>
          </p:cNvPr>
          <p:cNvSpPr>
            <a:spLocks xmlns:a="http://schemas.openxmlformats.org/drawingml/2006/main" noGrp="1"/>
          </p:cNvSpPr>
          <p:nvPr/>
        </p:nvSpPr>
        <p:spPr>
          <a:xfrm xmlns:a="http://schemas.openxmlformats.org/drawingml/2006/main">
            <a:off x="11049000" y="3819525"/>
            <a:ext cx="2857500"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86A29F0-A5F6-4F61-BD31-83E504207134}"/>
              </a:ext>
            </a:extLst>
          </p:cNvPr>
          <p:cNvSpPr>
            <a:spLocks xmlns:a="http://schemas.openxmlformats.org/drawingml/2006/main" noGrp="1"/>
          </p:cNvSpPr>
          <p:nvPr/>
        </p:nvSpPr>
        <p:spPr>
          <a:xfrm xmlns:a="http://schemas.openxmlformats.org/drawingml/2006/main">
            <a:off x="11049000" y="4029075"/>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OCT</a:t>
            </a:r>
          </a:p>
        </p:txBody>
      </p:sp>
      <p:sp>
        <p:nvSpPr>
          <p:cNvPr id="18" name="">
            <a:extLst xmlns:a="http://schemas.openxmlformats.org/drawingml/2006/main">
              <a:ext uri="{FF2B5EF4-FFF2-40B4-BE49-F238E27FC236}">
                <a16:creationId xmlns:a16="http://schemas.microsoft.com/office/drawing/2014/main" id="{408AE94C-56F5-4700-9F30-102A1541F47C}"/>
              </a:ext>
            </a:extLst>
          </p:cNvPr>
          <p:cNvSpPr>
            <a:spLocks xmlns:a="http://schemas.openxmlformats.org/drawingml/2006/main" noGrp="1"/>
          </p:cNvSpPr>
          <p:nvPr/>
        </p:nvSpPr>
        <p:spPr>
          <a:xfrm xmlns:a="http://schemas.openxmlformats.org/drawingml/2006/main">
            <a:off x="11811000" y="40100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Referrals</a:t>
            </a:r>
          </a:p>
        </p:txBody>
      </p:sp>
      <p:sp>
        <p:nvSpPr>
          <p:cNvPr id="19" name="">
            <a:extLst xmlns:a="http://schemas.openxmlformats.org/drawingml/2006/main">
              <a:ext uri="{FF2B5EF4-FFF2-40B4-BE49-F238E27FC236}">
                <a16:creationId xmlns:a16="http://schemas.microsoft.com/office/drawing/2014/main" id="{09BDE5D9-DC1C-4083-912C-6F337C623E8C}"/>
              </a:ext>
            </a:extLst>
          </p:cNvPr>
          <p:cNvSpPr>
            <a:spLocks xmlns:a="http://schemas.openxmlformats.org/drawingml/2006/main" noGrp="1"/>
          </p:cNvSpPr>
          <p:nvPr/>
        </p:nvSpPr>
        <p:spPr>
          <a:xfrm xmlns:a="http://schemas.openxmlformats.org/drawingml/2006/main">
            <a:off x="11049000" y="4429125"/>
            <a:ext cx="2857500"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8A2DAF7-7475-4099-8637-3804C925B5ED}"/>
              </a:ext>
            </a:extLst>
          </p:cNvPr>
          <p:cNvSpPr>
            <a:spLocks xmlns:a="http://schemas.openxmlformats.org/drawingml/2006/main" noGrp="1"/>
          </p:cNvSpPr>
          <p:nvPr/>
        </p:nvSpPr>
        <p:spPr>
          <a:xfrm xmlns:a="http://schemas.openxmlformats.org/drawingml/2006/main">
            <a:off x="11049000" y="4638675"/>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NOV</a:t>
            </a:r>
          </a:p>
        </p:txBody>
      </p:sp>
      <p:sp>
        <p:nvSpPr>
          <p:cNvPr id="21" name="">
            <a:extLst xmlns:a="http://schemas.openxmlformats.org/drawingml/2006/main">
              <a:ext uri="{FF2B5EF4-FFF2-40B4-BE49-F238E27FC236}">
                <a16:creationId xmlns:a16="http://schemas.microsoft.com/office/drawing/2014/main" id="{CBD2114B-6470-420E-9E0B-1EF98843F1F6}"/>
              </a:ext>
            </a:extLst>
          </p:cNvPr>
          <p:cNvSpPr>
            <a:spLocks xmlns:a="http://schemas.openxmlformats.org/drawingml/2006/main" noGrp="1"/>
          </p:cNvSpPr>
          <p:nvPr/>
        </p:nvSpPr>
        <p:spPr>
          <a:xfrm xmlns:a="http://schemas.openxmlformats.org/drawingml/2006/main">
            <a:off x="11811000" y="46196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07"/>
          </a:bodyPr>
          <a:lstStyle xmlns:a="http://schemas.openxmlformats.org/drawingml/2006/main"/>
          <a:p xmlns:a="http://schemas.openxmlformats.org/drawingml/2006/main">
            <a:pPr algn="l">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Diabetic wound campaign</a:t>
            </a:r>
          </a:p>
        </p:txBody>
      </p:sp>
      <p:sp>
        <p:nvSpPr>
          <p:cNvPr id="22" name="">
            <a:extLst xmlns:a="http://schemas.openxmlformats.org/drawingml/2006/main">
              <a:ext uri="{FF2B5EF4-FFF2-40B4-BE49-F238E27FC236}">
                <a16:creationId xmlns:a16="http://schemas.microsoft.com/office/drawing/2014/main" id="{DEEF3AFB-AC4C-4D2E-9FFA-20C53A6AAC38}"/>
              </a:ext>
            </a:extLst>
          </p:cNvPr>
          <p:cNvSpPr>
            <a:spLocks xmlns:a="http://schemas.openxmlformats.org/drawingml/2006/main" noGrp="1"/>
          </p:cNvSpPr>
          <p:nvPr/>
        </p:nvSpPr>
        <p:spPr>
          <a:xfrm xmlns:a="http://schemas.openxmlformats.org/drawingml/2006/main">
            <a:off x="11049000" y="5038725"/>
            <a:ext cx="2857500"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5AAB4A7-AF4A-4D0D-B9D2-0FF7759A87EC}"/>
              </a:ext>
            </a:extLst>
          </p:cNvPr>
          <p:cNvSpPr>
            <a:spLocks xmlns:a="http://schemas.openxmlformats.org/drawingml/2006/main" noGrp="1"/>
          </p:cNvSpPr>
          <p:nvPr/>
        </p:nvSpPr>
        <p:spPr>
          <a:xfrm xmlns:a="http://schemas.openxmlformats.org/drawingml/2006/main">
            <a:off x="11049000" y="5248275"/>
            <a:ext cx="647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DEC</a:t>
            </a:r>
          </a:p>
        </p:txBody>
      </p:sp>
      <p:sp>
        <p:nvSpPr>
          <p:cNvPr id="24" name="">
            <a:extLst xmlns:a="http://schemas.openxmlformats.org/drawingml/2006/main">
              <a:ext uri="{FF2B5EF4-FFF2-40B4-BE49-F238E27FC236}">
                <a16:creationId xmlns:a16="http://schemas.microsoft.com/office/drawing/2014/main" id="{C8F0C954-1F3E-4022-9CC7-7D2C0812EA98}"/>
              </a:ext>
            </a:extLst>
          </p:cNvPr>
          <p:cNvSpPr>
            <a:spLocks xmlns:a="http://schemas.openxmlformats.org/drawingml/2006/main" noGrp="1"/>
          </p:cNvSpPr>
          <p:nvPr/>
        </p:nvSpPr>
        <p:spPr>
          <a:xfrm xmlns:a="http://schemas.openxmlformats.org/drawingml/2006/main">
            <a:off x="11811000" y="52292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Scale &amp; retention</a:t>
            </a:r>
          </a:p>
        </p:txBody>
      </p:sp>
      <p:sp>
        <p:nvSpPr>
          <p:cNvPr id="25" name="">
            <a:extLst xmlns:a="http://schemas.openxmlformats.org/drawingml/2006/main">
              <a:ext uri="{FF2B5EF4-FFF2-40B4-BE49-F238E27FC236}">
                <a16:creationId xmlns:a16="http://schemas.microsoft.com/office/drawing/2014/main" id="{0BEB18A6-E794-442B-A5B2-9B0598D2742D}"/>
              </a:ext>
            </a:extLst>
          </p:cNvPr>
          <p:cNvSpPr>
            <a:spLocks xmlns:a="http://schemas.openxmlformats.org/drawingml/2006/main" noGrp="1"/>
          </p:cNvSpPr>
          <p:nvPr/>
        </p:nvSpPr>
        <p:spPr>
          <a:xfrm xmlns:a="http://schemas.openxmlformats.org/drawingml/2006/main">
            <a:off x="838200" y="5810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4748B"/>
                </a:solidFill>
                <a:latin typeface="Arial"/>
                <a:ea typeface="Arial"/>
                <a:cs typeface="Arial"/>
              </a:defRPr>
            </a:pPr>
            <a:r>
              <a:rPr sz="1125" b="1" i="0">
                <a:solidFill>
                  <a:srgbClr val="64748B"/>
                </a:solidFill>
                <a:latin typeface="Arial"/>
                <a:ea typeface="Arial"/>
                <a:cs typeface="Arial"/>
              </a:rPr>
              <a:t>Commercial direction</a:t>
            </a:r>
          </a:p>
        </p:txBody>
      </p:sp>
      <p:sp>
        <p:nvSpPr>
          <p:cNvPr id="26" name="">
            <a:extLst xmlns:a="http://schemas.openxmlformats.org/drawingml/2006/main">
              <a:ext uri="{FF2B5EF4-FFF2-40B4-BE49-F238E27FC236}">
                <a16:creationId xmlns:a16="http://schemas.microsoft.com/office/drawing/2014/main" id="{1B67AAED-726D-42C7-B953-503FAABF27FC}"/>
              </a:ext>
            </a:extLst>
          </p:cNvPr>
          <p:cNvSpPr>
            <a:spLocks xmlns:a="http://schemas.openxmlformats.org/drawingml/2006/main" noGrp="1"/>
          </p:cNvSpPr>
          <p:nvPr/>
        </p:nvSpPr>
        <p:spPr>
          <a:xfrm xmlns:a="http://schemas.openxmlformats.org/drawingml/2006/main">
            <a:off x="838200" y="6153150"/>
            <a:ext cx="876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2025" b="1" i="0">
                <a:solidFill>
                  <a:srgbClr val="1E293B"/>
                </a:solidFill>
                <a:latin typeface="Arial"/>
                <a:ea typeface="Arial"/>
                <a:cs typeface="Arial"/>
              </a:defRPr>
            </a:pPr>
            <a:r>
              <a:rPr sz="2025" b="1" i="0">
                <a:solidFill>
                  <a:srgbClr val="1E293B"/>
                </a:solidFill>
                <a:latin typeface="Arial"/>
                <a:ea typeface="Arial"/>
                <a:cs typeface="Arial"/>
              </a:rPr>
              <a:t>Build a predictable digital-to-appointment pathway and progress towards RM100,000 in monthly clinic revenue by December 2026.</a:t>
            </a:r>
          </a:p>
        </p:txBody>
      </p:sp>
    </p:spTree>
    <p:extLst>
      <p:ext uri="{BB962C8B-B14F-4D97-AF65-F5344CB8AC3E}">
        <p14:creationId xmlns:p14="http://schemas.microsoft.com/office/powerpoint/2010/main" val="1101145196"/>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75b52e9e2ed4ec0"/>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DF7564-A321-4E7D-BEBB-8687317CADD2}"/>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9E36981C-60BF-49C5-90FF-9C388FD97592}"/>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1A6E6E4F-BF91-43B6-ADA5-D3FFD80E3B9B}"/>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487AED-7F44-4405-9069-4CDFC90409F2}"/>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A1EFDE8-5D09-4161-B534-9D253C9BA33C}"/>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EA71E69B-D9D8-436B-A192-C99B96AD6B27}"/>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31FFD4CF-5CD5-4597-BD21-40F0A758ACD3}"/>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D119A179-B8DE-4C41-A7DB-7C63CD209E3C}"/>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THE NEW COMMERCIAL PHASE</a:t>
            </a:r>
          </a:p>
        </p:txBody>
      </p:sp>
      <p:sp>
        <p:nvSpPr>
          <p:cNvPr id="10" name="">
            <a:extLst xmlns:a="http://schemas.openxmlformats.org/drawingml/2006/main">
              <a:ext uri="{FF2B5EF4-FFF2-40B4-BE49-F238E27FC236}">
                <a16:creationId xmlns:a16="http://schemas.microsoft.com/office/drawing/2014/main" id="{49FEC11B-98CD-46E4-A175-3BF7C2E93E5A}"/>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Registration opens the door; the operating system creates growth</a:t>
            </a:r>
          </a:p>
        </p:txBody>
      </p:sp>
      <p:sp>
        <p:nvSpPr>
          <p:cNvPr id="11" name="">
            <a:extLst xmlns:a="http://schemas.openxmlformats.org/drawingml/2006/main">
              <a:ext uri="{FF2B5EF4-FFF2-40B4-BE49-F238E27FC236}">
                <a16:creationId xmlns:a16="http://schemas.microsoft.com/office/drawing/2014/main" id="{8188256A-AD48-4822-B0F2-4A7C69AA01BD}"/>
              </a:ext>
            </a:extLst>
          </p:cNvPr>
          <p:cNvSpPr>
            <a:spLocks xmlns:a="http://schemas.openxmlformats.org/drawingml/2006/main" noGrp="1"/>
          </p:cNvSpPr>
          <p:nvPr/>
        </p:nvSpPr>
        <p:spPr>
          <a:xfrm xmlns:a="http://schemas.openxmlformats.org/drawingml/2006/main">
            <a:off x="857250" y="2400300"/>
            <a:ext cx="8763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00" b="1" i="0">
                <a:solidFill>
                  <a:srgbClr val="1E293B"/>
                </a:solidFill>
                <a:latin typeface="Arial"/>
                <a:ea typeface="Arial"/>
                <a:cs typeface="Arial"/>
              </a:defRPr>
            </a:pPr>
            <a:r>
              <a:rPr sz="2100" b="1" i="0">
                <a:solidFill>
                  <a:srgbClr val="1E293B"/>
                </a:solidFill>
                <a:latin typeface="Arial"/>
                <a:ea typeface="Arial"/>
                <a:cs typeface="Arial"/>
              </a:rPr>
              <a:t>Cellmax registration removes a major barrier to market entry. It does not replace the need for accurate claims, approved advertising, clinical assessment or disciplined conversion.</a:t>
            </a:r>
          </a:p>
        </p:txBody>
      </p:sp>
      <p:sp>
        <p:nvSpPr>
          <p:cNvPr id="12" name="">
            <a:extLst xmlns:a="http://schemas.openxmlformats.org/drawingml/2006/main">
              <a:ext uri="{FF2B5EF4-FFF2-40B4-BE49-F238E27FC236}">
                <a16:creationId xmlns:a16="http://schemas.microsoft.com/office/drawing/2014/main" id="{DD54CBD4-84D4-478D-A830-7FD6A06431FA}"/>
              </a:ext>
            </a:extLst>
          </p:cNvPr>
          <p:cNvSpPr>
            <a:spLocks xmlns:a="http://schemas.openxmlformats.org/drawingml/2006/main" noGrp="1"/>
          </p:cNvSpPr>
          <p:nvPr/>
        </p:nvSpPr>
        <p:spPr>
          <a:xfrm xmlns:a="http://schemas.openxmlformats.org/drawingml/2006/main">
            <a:off x="10287000" y="2266950"/>
            <a:ext cx="4095750" cy="21907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EE73B35-4FBE-4D6B-AE2A-8E9824105DA4}"/>
              </a:ext>
            </a:extLst>
          </p:cNvPr>
          <p:cNvSpPr>
            <a:spLocks xmlns:a="http://schemas.openxmlformats.org/drawingml/2006/main" noGrp="1"/>
          </p:cNvSpPr>
          <p:nvPr/>
        </p:nvSpPr>
        <p:spPr>
          <a:xfrm xmlns:a="http://schemas.openxmlformats.org/drawingml/2006/main">
            <a:off x="10648950" y="2619375"/>
            <a:ext cx="333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3600" b="1" i="0">
                <a:solidFill>
                  <a:srgbClr val="FFFFFF"/>
                </a:solidFill>
                <a:latin typeface="Arial"/>
                <a:ea typeface="Arial"/>
                <a:cs typeface="Arial"/>
              </a:defRPr>
            </a:pPr>
            <a:r>
              <a:rPr sz="3600" b="1" i="0">
                <a:solidFill>
                  <a:srgbClr val="FFFFFF"/>
                </a:solidFill>
                <a:latin typeface="Arial"/>
                <a:ea typeface="Arial"/>
                <a:cs typeface="Arial"/>
              </a:rPr>
              <a:t>RM100,000</a:t>
            </a:r>
          </a:p>
        </p:txBody>
      </p:sp>
      <p:sp>
        <p:nvSpPr>
          <p:cNvPr id="14" name="">
            <a:extLst xmlns:a="http://schemas.openxmlformats.org/drawingml/2006/main">
              <a:ext uri="{FF2B5EF4-FFF2-40B4-BE49-F238E27FC236}">
                <a16:creationId xmlns:a16="http://schemas.microsoft.com/office/drawing/2014/main" id="{D5144ED4-546B-409F-8E65-D23B0B9FB090}"/>
              </a:ext>
            </a:extLst>
          </p:cNvPr>
          <p:cNvSpPr>
            <a:spLocks xmlns:a="http://schemas.openxmlformats.org/drawingml/2006/main" noGrp="1"/>
          </p:cNvSpPr>
          <p:nvPr/>
        </p:nvSpPr>
        <p:spPr>
          <a:xfrm xmlns:a="http://schemas.openxmlformats.org/drawingml/2006/main">
            <a:off x="10648950" y="33528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75" b="0" i="0">
                <a:solidFill>
                  <a:srgbClr val="D6E3F2"/>
                </a:solidFill>
                <a:latin typeface="Arial"/>
                <a:ea typeface="Arial"/>
                <a:cs typeface="Arial"/>
              </a:defRPr>
            </a:pPr>
            <a:r>
              <a:rPr sz="1575" b="0" i="0">
                <a:solidFill>
                  <a:srgbClr val="D6E3F2"/>
                </a:solidFill>
                <a:latin typeface="Arial"/>
                <a:ea typeface="Arial"/>
                <a:cs typeface="Arial"/>
              </a:rPr>
              <a:t>monthly clinic revenue direction</a:t>
            </a:r>
          </a:p>
          <a:p xmlns:a="http://schemas.openxmlformats.org/drawingml/2006/main">
            <a:pPr algn="ctr">
              <a:lnSpc>
                <a:spcPct val="105000"/>
              </a:lnSpc>
              <a:buNone/>
              <a:defRPr sz="1575" b="0" i="0">
                <a:solidFill>
                  <a:srgbClr val="D6E3F2"/>
                </a:solidFill>
                <a:latin typeface="Arial"/>
                <a:ea typeface="Arial"/>
                <a:cs typeface="Arial"/>
              </a:defRPr>
            </a:pPr>
            <a:r>
              <a:rPr sz="1575" b="0" i="0">
                <a:solidFill>
                  <a:srgbClr val="D6E3F2"/>
                </a:solidFill>
                <a:latin typeface="Arial"/>
                <a:ea typeface="Arial"/>
                <a:cs typeface="Arial"/>
              </a:rPr>
              <a:t>by December 2026</a:t>
            </a:r>
          </a:p>
        </p:txBody>
      </p:sp>
      <p:sp>
        <p:nvSpPr>
          <p:cNvPr id="15" name="">
            <a:extLst xmlns:a="http://schemas.openxmlformats.org/drawingml/2006/main">
              <a:ext uri="{FF2B5EF4-FFF2-40B4-BE49-F238E27FC236}">
                <a16:creationId xmlns:a16="http://schemas.microsoft.com/office/drawing/2014/main" id="{07D6E311-3A3B-48EA-B548-9103D3DD1CC8}"/>
              </a:ext>
            </a:extLst>
          </p:cNvPr>
          <p:cNvSpPr>
            <a:spLocks xmlns:a="http://schemas.openxmlformats.org/drawingml/2006/main" noGrp="1"/>
          </p:cNvSpPr>
          <p:nvPr/>
        </p:nvSpPr>
        <p:spPr>
          <a:xfrm xmlns:a="http://schemas.openxmlformats.org/drawingml/2006/main">
            <a:off x="857250" y="4810125"/>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01</a:t>
            </a:r>
          </a:p>
        </p:txBody>
      </p:sp>
      <p:sp>
        <p:nvSpPr>
          <p:cNvPr id="16" name="">
            <a:extLst xmlns:a="http://schemas.openxmlformats.org/drawingml/2006/main">
              <a:ext uri="{FF2B5EF4-FFF2-40B4-BE49-F238E27FC236}">
                <a16:creationId xmlns:a16="http://schemas.microsoft.com/office/drawing/2014/main" id="{E44E20C7-4830-41C2-A8F8-7A24A15C3C2A}"/>
              </a:ext>
            </a:extLst>
          </p:cNvPr>
          <p:cNvSpPr>
            <a:spLocks xmlns:a="http://schemas.openxmlformats.org/drawingml/2006/main" noGrp="1"/>
          </p:cNvSpPr>
          <p:nvPr/>
        </p:nvSpPr>
        <p:spPr>
          <a:xfrm xmlns:a="http://schemas.openxmlformats.org/drawingml/2006/main">
            <a:off x="857250" y="52197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Clinical governance</a:t>
            </a:r>
          </a:p>
        </p:txBody>
      </p:sp>
      <p:sp>
        <p:nvSpPr>
          <p:cNvPr id="17" name="">
            <a:extLst xmlns:a="http://schemas.openxmlformats.org/drawingml/2006/main">
              <a:ext uri="{FF2B5EF4-FFF2-40B4-BE49-F238E27FC236}">
                <a16:creationId xmlns:a16="http://schemas.microsoft.com/office/drawing/2014/main" id="{21687298-32C7-46A2-B9B2-E901572D737B}"/>
              </a:ext>
            </a:extLst>
          </p:cNvPr>
          <p:cNvSpPr>
            <a:spLocks xmlns:a="http://schemas.openxmlformats.org/drawingml/2006/main" noGrp="1"/>
          </p:cNvSpPr>
          <p:nvPr/>
        </p:nvSpPr>
        <p:spPr>
          <a:xfrm xmlns:a="http://schemas.openxmlformats.org/drawingml/2006/main">
            <a:off x="857250" y="5657850"/>
            <a:ext cx="400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4748B"/>
                </a:solidFill>
                <a:latin typeface="Arial"/>
                <a:ea typeface="Arial"/>
                <a:cs typeface="Arial"/>
              </a:defRPr>
            </a:pPr>
            <a:r>
              <a:rPr sz="1425" b="0" i="0">
                <a:solidFill>
                  <a:srgbClr val="64748B"/>
                </a:solidFill>
                <a:latin typeface="Arial"/>
                <a:ea typeface="Arial"/>
                <a:cs typeface="Arial"/>
              </a:rPr>
              <a:t>Registered indications, patient assessment and appropriate approvals.</a:t>
            </a:r>
          </a:p>
        </p:txBody>
      </p:sp>
      <p:sp>
        <p:nvSpPr>
          <p:cNvPr id="18" name="">
            <a:extLst xmlns:a="http://schemas.openxmlformats.org/drawingml/2006/main">
              <a:ext uri="{FF2B5EF4-FFF2-40B4-BE49-F238E27FC236}">
                <a16:creationId xmlns:a16="http://schemas.microsoft.com/office/drawing/2014/main" id="{376A2345-35DE-45DE-A55B-E880738E0196}"/>
              </a:ext>
            </a:extLst>
          </p:cNvPr>
          <p:cNvSpPr>
            <a:spLocks xmlns:a="http://schemas.openxmlformats.org/drawingml/2006/main" noGrp="1"/>
          </p:cNvSpPr>
          <p:nvPr/>
        </p:nvSpPr>
        <p:spPr>
          <a:xfrm xmlns:a="http://schemas.openxmlformats.org/drawingml/2006/main">
            <a:off x="5067300" y="4857750"/>
            <a:ext cx="19050" cy="171450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9201340-BF2F-4096-A8FC-4E7A51803FD8}"/>
              </a:ext>
            </a:extLst>
          </p:cNvPr>
          <p:cNvSpPr>
            <a:spLocks xmlns:a="http://schemas.openxmlformats.org/drawingml/2006/main" noGrp="1"/>
          </p:cNvSpPr>
          <p:nvPr/>
        </p:nvSpPr>
        <p:spPr>
          <a:xfrm xmlns:a="http://schemas.openxmlformats.org/drawingml/2006/main">
            <a:off x="5381625" y="4810125"/>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02</a:t>
            </a:r>
          </a:p>
        </p:txBody>
      </p:sp>
      <p:sp>
        <p:nvSpPr>
          <p:cNvPr id="20" name="">
            <a:extLst xmlns:a="http://schemas.openxmlformats.org/drawingml/2006/main">
              <a:ext uri="{FF2B5EF4-FFF2-40B4-BE49-F238E27FC236}">
                <a16:creationId xmlns:a16="http://schemas.microsoft.com/office/drawing/2014/main" id="{D8367FD4-10CA-44DD-9F93-654FF1AB061C}"/>
              </a:ext>
            </a:extLst>
          </p:cNvPr>
          <p:cNvSpPr>
            <a:spLocks xmlns:a="http://schemas.openxmlformats.org/drawingml/2006/main" noGrp="1"/>
          </p:cNvSpPr>
          <p:nvPr/>
        </p:nvSpPr>
        <p:spPr>
          <a:xfrm xmlns:a="http://schemas.openxmlformats.org/drawingml/2006/main">
            <a:off x="5381625" y="52197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Measurable demand</a:t>
            </a:r>
          </a:p>
        </p:txBody>
      </p:sp>
      <p:sp>
        <p:nvSpPr>
          <p:cNvPr id="21" name="">
            <a:extLst xmlns:a="http://schemas.openxmlformats.org/drawingml/2006/main">
              <a:ext uri="{FF2B5EF4-FFF2-40B4-BE49-F238E27FC236}">
                <a16:creationId xmlns:a16="http://schemas.microsoft.com/office/drawing/2014/main" id="{E2C164F2-ADED-4409-A374-370330BAD2DB}"/>
              </a:ext>
            </a:extLst>
          </p:cNvPr>
          <p:cNvSpPr>
            <a:spLocks xmlns:a="http://schemas.openxmlformats.org/drawingml/2006/main" noGrp="1"/>
          </p:cNvSpPr>
          <p:nvPr/>
        </p:nvSpPr>
        <p:spPr>
          <a:xfrm xmlns:a="http://schemas.openxmlformats.org/drawingml/2006/main">
            <a:off x="5381625" y="5657850"/>
            <a:ext cx="400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4748B"/>
                </a:solidFill>
                <a:latin typeface="Arial"/>
                <a:ea typeface="Arial"/>
                <a:cs typeface="Arial"/>
              </a:defRPr>
            </a:pPr>
            <a:r>
              <a:rPr sz="1425" b="0" i="0">
                <a:solidFill>
                  <a:srgbClr val="64748B"/>
                </a:solidFill>
                <a:latin typeface="Arial"/>
                <a:ea typeface="Arial"/>
                <a:cs typeface="Arial"/>
              </a:rPr>
              <a:t>Source tracking, qualified leads, appointments and treatment-plan starts.</a:t>
            </a:r>
          </a:p>
        </p:txBody>
      </p:sp>
      <p:sp>
        <p:nvSpPr>
          <p:cNvPr id="22" name="">
            <a:extLst xmlns:a="http://schemas.openxmlformats.org/drawingml/2006/main">
              <a:ext uri="{FF2B5EF4-FFF2-40B4-BE49-F238E27FC236}">
                <a16:creationId xmlns:a16="http://schemas.microsoft.com/office/drawing/2014/main" id="{8E2B7E62-69B5-4B83-8E02-1F254A0AD6CE}"/>
              </a:ext>
            </a:extLst>
          </p:cNvPr>
          <p:cNvSpPr>
            <a:spLocks xmlns:a="http://schemas.openxmlformats.org/drawingml/2006/main" noGrp="1"/>
          </p:cNvSpPr>
          <p:nvPr/>
        </p:nvSpPr>
        <p:spPr>
          <a:xfrm xmlns:a="http://schemas.openxmlformats.org/drawingml/2006/main">
            <a:off x="9591675" y="4857750"/>
            <a:ext cx="19050" cy="171450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90ECCAB-6FEF-496A-89DF-11CFC30F1C1D}"/>
              </a:ext>
            </a:extLst>
          </p:cNvPr>
          <p:cNvSpPr>
            <a:spLocks xmlns:a="http://schemas.openxmlformats.org/drawingml/2006/main" noGrp="1"/>
          </p:cNvSpPr>
          <p:nvPr/>
        </p:nvSpPr>
        <p:spPr>
          <a:xfrm xmlns:a="http://schemas.openxmlformats.org/drawingml/2006/main">
            <a:off x="9906000" y="4810125"/>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03</a:t>
            </a:r>
          </a:p>
        </p:txBody>
      </p:sp>
      <p:sp>
        <p:nvSpPr>
          <p:cNvPr id="24" name="">
            <a:extLst xmlns:a="http://schemas.openxmlformats.org/drawingml/2006/main">
              <a:ext uri="{FF2B5EF4-FFF2-40B4-BE49-F238E27FC236}">
                <a16:creationId xmlns:a16="http://schemas.microsoft.com/office/drawing/2014/main" id="{BDBF8DE3-09E8-48AE-A5CB-14443D15E00E}"/>
              </a:ext>
            </a:extLst>
          </p:cNvPr>
          <p:cNvSpPr>
            <a:spLocks xmlns:a="http://schemas.openxmlformats.org/drawingml/2006/main" noGrp="1"/>
          </p:cNvSpPr>
          <p:nvPr/>
        </p:nvSpPr>
        <p:spPr>
          <a:xfrm xmlns:a="http://schemas.openxmlformats.org/drawingml/2006/main">
            <a:off x="9906000" y="52197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Repeatable execution</a:t>
            </a:r>
          </a:p>
        </p:txBody>
      </p:sp>
      <p:sp>
        <p:nvSpPr>
          <p:cNvPr id="25" name="">
            <a:extLst xmlns:a="http://schemas.openxmlformats.org/drawingml/2006/main">
              <a:ext uri="{FF2B5EF4-FFF2-40B4-BE49-F238E27FC236}">
                <a16:creationId xmlns:a16="http://schemas.microsoft.com/office/drawing/2014/main" id="{07C0473E-8022-4AD9-8C06-89589B14F298}"/>
              </a:ext>
            </a:extLst>
          </p:cNvPr>
          <p:cNvSpPr>
            <a:spLocks xmlns:a="http://schemas.openxmlformats.org/drawingml/2006/main" noGrp="1"/>
          </p:cNvSpPr>
          <p:nvPr/>
        </p:nvSpPr>
        <p:spPr>
          <a:xfrm xmlns:a="http://schemas.openxmlformats.org/drawingml/2006/main">
            <a:off x="9906000" y="5657850"/>
            <a:ext cx="4000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4748B"/>
                </a:solidFill>
                <a:latin typeface="Arial"/>
                <a:ea typeface="Arial"/>
                <a:cs typeface="Arial"/>
              </a:defRPr>
            </a:pPr>
            <a:r>
              <a:rPr sz="1425" b="0" i="0">
                <a:solidFill>
                  <a:srgbClr val="64748B"/>
                </a:solidFill>
                <a:latin typeface="Arial"/>
                <a:ea typeface="Arial"/>
                <a:cs typeface="Arial"/>
              </a:rPr>
              <a:t>Content cadence, WhatsApp follow-up and referral development.</a:t>
            </a:r>
          </a:p>
        </p:txBody>
      </p:sp>
    </p:spTree>
    <p:extLst>
      <p:ext uri="{BB962C8B-B14F-4D97-AF65-F5344CB8AC3E}">
        <p14:creationId xmlns:p14="http://schemas.microsoft.com/office/powerpoint/2010/main" val="700943046"/>
      </p:ext>
    </p:extLst>
  </p:cSld>
</p:sld>
</file>

<file path=ppt/slides/slide3.xml><?xml version="1.0" encoding="utf-8"?>
<p:sld xmlns:p="http://schemas.openxmlformats.org/presentationml/2006/main">
  <p:cSld>
    <p:bg>
      <p:bgPr>
        <a:solidFill xmlns:a="http://schemas.openxmlformats.org/drawingml/2006/main">
          <a:srgbClr val="234173"/>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f66848592ec4a5d"/>
          <a:stretch xmlns:a="http://schemas.openxmlformats.org/drawingml/2006/main"/>
        </p:blipFill>
        <p:spPr>
          <a:xfrm xmlns:a="http://schemas.openxmlformats.org/drawingml/2006/main">
            <a:off x="979118" y="257175"/>
            <a:ext cx="1775563"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C387305-E82B-4410-BC84-C99F372C2D24}"/>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5FBCBC27-6D8E-4969-9736-1B0CFDF7BF3E}"/>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D6E3F2"/>
                </a:solidFill>
                <a:latin typeface="Arial"/>
                <a:ea typeface="Arial"/>
                <a:cs typeface="Arial"/>
              </a:defRPr>
            </a:pPr>
            <a:r>
              <a:rPr sz="975" b="0" i="0">
                <a:solidFill>
                  <a:srgbClr val="D6E3F2"/>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4E979868-1FD8-4CC7-96D6-590D40AE3AA9}"/>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5C78A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675C7E2-E9EB-457C-BE67-AE51B404CF55}"/>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5C78A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12CBF9C-E734-460A-AD04-2C7A54027C39}"/>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FFFFF"/>
                </a:solidFill>
                <a:latin typeface="Arial"/>
                <a:ea typeface="Arial"/>
                <a:cs typeface="Arial"/>
              </a:defRPr>
            </a:pPr>
            <a:r>
              <a:rPr sz="900" b="1" i="0">
                <a:solidFill>
                  <a:srgbClr val="FFFFFF"/>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26CD0B0D-416E-474F-8EA6-C9F2151BCBEB}"/>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D6E3F2"/>
                </a:solidFill>
                <a:latin typeface="Arial"/>
                <a:ea typeface="Arial"/>
                <a:cs typeface="Arial"/>
              </a:defRPr>
            </a:pPr>
            <a:r>
              <a:rPr sz="825" b="0" i="0">
                <a:solidFill>
                  <a:srgbClr val="D6E3F2"/>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9AD1163B-EBFE-4F64-8C51-D47AB95F6C61}"/>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1A93E7F5-18F0-4E0E-885D-1E870016DDD1}"/>
              </a:ext>
            </a:extLst>
          </p:cNvPr>
          <p:cNvSpPr>
            <a:spLocks xmlns:a="http://schemas.openxmlformats.org/drawingml/2006/main" noGrp="1"/>
          </p:cNvSpPr>
          <p:nvPr/>
        </p:nvSpPr>
        <p:spPr>
          <a:xfrm xmlns:a="http://schemas.openxmlformats.org/drawingml/2006/main">
            <a:off x="857250" y="152400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538AC3"/>
                </a:solidFill>
                <a:latin typeface="Arial"/>
                <a:ea typeface="Arial"/>
                <a:cs typeface="Arial"/>
              </a:defRPr>
            </a:pPr>
            <a:r>
              <a:rPr sz="1275" b="1" i="0">
                <a:solidFill>
                  <a:srgbClr val="538AC3"/>
                </a:solidFill>
                <a:latin typeface="Arial"/>
                <a:ea typeface="Arial"/>
                <a:cs typeface="Arial"/>
              </a:rPr>
              <a:t>THE STRATEGIC PRINCIPLE</a:t>
            </a:r>
          </a:p>
        </p:txBody>
      </p:sp>
      <p:sp>
        <p:nvSpPr>
          <p:cNvPr id="10" name="">
            <a:extLst xmlns:a="http://schemas.openxmlformats.org/drawingml/2006/main">
              <a:ext uri="{FF2B5EF4-FFF2-40B4-BE49-F238E27FC236}">
                <a16:creationId xmlns:a16="http://schemas.microsoft.com/office/drawing/2014/main" id="{7E59F963-4B62-4340-A40F-6AE0B701D55C}"/>
              </a:ext>
            </a:extLst>
          </p:cNvPr>
          <p:cNvSpPr>
            <a:spLocks xmlns:a="http://schemas.openxmlformats.org/drawingml/2006/main" noGrp="1"/>
          </p:cNvSpPr>
          <p:nvPr/>
        </p:nvSpPr>
        <p:spPr>
          <a:xfrm xmlns:a="http://schemas.openxmlformats.org/drawingml/2006/main">
            <a:off x="857250" y="2190750"/>
            <a:ext cx="12668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275" b="1" i="0">
                <a:solidFill>
                  <a:srgbClr val="FFFFFF"/>
                </a:solidFill>
                <a:latin typeface="Arial"/>
                <a:ea typeface="Arial"/>
                <a:cs typeface="Arial"/>
              </a:defRPr>
            </a:pPr>
            <a:r>
              <a:rPr sz="4275" b="1" i="0">
                <a:solidFill>
                  <a:srgbClr val="FFFFFF"/>
                </a:solidFill>
                <a:latin typeface="Arial"/>
                <a:ea typeface="Arial"/>
                <a:cs typeface="Arial"/>
              </a:rPr>
              <a:t>Market a complete wound-care service — not a stand-alone vial.</a:t>
            </a:r>
          </a:p>
        </p:txBody>
      </p:sp>
      <p:sp>
        <p:nvSpPr>
          <p:cNvPr id="11" name="">
            <a:extLst xmlns:a="http://schemas.openxmlformats.org/drawingml/2006/main">
              <a:ext uri="{FF2B5EF4-FFF2-40B4-BE49-F238E27FC236}">
                <a16:creationId xmlns:a16="http://schemas.microsoft.com/office/drawing/2014/main" id="{8E1EE824-9735-4FCE-8175-E4B94B71F313}"/>
              </a:ext>
            </a:extLst>
          </p:cNvPr>
          <p:cNvSpPr>
            <a:spLocks xmlns:a="http://schemas.openxmlformats.org/drawingml/2006/main" noGrp="1"/>
          </p:cNvSpPr>
          <p:nvPr/>
        </p:nvSpPr>
        <p:spPr>
          <a:xfrm xmlns:a="http://schemas.openxmlformats.org/drawingml/2006/main">
            <a:off x="857250" y="4095750"/>
            <a:ext cx="1524000" cy="47625"/>
          </a:xfrm>
          <a:prstGeom xmlns:a="http://schemas.openxmlformats.org/drawingml/2006/main" prst="rect">
            <a:avLst/>
          </a:prstGeom>
          <a:solidFill xmlns:a="http://schemas.openxmlformats.org/drawingml/2006/main">
            <a:srgbClr val="538AC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1D55F2-60A7-49ED-A7AD-B14A4A86BF04}"/>
              </a:ext>
            </a:extLst>
          </p:cNvPr>
          <p:cNvSpPr>
            <a:spLocks xmlns:a="http://schemas.openxmlformats.org/drawingml/2006/main" noGrp="1"/>
          </p:cNvSpPr>
          <p:nvPr/>
        </p:nvSpPr>
        <p:spPr>
          <a:xfrm xmlns:a="http://schemas.openxmlformats.org/drawingml/2006/main">
            <a:off x="857250" y="4524375"/>
            <a:ext cx="1238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0" i="0">
                <a:solidFill>
                  <a:srgbClr val="DCE7F4"/>
                </a:solidFill>
                <a:latin typeface="Arial"/>
                <a:ea typeface="Arial"/>
                <a:cs typeface="Arial"/>
              </a:defRPr>
            </a:pPr>
            <a:r>
              <a:rPr sz="2175" b="0" i="0">
                <a:solidFill>
                  <a:srgbClr val="DCE7F4"/>
                </a:solidFill>
                <a:latin typeface="Arial"/>
                <a:ea typeface="Arial"/>
                <a:cs typeface="Arial"/>
              </a:rPr>
              <a:t>Cellmax is one option within selected care plans following clinical assessment. The patient proposition is structured assessment, appropriate wound care, documented progress, education and scheduled follow-up.</a:t>
            </a:r>
          </a:p>
        </p:txBody>
      </p:sp>
      <p:sp>
        <p:nvSpPr>
          <p:cNvPr id="13" name="">
            <a:extLst xmlns:a="http://schemas.openxmlformats.org/drawingml/2006/main">
              <a:ext uri="{FF2B5EF4-FFF2-40B4-BE49-F238E27FC236}">
                <a16:creationId xmlns:a16="http://schemas.microsoft.com/office/drawing/2014/main" id="{07A2A856-A706-4F89-9D62-5902C5AE5780}"/>
              </a:ext>
            </a:extLst>
          </p:cNvPr>
          <p:cNvSpPr>
            <a:spLocks xmlns:a="http://schemas.openxmlformats.org/drawingml/2006/main" noGrp="1"/>
          </p:cNvSpPr>
          <p:nvPr/>
        </p:nvSpPr>
        <p:spPr>
          <a:xfrm xmlns:a="http://schemas.openxmlformats.org/drawingml/2006/main">
            <a:off x="857250" y="67246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FFFFFF"/>
                </a:solidFill>
                <a:latin typeface="Arial"/>
                <a:ea typeface="Arial"/>
                <a:cs typeface="Arial"/>
              </a:defRPr>
            </a:pPr>
            <a:r>
              <a:rPr sz="1575" b="1" i="0">
                <a:solidFill>
                  <a:srgbClr val="FFFFFF"/>
                </a:solidFill>
                <a:latin typeface="Arial"/>
                <a:ea typeface="Arial"/>
                <a:cs typeface="Arial"/>
              </a:rPr>
              <a:t>Suitability depends on clinical assessment.</a:t>
            </a:r>
          </a:p>
        </p:txBody>
      </p:sp>
    </p:spTree>
    <p:extLst>
      <p:ext uri="{BB962C8B-B14F-4D97-AF65-F5344CB8AC3E}">
        <p14:creationId xmlns:p14="http://schemas.microsoft.com/office/powerpoint/2010/main" val="13160668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d52e4a1e62845c3"/>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6B01F84-10F5-4A0B-860D-6763F6B69A21}"/>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3215FDA6-62E5-401D-91BA-7260B4D808ED}"/>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CC81B100-99F2-46C7-8511-C3E433DC3AE4}"/>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AF4537-A04C-4EAF-A9CB-80CC43A00A60}"/>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2FE0471-230A-4871-94C0-F78C2E54F4CF}"/>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EED53E96-6A17-4F84-8858-6D1DCB1736F5}"/>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3E85C7B8-C077-4963-B4E0-B2C4D24DFB31}"/>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BE963F7D-718D-423F-A9C7-86F46A408023}"/>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OBJECTIVES AND INTENDED OUTCOMES</a:t>
            </a:r>
          </a:p>
        </p:txBody>
      </p:sp>
      <p:sp>
        <p:nvSpPr>
          <p:cNvPr id="10" name="">
            <a:extLst xmlns:a="http://schemas.openxmlformats.org/drawingml/2006/main">
              <a:ext uri="{FF2B5EF4-FFF2-40B4-BE49-F238E27FC236}">
                <a16:creationId xmlns:a16="http://schemas.microsoft.com/office/drawing/2014/main" id="{97E1372A-FBD8-4882-A2FE-184A8B8A6F8F}"/>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Five outcomes define success</a:t>
            </a:r>
          </a:p>
        </p:txBody>
      </p:sp>
      <p:sp>
        <p:nvSpPr>
          <p:cNvPr id="11" name="">
            <a:extLst xmlns:a="http://schemas.openxmlformats.org/drawingml/2006/main">
              <a:ext uri="{FF2B5EF4-FFF2-40B4-BE49-F238E27FC236}">
                <a16:creationId xmlns:a16="http://schemas.microsoft.com/office/drawing/2014/main" id="{B88919DF-A7BA-4259-B6EF-2EAF709EA20C}"/>
              </a:ext>
            </a:extLst>
          </p:cNvPr>
          <p:cNvSpPr>
            <a:spLocks xmlns:a="http://schemas.openxmlformats.org/drawingml/2006/main" noGrp="1"/>
          </p:cNvSpPr>
          <p:nvPr/>
        </p:nvSpPr>
        <p:spPr>
          <a:xfrm xmlns:a="http://schemas.openxmlformats.org/drawingml/2006/main">
            <a:off x="857250" y="24765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538AC3"/>
                </a:solidFill>
                <a:latin typeface="Arial"/>
                <a:ea typeface="Arial"/>
                <a:cs typeface="Arial"/>
              </a:defRPr>
            </a:pPr>
            <a:r>
              <a:rPr sz="1275" b="1" i="0">
                <a:solidFill>
                  <a:srgbClr val="538AC3"/>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4DB26322-EB16-48AC-AAEF-3A7AEC16A72C}"/>
              </a:ext>
            </a:extLst>
          </p:cNvPr>
          <p:cNvSpPr>
            <a:spLocks xmlns:a="http://schemas.openxmlformats.org/drawingml/2006/main" noGrp="1"/>
          </p:cNvSpPr>
          <p:nvPr/>
        </p:nvSpPr>
        <p:spPr>
          <a:xfrm xmlns:a="http://schemas.openxmlformats.org/drawingml/2006/main">
            <a:off x="1524000" y="2466975"/>
            <a:ext cx="581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i="0">
                <a:solidFill>
                  <a:srgbClr val="1E293B"/>
                </a:solidFill>
                <a:latin typeface="Arial"/>
                <a:ea typeface="Arial"/>
                <a:cs typeface="Arial"/>
              </a:defRPr>
            </a:pPr>
            <a:r>
              <a:rPr sz="1800" b="1" i="0">
                <a:solidFill>
                  <a:srgbClr val="1E293B"/>
                </a:solidFill>
                <a:latin typeface="Arial"/>
                <a:ea typeface="Arial"/>
                <a:cs typeface="Arial"/>
              </a:rPr>
              <a:t>Position Klinik Inocare as a trusted, structured centre for chronic wound care.</a:t>
            </a:r>
          </a:p>
        </p:txBody>
      </p:sp>
      <p:sp>
        <p:nvSpPr>
          <p:cNvPr id="13" name="">
            <a:extLst xmlns:a="http://schemas.openxmlformats.org/drawingml/2006/main">
              <a:ext uri="{FF2B5EF4-FFF2-40B4-BE49-F238E27FC236}">
                <a16:creationId xmlns:a16="http://schemas.microsoft.com/office/drawing/2014/main" id="{E5FE994D-86E7-40A3-958F-7E7E0D4F0254}"/>
              </a:ext>
            </a:extLst>
          </p:cNvPr>
          <p:cNvSpPr>
            <a:spLocks xmlns:a="http://schemas.openxmlformats.org/drawingml/2006/main" noGrp="1"/>
          </p:cNvSpPr>
          <p:nvPr/>
        </p:nvSpPr>
        <p:spPr>
          <a:xfrm xmlns:a="http://schemas.openxmlformats.org/drawingml/2006/main">
            <a:off x="857250" y="3571875"/>
            <a:ext cx="628650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99DC6F-48C8-4FA9-AE91-79676D584109}"/>
              </a:ext>
            </a:extLst>
          </p:cNvPr>
          <p:cNvSpPr>
            <a:spLocks xmlns:a="http://schemas.openxmlformats.org/drawingml/2006/main" noGrp="1"/>
          </p:cNvSpPr>
          <p:nvPr/>
        </p:nvSpPr>
        <p:spPr>
          <a:xfrm xmlns:a="http://schemas.openxmlformats.org/drawingml/2006/main">
            <a:off x="857250" y="390525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538AC3"/>
                </a:solidFill>
                <a:latin typeface="Arial"/>
                <a:ea typeface="Arial"/>
                <a:cs typeface="Arial"/>
              </a:defRPr>
            </a:pPr>
            <a:r>
              <a:rPr sz="1275" b="1" i="0">
                <a:solidFill>
                  <a:srgbClr val="538AC3"/>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6439683D-04A3-493C-B0AD-18DB9022D2DA}"/>
              </a:ext>
            </a:extLst>
          </p:cNvPr>
          <p:cNvSpPr>
            <a:spLocks xmlns:a="http://schemas.openxmlformats.org/drawingml/2006/main" noGrp="1"/>
          </p:cNvSpPr>
          <p:nvPr/>
        </p:nvSpPr>
        <p:spPr>
          <a:xfrm xmlns:a="http://schemas.openxmlformats.org/drawingml/2006/main">
            <a:off x="1524000" y="3895725"/>
            <a:ext cx="581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i="0">
                <a:solidFill>
                  <a:srgbClr val="1E293B"/>
                </a:solidFill>
                <a:latin typeface="Arial"/>
                <a:ea typeface="Arial"/>
                <a:cs typeface="Arial"/>
              </a:defRPr>
            </a:pPr>
            <a:r>
              <a:rPr sz="1800" b="1" i="0">
                <a:solidFill>
                  <a:srgbClr val="1E293B"/>
                </a:solidFill>
                <a:latin typeface="Arial"/>
                <a:ea typeface="Arial"/>
                <a:cs typeface="Arial"/>
              </a:rPr>
              <a:t>Build a reliable path from digital discovery to WhatsApp, assessment and treatment-plan start.</a:t>
            </a:r>
          </a:p>
        </p:txBody>
      </p:sp>
      <p:sp>
        <p:nvSpPr>
          <p:cNvPr id="16" name="">
            <a:extLst xmlns:a="http://schemas.openxmlformats.org/drawingml/2006/main">
              <a:ext uri="{FF2B5EF4-FFF2-40B4-BE49-F238E27FC236}">
                <a16:creationId xmlns:a16="http://schemas.microsoft.com/office/drawing/2014/main" id="{7C02A56A-0412-470C-AD64-D0BE7869B9E0}"/>
              </a:ext>
            </a:extLst>
          </p:cNvPr>
          <p:cNvSpPr>
            <a:spLocks xmlns:a="http://schemas.openxmlformats.org/drawingml/2006/main" noGrp="1"/>
          </p:cNvSpPr>
          <p:nvPr/>
        </p:nvSpPr>
        <p:spPr>
          <a:xfrm xmlns:a="http://schemas.openxmlformats.org/drawingml/2006/main">
            <a:off x="857250" y="5000625"/>
            <a:ext cx="628650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7959F59-3101-4971-8BCE-5CF72B4A3F1A}"/>
              </a:ext>
            </a:extLst>
          </p:cNvPr>
          <p:cNvSpPr>
            <a:spLocks xmlns:a="http://schemas.openxmlformats.org/drawingml/2006/main" noGrp="1"/>
          </p:cNvSpPr>
          <p:nvPr/>
        </p:nvSpPr>
        <p:spPr>
          <a:xfrm xmlns:a="http://schemas.openxmlformats.org/drawingml/2006/main">
            <a:off x="857250" y="5334000"/>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538AC3"/>
                </a:solidFill>
                <a:latin typeface="Arial"/>
                <a:ea typeface="Arial"/>
                <a:cs typeface="Arial"/>
              </a:defRPr>
            </a:pPr>
            <a:r>
              <a:rPr sz="1275" b="1" i="0">
                <a:solidFill>
                  <a:srgbClr val="538AC3"/>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EE8AF274-DE4A-445B-A3D7-F5445C6CBC8C}"/>
              </a:ext>
            </a:extLst>
          </p:cNvPr>
          <p:cNvSpPr>
            <a:spLocks xmlns:a="http://schemas.openxmlformats.org/drawingml/2006/main" noGrp="1"/>
          </p:cNvSpPr>
          <p:nvPr/>
        </p:nvSpPr>
        <p:spPr>
          <a:xfrm xmlns:a="http://schemas.openxmlformats.org/drawingml/2006/main">
            <a:off x="1524000" y="5324475"/>
            <a:ext cx="581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i="0">
                <a:solidFill>
                  <a:srgbClr val="1E293B"/>
                </a:solidFill>
                <a:latin typeface="Arial"/>
                <a:ea typeface="Arial"/>
                <a:cs typeface="Arial"/>
              </a:defRPr>
            </a:pPr>
            <a:r>
              <a:rPr sz="1800" b="1" i="0">
                <a:solidFill>
                  <a:srgbClr val="1E293B"/>
                </a:solidFill>
                <a:latin typeface="Arial"/>
                <a:ea typeface="Arial"/>
                <a:cs typeface="Arial"/>
              </a:rPr>
              <a:t>Use Cellmax as a clinical differentiator governed by registered indications and patient assessment.</a:t>
            </a:r>
          </a:p>
        </p:txBody>
      </p:sp>
      <p:sp>
        <p:nvSpPr>
          <p:cNvPr id="19" name="">
            <a:extLst xmlns:a="http://schemas.openxmlformats.org/drawingml/2006/main">
              <a:ext uri="{FF2B5EF4-FFF2-40B4-BE49-F238E27FC236}">
                <a16:creationId xmlns:a16="http://schemas.microsoft.com/office/drawing/2014/main" id="{32229E5B-A97C-4C4F-81AC-B7B75BE8CE28}"/>
              </a:ext>
            </a:extLst>
          </p:cNvPr>
          <p:cNvSpPr>
            <a:spLocks xmlns:a="http://schemas.openxmlformats.org/drawingml/2006/main" noGrp="1"/>
          </p:cNvSpPr>
          <p:nvPr/>
        </p:nvSpPr>
        <p:spPr>
          <a:xfrm xmlns:a="http://schemas.openxmlformats.org/drawingml/2006/main">
            <a:off x="857250" y="6429375"/>
            <a:ext cx="628650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762EC13-0978-4A01-9543-ACC4763C0316}"/>
              </a:ext>
            </a:extLst>
          </p:cNvPr>
          <p:cNvSpPr>
            <a:spLocks xmlns:a="http://schemas.openxmlformats.org/drawingml/2006/main" noGrp="1"/>
          </p:cNvSpPr>
          <p:nvPr/>
        </p:nvSpPr>
        <p:spPr>
          <a:xfrm xmlns:a="http://schemas.openxmlformats.org/drawingml/2006/main">
            <a:off x="7953375" y="3171825"/>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538AC3"/>
                </a:solidFill>
                <a:latin typeface="Arial"/>
                <a:ea typeface="Arial"/>
                <a:cs typeface="Arial"/>
              </a:defRPr>
            </a:pPr>
            <a:r>
              <a:rPr sz="1275" b="1" i="0">
                <a:solidFill>
                  <a:srgbClr val="538AC3"/>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D4EDB84F-318D-4ED7-9B0C-49762C0AB8F9}"/>
              </a:ext>
            </a:extLst>
          </p:cNvPr>
          <p:cNvSpPr>
            <a:spLocks xmlns:a="http://schemas.openxmlformats.org/drawingml/2006/main" noGrp="1"/>
          </p:cNvSpPr>
          <p:nvPr/>
        </p:nvSpPr>
        <p:spPr>
          <a:xfrm xmlns:a="http://schemas.openxmlformats.org/drawingml/2006/main">
            <a:off x="8620125" y="3162300"/>
            <a:ext cx="581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i="0">
                <a:solidFill>
                  <a:srgbClr val="1E293B"/>
                </a:solidFill>
                <a:latin typeface="Arial"/>
                <a:ea typeface="Arial"/>
                <a:cs typeface="Arial"/>
              </a:defRPr>
            </a:pPr>
            <a:r>
              <a:rPr sz="1800" b="1" i="0">
                <a:solidFill>
                  <a:srgbClr val="1E293B"/>
                </a:solidFill>
                <a:latin typeface="Arial"/>
                <a:ea typeface="Arial"/>
                <a:cs typeface="Arial"/>
              </a:rPr>
              <a:t>Increase referrals from clinics, home-care nurses, dialysis centres, care homes and communities.</a:t>
            </a:r>
          </a:p>
        </p:txBody>
      </p:sp>
      <p:sp>
        <p:nvSpPr>
          <p:cNvPr id="22" name="">
            <a:extLst xmlns:a="http://schemas.openxmlformats.org/drawingml/2006/main">
              <a:ext uri="{FF2B5EF4-FFF2-40B4-BE49-F238E27FC236}">
                <a16:creationId xmlns:a16="http://schemas.microsoft.com/office/drawing/2014/main" id="{9492ADD5-1F5C-4514-9E5D-A2EA151D33BD}"/>
              </a:ext>
            </a:extLst>
          </p:cNvPr>
          <p:cNvSpPr>
            <a:spLocks xmlns:a="http://schemas.openxmlformats.org/drawingml/2006/main" noGrp="1"/>
          </p:cNvSpPr>
          <p:nvPr/>
        </p:nvSpPr>
        <p:spPr>
          <a:xfrm xmlns:a="http://schemas.openxmlformats.org/drawingml/2006/main">
            <a:off x="7953375" y="4267200"/>
            <a:ext cx="628650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14A0BEE-6AAE-4C0E-96B6-96328904BF16}"/>
              </a:ext>
            </a:extLst>
          </p:cNvPr>
          <p:cNvSpPr>
            <a:spLocks xmlns:a="http://schemas.openxmlformats.org/drawingml/2006/main" noGrp="1"/>
          </p:cNvSpPr>
          <p:nvPr/>
        </p:nvSpPr>
        <p:spPr>
          <a:xfrm xmlns:a="http://schemas.openxmlformats.org/drawingml/2006/main">
            <a:off x="7953375" y="4886325"/>
            <a:ext cx="552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538AC3"/>
                </a:solidFill>
                <a:latin typeface="Arial"/>
                <a:ea typeface="Arial"/>
                <a:cs typeface="Arial"/>
              </a:defRPr>
            </a:pPr>
            <a:r>
              <a:rPr sz="1275" b="1" i="0">
                <a:solidFill>
                  <a:srgbClr val="538AC3"/>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66976552-28FC-4A5E-8E48-F3C79AF6F0F8}"/>
              </a:ext>
            </a:extLst>
          </p:cNvPr>
          <p:cNvSpPr>
            <a:spLocks xmlns:a="http://schemas.openxmlformats.org/drawingml/2006/main" noGrp="1"/>
          </p:cNvSpPr>
          <p:nvPr/>
        </p:nvSpPr>
        <p:spPr>
          <a:xfrm xmlns:a="http://schemas.openxmlformats.org/drawingml/2006/main">
            <a:off x="8620125" y="4876800"/>
            <a:ext cx="581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i="0">
                <a:solidFill>
                  <a:srgbClr val="1E293B"/>
                </a:solidFill>
                <a:latin typeface="Arial"/>
                <a:ea typeface="Arial"/>
                <a:cs typeface="Arial"/>
              </a:defRPr>
            </a:pPr>
            <a:r>
              <a:rPr sz="1800" b="1" i="0">
                <a:solidFill>
                  <a:srgbClr val="1E293B"/>
                </a:solidFill>
                <a:latin typeface="Arial"/>
                <a:ea typeface="Arial"/>
                <a:cs typeface="Arial"/>
              </a:rPr>
              <a:t>Progress measurably towards RM100,000 in monthly clinic revenue by December 2026.</a:t>
            </a:r>
          </a:p>
        </p:txBody>
      </p:sp>
      <p:sp>
        <p:nvSpPr>
          <p:cNvPr id="25" name="">
            <a:extLst xmlns:a="http://schemas.openxmlformats.org/drawingml/2006/main">
              <a:ext uri="{FF2B5EF4-FFF2-40B4-BE49-F238E27FC236}">
                <a16:creationId xmlns:a16="http://schemas.microsoft.com/office/drawing/2014/main" id="{2FCEB5F9-4D4C-4FFA-9DFD-D16FB735DBE6}"/>
              </a:ext>
            </a:extLst>
          </p:cNvPr>
          <p:cNvSpPr>
            <a:spLocks xmlns:a="http://schemas.openxmlformats.org/drawingml/2006/main" noGrp="1"/>
          </p:cNvSpPr>
          <p:nvPr/>
        </p:nvSpPr>
        <p:spPr>
          <a:xfrm xmlns:a="http://schemas.openxmlformats.org/drawingml/2006/main">
            <a:off x="7953375" y="5981700"/>
            <a:ext cx="628650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Tree>
    <p:extLst>
      <p:ext uri="{BB962C8B-B14F-4D97-AF65-F5344CB8AC3E}">
        <p14:creationId xmlns:p14="http://schemas.microsoft.com/office/powerpoint/2010/main" val="1077912654"/>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91b8de97adc9419b"/>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6993413-1A0D-4023-8059-1C2A3F0AD9BE}"/>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E2E5813D-6B9B-4951-B56B-FB44DC9C5117}"/>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8B067BA6-7CAF-4C49-ADD9-8CC05153033D}"/>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1264E2-1DCC-4E2B-92C3-2D077EFB815C}"/>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DBCB7DA-F5B4-436E-A8B9-1827ADD79F03}"/>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DB19908A-18D3-4C0D-8565-9C6D6D21D698}"/>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B56762F3-6D0B-4A02-8069-5A033E6F9F52}"/>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05</a:t>
            </a:r>
          </a:p>
        </p:txBody>
      </p:sp>
      <p:sp>
        <p:nvSpPr>
          <p:cNvPr id="9" name="">
            <a:extLst xmlns:a="http://schemas.openxmlformats.org/drawingml/2006/main">
              <a:ext uri="{FF2B5EF4-FFF2-40B4-BE49-F238E27FC236}">
                <a16:creationId xmlns:a16="http://schemas.microsoft.com/office/drawing/2014/main" id="{C3053E95-5826-409D-BC9A-DC4A1FF69277}"/>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POSITIONING, AUDIENCES AND OFFER</a:t>
            </a:r>
          </a:p>
        </p:txBody>
      </p:sp>
      <p:sp>
        <p:nvSpPr>
          <p:cNvPr id="10" name="">
            <a:extLst xmlns:a="http://schemas.openxmlformats.org/drawingml/2006/main">
              <a:ext uri="{FF2B5EF4-FFF2-40B4-BE49-F238E27FC236}">
                <a16:creationId xmlns:a16="http://schemas.microsoft.com/office/drawing/2014/main" id="{17C363B5-71DF-46B3-9D8D-81A105D108D6}"/>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A focused audience meets a complete service offer</a:t>
            </a:r>
          </a:p>
        </p:txBody>
      </p:sp>
      <p:sp>
        <p:nvSpPr>
          <p:cNvPr id="11" name="">
            <a:extLst xmlns:a="http://schemas.openxmlformats.org/drawingml/2006/main">
              <a:ext uri="{FF2B5EF4-FFF2-40B4-BE49-F238E27FC236}">
                <a16:creationId xmlns:a16="http://schemas.microsoft.com/office/drawing/2014/main" id="{02E9D7B3-9A13-46CF-8BFE-16C70E8DC4E2}"/>
              </a:ext>
            </a:extLst>
          </p:cNvPr>
          <p:cNvSpPr>
            <a:spLocks xmlns:a="http://schemas.openxmlformats.org/drawingml/2006/main" noGrp="1"/>
          </p:cNvSpPr>
          <p:nvPr/>
        </p:nvSpPr>
        <p:spPr>
          <a:xfrm xmlns:a="http://schemas.openxmlformats.org/drawingml/2006/main">
            <a:off x="857250" y="238125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5"/>
          </a:bodyPr>
          <a:lstStyle xmlns:a="http://schemas.openxmlformats.org/drawingml/2006/main"/>
          <a:p xmlns:a="http://schemas.openxmlformats.org/drawingml/2006/main">
            <a:pPr algn="l">
              <a:lnSpc>
                <a:spcPct val="108000"/>
              </a:lnSpc>
              <a:buNone/>
              <a:defRPr sz="2025" b="1" i="0">
                <a:solidFill>
                  <a:srgbClr val="234173"/>
                </a:solidFill>
                <a:latin typeface="Arial"/>
                <a:ea typeface="Arial"/>
                <a:cs typeface="Arial"/>
              </a:defRPr>
            </a:pPr>
            <a:r>
              <a:rPr sz="2025" b="1" i="0">
                <a:solidFill>
                  <a:srgbClr val="234173"/>
                </a:solidFill>
                <a:latin typeface="Arial"/>
                <a:ea typeface="Arial"/>
                <a:cs typeface="Arial"/>
              </a:rPr>
              <a:t>Priority audiences</a:t>
            </a:r>
          </a:p>
        </p:txBody>
      </p:sp>
      <p:sp>
        <p:nvSpPr>
          <p:cNvPr id="12" name="">
            <a:extLst xmlns:a="http://schemas.openxmlformats.org/drawingml/2006/main">
              <a:ext uri="{FF2B5EF4-FFF2-40B4-BE49-F238E27FC236}">
                <a16:creationId xmlns:a16="http://schemas.microsoft.com/office/drawing/2014/main" id="{B5AB5A3A-84AD-4132-8AF2-29CC6AE2BB55}"/>
              </a:ext>
            </a:extLst>
          </p:cNvPr>
          <p:cNvSpPr>
            <a:spLocks xmlns:a="http://schemas.openxmlformats.org/drawingml/2006/main" noGrp="1"/>
          </p:cNvSpPr>
          <p:nvPr/>
        </p:nvSpPr>
        <p:spPr>
          <a:xfrm xmlns:a="http://schemas.openxmlformats.org/drawingml/2006/main">
            <a:off x="7953375" y="238125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65"/>
          </a:bodyPr>
          <a:lstStyle xmlns:a="http://schemas.openxmlformats.org/drawingml/2006/main"/>
          <a:p xmlns:a="http://schemas.openxmlformats.org/drawingml/2006/main">
            <a:pPr algn="l">
              <a:lnSpc>
                <a:spcPct val="108000"/>
              </a:lnSpc>
              <a:buNone/>
              <a:defRPr sz="2025" b="1" i="0">
                <a:solidFill>
                  <a:srgbClr val="234173"/>
                </a:solidFill>
                <a:latin typeface="Arial"/>
                <a:ea typeface="Arial"/>
                <a:cs typeface="Arial"/>
              </a:defRPr>
            </a:pPr>
            <a:r>
              <a:rPr sz="2025" b="1" i="0">
                <a:solidFill>
                  <a:srgbClr val="234173"/>
                </a:solidFill>
                <a:latin typeface="Arial"/>
                <a:ea typeface="Arial"/>
                <a:cs typeface="Arial"/>
              </a:rPr>
              <a:t>Service offer</a:t>
            </a:r>
          </a:p>
        </p:txBody>
      </p:sp>
      <p:sp>
        <p:nvSpPr>
          <p:cNvPr id="13" name="">
            <a:extLst xmlns:a="http://schemas.openxmlformats.org/drawingml/2006/main">
              <a:ext uri="{FF2B5EF4-FFF2-40B4-BE49-F238E27FC236}">
                <a16:creationId xmlns:a16="http://schemas.microsoft.com/office/drawing/2014/main" id="{7373B021-F2C2-4BE0-B3EF-87DE94B3D8C5}"/>
              </a:ext>
            </a:extLst>
          </p:cNvPr>
          <p:cNvSpPr>
            <a:spLocks xmlns:a="http://schemas.openxmlformats.org/drawingml/2006/main" noGrp="1"/>
          </p:cNvSpPr>
          <p:nvPr/>
        </p:nvSpPr>
        <p:spPr>
          <a:xfrm xmlns:a="http://schemas.openxmlformats.org/drawingml/2006/main">
            <a:off x="857250" y="3048000"/>
            <a:ext cx="5524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2.1</a:t>
            </a:r>
          </a:p>
        </p:txBody>
      </p:sp>
      <p:sp>
        <p:nvSpPr>
          <p:cNvPr id="14" name="">
            <a:extLst xmlns:a="http://schemas.openxmlformats.org/drawingml/2006/main">
              <a:ext uri="{FF2B5EF4-FFF2-40B4-BE49-F238E27FC236}">
                <a16:creationId xmlns:a16="http://schemas.microsoft.com/office/drawing/2014/main" id="{98EE8997-6E94-4CF2-A82F-DD04927D5531}"/>
              </a:ext>
            </a:extLst>
          </p:cNvPr>
          <p:cNvSpPr>
            <a:spLocks xmlns:a="http://schemas.openxmlformats.org/drawingml/2006/main" noGrp="1"/>
          </p:cNvSpPr>
          <p:nvPr/>
        </p:nvSpPr>
        <p:spPr>
          <a:xfrm xmlns:a="http://schemas.openxmlformats.org/drawingml/2006/main">
            <a:off x="1409700" y="3048000"/>
            <a:ext cx="5638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Patients and families managing diabetic, pressure, post-surgical or traumatic wounds.</a:t>
            </a:r>
          </a:p>
        </p:txBody>
      </p:sp>
      <p:sp>
        <p:nvSpPr>
          <p:cNvPr id="15" name="">
            <a:extLst xmlns:a="http://schemas.openxmlformats.org/drawingml/2006/main">
              <a:ext uri="{FF2B5EF4-FFF2-40B4-BE49-F238E27FC236}">
                <a16:creationId xmlns:a16="http://schemas.microsoft.com/office/drawing/2014/main" id="{EF1393CB-DB36-481E-A76D-26815E773C8E}"/>
              </a:ext>
            </a:extLst>
          </p:cNvPr>
          <p:cNvSpPr>
            <a:spLocks xmlns:a="http://schemas.openxmlformats.org/drawingml/2006/main" noGrp="1"/>
          </p:cNvSpPr>
          <p:nvPr/>
        </p:nvSpPr>
        <p:spPr>
          <a:xfrm xmlns:a="http://schemas.openxmlformats.org/drawingml/2006/main">
            <a:off x="857250" y="3914775"/>
            <a:ext cx="5524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2.2</a:t>
            </a:r>
          </a:p>
        </p:txBody>
      </p:sp>
      <p:sp>
        <p:nvSpPr>
          <p:cNvPr id="16" name="">
            <a:extLst xmlns:a="http://schemas.openxmlformats.org/drawingml/2006/main">
              <a:ext uri="{FF2B5EF4-FFF2-40B4-BE49-F238E27FC236}">
                <a16:creationId xmlns:a16="http://schemas.microsoft.com/office/drawing/2014/main" id="{B7149654-ED76-4644-BADC-F7D940FD1139}"/>
              </a:ext>
            </a:extLst>
          </p:cNvPr>
          <p:cNvSpPr>
            <a:spLocks xmlns:a="http://schemas.openxmlformats.org/drawingml/2006/main" noGrp="1"/>
          </p:cNvSpPr>
          <p:nvPr/>
        </p:nvSpPr>
        <p:spPr>
          <a:xfrm xmlns:a="http://schemas.openxmlformats.org/drawingml/2006/main">
            <a:off x="1409700" y="3914775"/>
            <a:ext cx="5638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Caregivers, home-care nurses, care homes and elderly-care providers.</a:t>
            </a:r>
          </a:p>
        </p:txBody>
      </p:sp>
      <p:sp>
        <p:nvSpPr>
          <p:cNvPr id="17" name="">
            <a:extLst xmlns:a="http://schemas.openxmlformats.org/drawingml/2006/main">
              <a:ext uri="{FF2B5EF4-FFF2-40B4-BE49-F238E27FC236}">
                <a16:creationId xmlns:a16="http://schemas.microsoft.com/office/drawing/2014/main" id="{958BC664-D0F3-4DDA-B5FE-AFB5AE517D91}"/>
              </a:ext>
            </a:extLst>
          </p:cNvPr>
          <p:cNvSpPr>
            <a:spLocks xmlns:a="http://schemas.openxmlformats.org/drawingml/2006/main" noGrp="1"/>
          </p:cNvSpPr>
          <p:nvPr/>
        </p:nvSpPr>
        <p:spPr>
          <a:xfrm xmlns:a="http://schemas.openxmlformats.org/drawingml/2006/main">
            <a:off x="857250" y="4781550"/>
            <a:ext cx="5524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2.3</a:t>
            </a:r>
          </a:p>
        </p:txBody>
      </p:sp>
      <p:sp>
        <p:nvSpPr>
          <p:cNvPr id="18" name="">
            <a:extLst xmlns:a="http://schemas.openxmlformats.org/drawingml/2006/main">
              <a:ext uri="{FF2B5EF4-FFF2-40B4-BE49-F238E27FC236}">
                <a16:creationId xmlns:a16="http://schemas.microsoft.com/office/drawing/2014/main" id="{6BF3EF83-EF5B-46FB-BCA5-84068F11054F}"/>
              </a:ext>
            </a:extLst>
          </p:cNvPr>
          <p:cNvSpPr>
            <a:spLocks xmlns:a="http://schemas.openxmlformats.org/drawingml/2006/main" noGrp="1"/>
          </p:cNvSpPr>
          <p:nvPr/>
        </p:nvSpPr>
        <p:spPr>
          <a:xfrm xmlns:a="http://schemas.openxmlformats.org/drawingml/2006/main">
            <a:off x="1409700" y="4781550"/>
            <a:ext cx="5638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Primary-care doctors, dialysis centres, pharmacies and diabetes organisations.</a:t>
            </a:r>
          </a:p>
        </p:txBody>
      </p:sp>
      <p:sp>
        <p:nvSpPr>
          <p:cNvPr id="19" name="">
            <a:extLst xmlns:a="http://schemas.openxmlformats.org/drawingml/2006/main">
              <a:ext uri="{FF2B5EF4-FFF2-40B4-BE49-F238E27FC236}">
                <a16:creationId xmlns:a16="http://schemas.microsoft.com/office/drawing/2014/main" id="{F0B0BAB4-8209-4979-B263-5DC398AA9892}"/>
              </a:ext>
            </a:extLst>
          </p:cNvPr>
          <p:cNvSpPr>
            <a:spLocks xmlns:a="http://schemas.openxmlformats.org/drawingml/2006/main" noGrp="1"/>
          </p:cNvSpPr>
          <p:nvPr/>
        </p:nvSpPr>
        <p:spPr>
          <a:xfrm xmlns:a="http://schemas.openxmlformats.org/drawingml/2006/main">
            <a:off x="857250" y="5648325"/>
            <a:ext cx="5524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2.4</a:t>
            </a:r>
          </a:p>
        </p:txBody>
      </p:sp>
      <p:sp>
        <p:nvSpPr>
          <p:cNvPr id="20" name="">
            <a:extLst xmlns:a="http://schemas.openxmlformats.org/drawingml/2006/main">
              <a:ext uri="{FF2B5EF4-FFF2-40B4-BE49-F238E27FC236}">
                <a16:creationId xmlns:a16="http://schemas.microsoft.com/office/drawing/2014/main" id="{8B071507-8E7D-4488-9447-C70F5FDEF9A9}"/>
              </a:ext>
            </a:extLst>
          </p:cNvPr>
          <p:cNvSpPr>
            <a:spLocks xmlns:a="http://schemas.openxmlformats.org/drawingml/2006/main" noGrp="1"/>
          </p:cNvSpPr>
          <p:nvPr/>
        </p:nvSpPr>
        <p:spPr>
          <a:xfrm xmlns:a="http://schemas.openxmlformats.org/drawingml/2006/main">
            <a:off x="1409700" y="5648325"/>
            <a:ext cx="56388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Kuala Lumpur and nearby Selangor areas suitable for repeat follow-up.</a:t>
            </a:r>
          </a:p>
        </p:txBody>
      </p:sp>
      <p:sp>
        <p:nvSpPr>
          <p:cNvPr id="21" name="">
            <a:extLst xmlns:a="http://schemas.openxmlformats.org/drawingml/2006/main">
              <a:ext uri="{FF2B5EF4-FFF2-40B4-BE49-F238E27FC236}">
                <a16:creationId xmlns:a16="http://schemas.microsoft.com/office/drawing/2014/main" id="{3C4D35FC-44BD-435E-80E5-3105B2BFCD09}"/>
              </a:ext>
            </a:extLst>
          </p:cNvPr>
          <p:cNvSpPr>
            <a:spLocks xmlns:a="http://schemas.openxmlformats.org/drawingml/2006/main" noGrp="1"/>
          </p:cNvSpPr>
          <p:nvPr/>
        </p:nvSpPr>
        <p:spPr>
          <a:xfrm xmlns:a="http://schemas.openxmlformats.org/drawingml/2006/main">
            <a:off x="7953375" y="3048000"/>
            <a:ext cx="552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2.5</a:t>
            </a:r>
          </a:p>
        </p:txBody>
      </p:sp>
      <p:sp>
        <p:nvSpPr>
          <p:cNvPr id="22" name="">
            <a:extLst xmlns:a="http://schemas.openxmlformats.org/drawingml/2006/main">
              <a:ext uri="{FF2B5EF4-FFF2-40B4-BE49-F238E27FC236}">
                <a16:creationId xmlns:a16="http://schemas.microsoft.com/office/drawing/2014/main" id="{98BE8C17-65B1-4D29-B1C5-F2DDC4E7FD7E}"/>
              </a:ext>
            </a:extLst>
          </p:cNvPr>
          <p:cNvSpPr>
            <a:spLocks xmlns:a="http://schemas.openxmlformats.org/drawingml/2006/main" noGrp="1"/>
          </p:cNvSpPr>
          <p:nvPr/>
        </p:nvSpPr>
        <p:spPr>
          <a:xfrm xmlns:a="http://schemas.openxmlformats.org/drawingml/2006/main">
            <a:off x="8505825" y="3048000"/>
            <a:ext cx="563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Clinical wound assessment and measurement.</a:t>
            </a:r>
          </a:p>
        </p:txBody>
      </p:sp>
      <p:sp>
        <p:nvSpPr>
          <p:cNvPr id="23" name="">
            <a:extLst xmlns:a="http://schemas.openxmlformats.org/drawingml/2006/main">
              <a:ext uri="{FF2B5EF4-FFF2-40B4-BE49-F238E27FC236}">
                <a16:creationId xmlns:a16="http://schemas.microsoft.com/office/drawing/2014/main" id="{C5F4B100-6CD7-43DD-A9F1-3541125DDAF1}"/>
              </a:ext>
            </a:extLst>
          </p:cNvPr>
          <p:cNvSpPr>
            <a:spLocks xmlns:a="http://schemas.openxmlformats.org/drawingml/2006/main" noGrp="1"/>
          </p:cNvSpPr>
          <p:nvPr/>
        </p:nvSpPr>
        <p:spPr>
          <a:xfrm xmlns:a="http://schemas.openxmlformats.org/drawingml/2006/main">
            <a:off x="7953375" y="3743325"/>
            <a:ext cx="552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2.6</a:t>
            </a:r>
          </a:p>
        </p:txBody>
      </p:sp>
      <p:sp>
        <p:nvSpPr>
          <p:cNvPr id="24" name="">
            <a:extLst xmlns:a="http://schemas.openxmlformats.org/drawingml/2006/main">
              <a:ext uri="{FF2B5EF4-FFF2-40B4-BE49-F238E27FC236}">
                <a16:creationId xmlns:a16="http://schemas.microsoft.com/office/drawing/2014/main" id="{8718FCDE-4192-40A0-A824-F6558CF378B7}"/>
              </a:ext>
            </a:extLst>
          </p:cNvPr>
          <p:cNvSpPr>
            <a:spLocks xmlns:a="http://schemas.openxmlformats.org/drawingml/2006/main" noGrp="1"/>
          </p:cNvSpPr>
          <p:nvPr/>
        </p:nvSpPr>
        <p:spPr>
          <a:xfrm xmlns:a="http://schemas.openxmlformats.org/drawingml/2006/main">
            <a:off x="8505825" y="3743325"/>
            <a:ext cx="563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Progress documentation with patient consent.</a:t>
            </a:r>
          </a:p>
        </p:txBody>
      </p:sp>
      <p:sp>
        <p:nvSpPr>
          <p:cNvPr id="25" name="">
            <a:extLst xmlns:a="http://schemas.openxmlformats.org/drawingml/2006/main">
              <a:ext uri="{FF2B5EF4-FFF2-40B4-BE49-F238E27FC236}">
                <a16:creationId xmlns:a16="http://schemas.microsoft.com/office/drawing/2014/main" id="{21D38063-8F95-434D-8EC9-08F0CEB3FB22}"/>
              </a:ext>
            </a:extLst>
          </p:cNvPr>
          <p:cNvSpPr>
            <a:spLocks xmlns:a="http://schemas.openxmlformats.org/drawingml/2006/main" noGrp="1"/>
          </p:cNvSpPr>
          <p:nvPr/>
        </p:nvSpPr>
        <p:spPr>
          <a:xfrm xmlns:a="http://schemas.openxmlformats.org/drawingml/2006/main">
            <a:off x="7953375" y="4438650"/>
            <a:ext cx="552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2.7</a:t>
            </a:r>
          </a:p>
        </p:txBody>
      </p:sp>
      <p:sp>
        <p:nvSpPr>
          <p:cNvPr id="26" name="">
            <a:extLst xmlns:a="http://schemas.openxmlformats.org/drawingml/2006/main">
              <a:ext uri="{FF2B5EF4-FFF2-40B4-BE49-F238E27FC236}">
                <a16:creationId xmlns:a16="http://schemas.microsoft.com/office/drawing/2014/main" id="{D7F844D5-2EE6-4599-BE4B-8941EC05451E}"/>
              </a:ext>
            </a:extLst>
          </p:cNvPr>
          <p:cNvSpPr>
            <a:spLocks xmlns:a="http://schemas.openxmlformats.org/drawingml/2006/main" noGrp="1"/>
          </p:cNvSpPr>
          <p:nvPr/>
        </p:nvSpPr>
        <p:spPr>
          <a:xfrm xmlns:a="http://schemas.openxmlformats.org/drawingml/2006/main">
            <a:off x="8505825" y="4438650"/>
            <a:ext cx="563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Appropriate dressing selection and care planning.</a:t>
            </a:r>
          </a:p>
        </p:txBody>
      </p:sp>
      <p:sp>
        <p:nvSpPr>
          <p:cNvPr id="27" name="">
            <a:extLst xmlns:a="http://schemas.openxmlformats.org/drawingml/2006/main">
              <a:ext uri="{FF2B5EF4-FFF2-40B4-BE49-F238E27FC236}">
                <a16:creationId xmlns:a16="http://schemas.microsoft.com/office/drawing/2014/main" id="{6E2447D2-3DFE-4C5F-8CBA-9944481461C5}"/>
              </a:ext>
            </a:extLst>
          </p:cNvPr>
          <p:cNvSpPr>
            <a:spLocks xmlns:a="http://schemas.openxmlformats.org/drawingml/2006/main" noGrp="1"/>
          </p:cNvSpPr>
          <p:nvPr/>
        </p:nvSpPr>
        <p:spPr>
          <a:xfrm xmlns:a="http://schemas.openxmlformats.org/drawingml/2006/main">
            <a:off x="7953375" y="5133975"/>
            <a:ext cx="552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2.8</a:t>
            </a:r>
          </a:p>
        </p:txBody>
      </p:sp>
      <p:sp>
        <p:nvSpPr>
          <p:cNvPr id="28" name="">
            <a:extLst xmlns:a="http://schemas.openxmlformats.org/drawingml/2006/main">
              <a:ext uri="{FF2B5EF4-FFF2-40B4-BE49-F238E27FC236}">
                <a16:creationId xmlns:a16="http://schemas.microsoft.com/office/drawing/2014/main" id="{7FA179DA-BD90-4783-9E99-C390B0144E54}"/>
              </a:ext>
            </a:extLst>
          </p:cNvPr>
          <p:cNvSpPr>
            <a:spLocks xmlns:a="http://schemas.openxmlformats.org/drawingml/2006/main" noGrp="1"/>
          </p:cNvSpPr>
          <p:nvPr/>
        </p:nvSpPr>
        <p:spPr>
          <a:xfrm xmlns:a="http://schemas.openxmlformats.org/drawingml/2006/main">
            <a:off x="8505825" y="5133975"/>
            <a:ext cx="563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Cellmax suitability assessment based on the patient's condition.</a:t>
            </a:r>
          </a:p>
        </p:txBody>
      </p:sp>
      <p:sp>
        <p:nvSpPr>
          <p:cNvPr id="29" name="">
            <a:extLst xmlns:a="http://schemas.openxmlformats.org/drawingml/2006/main">
              <a:ext uri="{FF2B5EF4-FFF2-40B4-BE49-F238E27FC236}">
                <a16:creationId xmlns:a16="http://schemas.microsoft.com/office/drawing/2014/main" id="{67A686E5-35EA-43FC-85E1-B59962ABFA05}"/>
              </a:ext>
            </a:extLst>
          </p:cNvPr>
          <p:cNvSpPr>
            <a:spLocks xmlns:a="http://schemas.openxmlformats.org/drawingml/2006/main" noGrp="1"/>
          </p:cNvSpPr>
          <p:nvPr/>
        </p:nvSpPr>
        <p:spPr>
          <a:xfrm xmlns:a="http://schemas.openxmlformats.org/drawingml/2006/main">
            <a:off x="7953375" y="5829300"/>
            <a:ext cx="552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2.9</a:t>
            </a:r>
          </a:p>
        </p:txBody>
      </p:sp>
      <p:sp>
        <p:nvSpPr>
          <p:cNvPr id="30" name="">
            <a:extLst xmlns:a="http://schemas.openxmlformats.org/drawingml/2006/main">
              <a:ext uri="{FF2B5EF4-FFF2-40B4-BE49-F238E27FC236}">
                <a16:creationId xmlns:a16="http://schemas.microsoft.com/office/drawing/2014/main" id="{9EE8CC51-C3DE-4D2F-A5B6-1D6AC9EDB45E}"/>
              </a:ext>
            </a:extLst>
          </p:cNvPr>
          <p:cNvSpPr>
            <a:spLocks xmlns:a="http://schemas.openxmlformats.org/drawingml/2006/main" noGrp="1"/>
          </p:cNvSpPr>
          <p:nvPr/>
        </p:nvSpPr>
        <p:spPr>
          <a:xfrm xmlns:a="http://schemas.openxmlformats.org/drawingml/2006/main">
            <a:off x="8505825" y="5829300"/>
            <a:ext cx="5638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1E293B"/>
                </a:solidFill>
                <a:latin typeface="Arial"/>
                <a:ea typeface="Arial"/>
                <a:cs typeface="Arial"/>
              </a:defRPr>
            </a:pPr>
            <a:r>
              <a:rPr sz="1500" b="0" i="0">
                <a:solidFill>
                  <a:srgbClr val="1E293B"/>
                </a:solidFill>
                <a:latin typeface="Arial"/>
                <a:ea typeface="Arial"/>
                <a:cs typeface="Arial"/>
              </a:rPr>
              <a:t>Scheduled follow-up, caregiver education and progress monitoring.</a:t>
            </a:r>
          </a:p>
        </p:txBody>
      </p:sp>
      <p:sp>
        <p:nvSpPr>
          <p:cNvPr id="31" name="">
            <a:extLst xmlns:a="http://schemas.openxmlformats.org/drawingml/2006/main">
              <a:ext uri="{FF2B5EF4-FFF2-40B4-BE49-F238E27FC236}">
                <a16:creationId xmlns:a16="http://schemas.microsoft.com/office/drawing/2014/main" id="{939D96F4-D926-4DEA-AB9F-16AAAF66EE66}"/>
              </a:ext>
            </a:extLst>
          </p:cNvPr>
          <p:cNvSpPr>
            <a:spLocks xmlns:a="http://schemas.openxmlformats.org/drawingml/2006/main" noGrp="1"/>
          </p:cNvSpPr>
          <p:nvPr/>
        </p:nvSpPr>
        <p:spPr>
          <a:xfrm xmlns:a="http://schemas.openxmlformats.org/drawingml/2006/main">
            <a:off x="857250" y="6762750"/>
            <a:ext cx="13287375" cy="7429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2C32973-AF8B-4B11-90CC-4F24F1A051B3}"/>
              </a:ext>
            </a:extLst>
          </p:cNvPr>
          <p:cNvSpPr>
            <a:spLocks xmlns:a="http://schemas.openxmlformats.org/drawingml/2006/main" noGrp="1"/>
          </p:cNvSpPr>
          <p:nvPr/>
        </p:nvSpPr>
        <p:spPr>
          <a:xfrm xmlns:a="http://schemas.openxmlformats.org/drawingml/2006/main">
            <a:off x="1143000" y="70008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Core positioning</a:t>
            </a:r>
          </a:p>
        </p:txBody>
      </p:sp>
      <p:sp>
        <p:nvSpPr>
          <p:cNvPr id="33" name="">
            <a:extLst xmlns:a="http://schemas.openxmlformats.org/drawingml/2006/main">
              <a:ext uri="{FF2B5EF4-FFF2-40B4-BE49-F238E27FC236}">
                <a16:creationId xmlns:a16="http://schemas.microsoft.com/office/drawing/2014/main" id="{A671D863-FD29-4BA5-B47F-26682816C3A7}"/>
              </a:ext>
            </a:extLst>
          </p:cNvPr>
          <p:cNvSpPr>
            <a:spLocks xmlns:a="http://schemas.openxmlformats.org/drawingml/2006/main" noGrp="1"/>
          </p:cNvSpPr>
          <p:nvPr/>
        </p:nvSpPr>
        <p:spPr>
          <a:xfrm xmlns:a="http://schemas.openxmlformats.org/drawingml/2006/main">
            <a:off x="3314700" y="6934200"/>
            <a:ext cx="1033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83"/>
          </a:bodyPr>
          <a:lstStyle xmlns:a="http://schemas.openxmlformats.org/drawingml/2006/main"/>
          <a:p xmlns:a="http://schemas.openxmlformats.org/drawingml/2006/main">
            <a:pPr algn="l">
              <a:lnSpc>
                <a:spcPct val="108000"/>
              </a:lnSpc>
              <a:buNone/>
              <a:defRPr sz="1575" b="1" i="0">
                <a:solidFill>
                  <a:srgbClr val="FFFFFF"/>
                </a:solidFill>
                <a:latin typeface="Arial"/>
                <a:ea typeface="Arial"/>
                <a:cs typeface="Arial"/>
              </a:defRPr>
            </a:pPr>
            <a:r>
              <a:rPr sz="1575" b="1" i="0">
                <a:solidFill>
                  <a:srgbClr val="FFFFFF"/>
                </a:solidFill>
                <a:latin typeface="Arial"/>
                <a:ea typeface="Arial"/>
                <a:cs typeface="Arial"/>
              </a:rPr>
              <a:t>Comprehensive wound assessment and care, with Cellmax used only within selected plans after clinical assessment.</a:t>
            </a:r>
          </a:p>
        </p:txBody>
      </p:sp>
    </p:spTree>
    <p:extLst>
      <p:ext uri="{BB962C8B-B14F-4D97-AF65-F5344CB8AC3E}">
        <p14:creationId xmlns:p14="http://schemas.microsoft.com/office/powerpoint/2010/main" val="10126488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403e3024755947f9"/>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03EECB-FB4D-4FEC-A7A8-DD01F168E91B}"/>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EDF802F8-843F-43D9-A701-C082B53DD64C}"/>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30D25CD3-E751-4E70-9D48-880FA7AF055E}"/>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8FF1DA-07C0-4B69-A889-2394BAD6F870}"/>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8032442-6E2B-4497-B9CE-E8A4DA744567}"/>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908918C4-2C89-4D8B-A6C8-099DCF69151C}"/>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B688B5BD-25D6-4C64-9F97-4A99FE299818}"/>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06</a:t>
            </a:r>
          </a:p>
        </p:txBody>
      </p:sp>
      <p:sp>
        <p:nvSpPr>
          <p:cNvPr id="9" name="">
            <a:extLst xmlns:a="http://schemas.openxmlformats.org/drawingml/2006/main">
              <a:ext uri="{FF2B5EF4-FFF2-40B4-BE49-F238E27FC236}">
                <a16:creationId xmlns:a16="http://schemas.microsoft.com/office/drawing/2014/main" id="{B502C8B1-18AB-433A-A43D-E75DA33A6C07}"/>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AUGUST-DECEMBER ROADMAP</a:t>
            </a:r>
          </a:p>
        </p:txBody>
      </p:sp>
      <p:sp>
        <p:nvSpPr>
          <p:cNvPr id="10" name="">
            <a:extLst xmlns:a="http://schemas.openxmlformats.org/drawingml/2006/main">
              <a:ext uri="{FF2B5EF4-FFF2-40B4-BE49-F238E27FC236}">
                <a16:creationId xmlns:a16="http://schemas.microsoft.com/office/drawing/2014/main" id="{B4147C21-B59B-4EF9-BBD2-AB4A8D291BBD}"/>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Each month builds the next capability</a:t>
            </a:r>
          </a:p>
        </p:txBody>
      </p:sp>
      <p:sp>
        <p:nvSpPr>
          <p:cNvPr id="11" name="">
            <a:extLst xmlns:a="http://schemas.openxmlformats.org/drawingml/2006/main">
              <a:ext uri="{FF2B5EF4-FFF2-40B4-BE49-F238E27FC236}">
                <a16:creationId xmlns:a16="http://schemas.microsoft.com/office/drawing/2014/main" id="{FCBA3602-7EDC-4C18-BC58-329E32ADABA0}"/>
              </a:ext>
            </a:extLst>
          </p:cNvPr>
          <p:cNvSpPr>
            <a:spLocks xmlns:a="http://schemas.openxmlformats.org/drawingml/2006/main" noGrp="1"/>
          </p:cNvSpPr>
          <p:nvPr/>
        </p:nvSpPr>
        <p:spPr>
          <a:xfrm xmlns:a="http://schemas.openxmlformats.org/drawingml/2006/main">
            <a:off x="1143000" y="3714750"/>
            <a:ext cx="12954000" cy="3810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2784D74-3D13-47F7-B273-BCA25905F090}"/>
              </a:ext>
            </a:extLst>
          </p:cNvPr>
          <p:cNvSpPr>
            <a:spLocks xmlns:a="http://schemas.openxmlformats.org/drawingml/2006/main" noGrp="1"/>
          </p:cNvSpPr>
          <p:nvPr/>
        </p:nvSpPr>
        <p:spPr>
          <a:xfrm xmlns:a="http://schemas.openxmlformats.org/drawingml/2006/main">
            <a:off x="1733550" y="3438525"/>
            <a:ext cx="323850" cy="323850"/>
          </a:xfrm>
          <a:prstGeom xmlns:a="http://schemas.openxmlformats.org/drawingml/2006/main" prst="ellipse">
            <a:avLst/>
          </a:prstGeom>
          <a:solidFill xmlns:a="http://schemas.openxmlformats.org/drawingml/2006/main">
            <a:srgbClr val="2341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D0A2C57-B4C3-4599-84BB-509907D2F1A2}"/>
              </a:ext>
            </a:extLst>
          </p:cNvPr>
          <p:cNvSpPr>
            <a:spLocks xmlns:a="http://schemas.openxmlformats.org/drawingml/2006/main" noGrp="1"/>
          </p:cNvSpPr>
          <p:nvPr/>
        </p:nvSpPr>
        <p:spPr>
          <a:xfrm xmlns:a="http://schemas.openxmlformats.org/drawingml/2006/main">
            <a:off x="904875" y="23336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38AC3"/>
                </a:solidFill>
                <a:latin typeface="Arial"/>
                <a:ea typeface="Arial"/>
                <a:cs typeface="Arial"/>
              </a:defRPr>
            </a:pPr>
            <a:r>
              <a:rPr sz="1425" b="1" i="0">
                <a:solidFill>
                  <a:srgbClr val="538AC3"/>
                </a:solidFill>
                <a:latin typeface="Arial"/>
                <a:ea typeface="Arial"/>
                <a:cs typeface="Arial"/>
              </a:rPr>
              <a:t>AUG</a:t>
            </a:r>
          </a:p>
        </p:txBody>
      </p:sp>
      <p:sp>
        <p:nvSpPr>
          <p:cNvPr id="14" name="">
            <a:extLst xmlns:a="http://schemas.openxmlformats.org/drawingml/2006/main">
              <a:ext uri="{FF2B5EF4-FFF2-40B4-BE49-F238E27FC236}">
                <a16:creationId xmlns:a16="http://schemas.microsoft.com/office/drawing/2014/main" id="{73732F30-1A99-48F2-A7F6-97DE9BD35962}"/>
              </a:ext>
            </a:extLst>
          </p:cNvPr>
          <p:cNvSpPr>
            <a:spLocks xmlns:a="http://schemas.openxmlformats.org/drawingml/2006/main" noGrp="1"/>
          </p:cNvSpPr>
          <p:nvPr/>
        </p:nvSpPr>
        <p:spPr>
          <a:xfrm xmlns:a="http://schemas.openxmlformats.org/drawingml/2006/main">
            <a:off x="904875" y="27813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173"/>
                </a:solidFill>
                <a:latin typeface="Arial"/>
                <a:ea typeface="Arial"/>
                <a:cs typeface="Arial"/>
              </a:defRPr>
            </a:pPr>
            <a:r>
              <a:rPr sz="1950" b="1" i="0">
                <a:solidFill>
                  <a:srgbClr val="234173"/>
                </a:solidFill>
                <a:latin typeface="Arial"/>
                <a:ea typeface="Arial"/>
                <a:cs typeface="Arial"/>
              </a:rPr>
              <a:t>Foundation</a:t>
            </a:r>
          </a:p>
        </p:txBody>
      </p:sp>
      <p:sp>
        <p:nvSpPr>
          <p:cNvPr id="15" name="">
            <a:extLst xmlns:a="http://schemas.openxmlformats.org/drawingml/2006/main">
              <a:ext uri="{FF2B5EF4-FFF2-40B4-BE49-F238E27FC236}">
                <a16:creationId xmlns:a16="http://schemas.microsoft.com/office/drawing/2014/main" id="{7CCF0B30-170B-4FDB-8B83-BDD4118003C1}"/>
              </a:ext>
            </a:extLst>
          </p:cNvPr>
          <p:cNvSpPr>
            <a:spLocks xmlns:a="http://schemas.openxmlformats.org/drawingml/2006/main" noGrp="1"/>
          </p:cNvSpPr>
          <p:nvPr/>
        </p:nvSpPr>
        <p:spPr>
          <a:xfrm xmlns:a="http://schemas.openxmlformats.org/drawingml/2006/main">
            <a:off x="904875" y="4124325"/>
            <a:ext cx="2000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0" i="0">
                <a:solidFill>
                  <a:srgbClr val="64748B"/>
                </a:solidFill>
                <a:latin typeface="Arial"/>
                <a:ea typeface="Arial"/>
                <a:cs typeface="Arial"/>
              </a:defRPr>
            </a:pPr>
            <a:r>
              <a:rPr sz="1425" b="0" i="0">
                <a:solidFill>
                  <a:srgbClr val="64748B"/>
                </a:solidFill>
                <a:latin typeface="Arial"/>
                <a:ea typeface="Arial"/>
                <a:cs typeface="Arial"/>
              </a:rPr>
              <a:t>Compliance, offer, funnel and content bank</a:t>
            </a:r>
          </a:p>
        </p:txBody>
      </p:sp>
      <p:sp>
        <p:nvSpPr>
          <p:cNvPr id="16" name="">
            <a:extLst xmlns:a="http://schemas.openxmlformats.org/drawingml/2006/main">
              <a:ext uri="{FF2B5EF4-FFF2-40B4-BE49-F238E27FC236}">
                <a16:creationId xmlns:a16="http://schemas.microsoft.com/office/drawing/2014/main" id="{CDBCBC87-445A-4BD4-8365-A8FB23471692}"/>
              </a:ext>
            </a:extLst>
          </p:cNvPr>
          <p:cNvSpPr>
            <a:spLocks xmlns:a="http://schemas.openxmlformats.org/drawingml/2006/main" noGrp="1"/>
          </p:cNvSpPr>
          <p:nvPr/>
        </p:nvSpPr>
        <p:spPr>
          <a:xfrm xmlns:a="http://schemas.openxmlformats.org/drawingml/2006/main">
            <a:off x="904875" y="5572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173"/>
                </a:solidFill>
                <a:latin typeface="Arial"/>
                <a:ea typeface="Arial"/>
                <a:cs typeface="Arial"/>
              </a:defRPr>
            </a:pPr>
            <a:r>
              <a:rPr sz="975" b="1" i="0">
                <a:solidFill>
                  <a:srgbClr val="234173"/>
                </a:solidFill>
                <a:latin typeface="Arial"/>
                <a:ea typeface="Arial"/>
                <a:cs typeface="Arial"/>
              </a:rPr>
              <a:t>LAUNCH READY</a:t>
            </a:r>
          </a:p>
        </p:txBody>
      </p:sp>
      <p:sp>
        <p:nvSpPr>
          <p:cNvPr id="17" name="">
            <a:extLst xmlns:a="http://schemas.openxmlformats.org/drawingml/2006/main">
              <a:ext uri="{FF2B5EF4-FFF2-40B4-BE49-F238E27FC236}">
                <a16:creationId xmlns:a16="http://schemas.microsoft.com/office/drawing/2014/main" id="{E43CD7D6-7A4B-46B2-8C7D-473C81803CF7}"/>
              </a:ext>
            </a:extLst>
          </p:cNvPr>
          <p:cNvSpPr>
            <a:spLocks xmlns:a="http://schemas.openxmlformats.org/drawingml/2006/main" noGrp="1"/>
          </p:cNvSpPr>
          <p:nvPr/>
        </p:nvSpPr>
        <p:spPr>
          <a:xfrm xmlns:a="http://schemas.openxmlformats.org/drawingml/2006/main">
            <a:off x="3143250" y="2362200"/>
            <a:ext cx="19050" cy="34766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4142A8-2AE9-4A0A-A9E2-C79CF4F724C6}"/>
              </a:ext>
            </a:extLst>
          </p:cNvPr>
          <p:cNvSpPr>
            <a:spLocks xmlns:a="http://schemas.openxmlformats.org/drawingml/2006/main" noGrp="1"/>
          </p:cNvSpPr>
          <p:nvPr/>
        </p:nvSpPr>
        <p:spPr>
          <a:xfrm xmlns:a="http://schemas.openxmlformats.org/drawingml/2006/main">
            <a:off x="4533900" y="3438525"/>
            <a:ext cx="323850" cy="323850"/>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C632460-18D6-42B7-894F-3FB73A1D3450}"/>
              </a:ext>
            </a:extLst>
          </p:cNvPr>
          <p:cNvSpPr>
            <a:spLocks xmlns:a="http://schemas.openxmlformats.org/drawingml/2006/main" noGrp="1"/>
          </p:cNvSpPr>
          <p:nvPr/>
        </p:nvSpPr>
        <p:spPr>
          <a:xfrm xmlns:a="http://schemas.openxmlformats.org/drawingml/2006/main">
            <a:off x="3705225" y="23336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38AC3"/>
                </a:solidFill>
                <a:latin typeface="Arial"/>
                <a:ea typeface="Arial"/>
                <a:cs typeface="Arial"/>
              </a:defRPr>
            </a:pPr>
            <a:r>
              <a:rPr sz="1425" b="1" i="0">
                <a:solidFill>
                  <a:srgbClr val="538AC3"/>
                </a:solidFill>
                <a:latin typeface="Arial"/>
                <a:ea typeface="Arial"/>
                <a:cs typeface="Arial"/>
              </a:rPr>
              <a:t>SEP</a:t>
            </a:r>
          </a:p>
        </p:txBody>
      </p:sp>
      <p:sp>
        <p:nvSpPr>
          <p:cNvPr id="20" name="">
            <a:extLst xmlns:a="http://schemas.openxmlformats.org/drawingml/2006/main">
              <a:ext uri="{FF2B5EF4-FFF2-40B4-BE49-F238E27FC236}">
                <a16:creationId xmlns:a16="http://schemas.microsoft.com/office/drawing/2014/main" id="{1F0F0E12-5275-4B62-BD44-C69DD83D4E79}"/>
              </a:ext>
            </a:extLst>
          </p:cNvPr>
          <p:cNvSpPr>
            <a:spLocks xmlns:a="http://schemas.openxmlformats.org/drawingml/2006/main" noGrp="1"/>
          </p:cNvSpPr>
          <p:nvPr/>
        </p:nvSpPr>
        <p:spPr>
          <a:xfrm xmlns:a="http://schemas.openxmlformats.org/drawingml/2006/main">
            <a:off x="3705225" y="27813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173"/>
                </a:solidFill>
                <a:latin typeface="Arial"/>
                <a:ea typeface="Arial"/>
                <a:cs typeface="Arial"/>
              </a:defRPr>
            </a:pPr>
            <a:r>
              <a:rPr sz="1950" b="1" i="0">
                <a:solidFill>
                  <a:srgbClr val="234173"/>
                </a:solidFill>
                <a:latin typeface="Arial"/>
                <a:ea typeface="Arial"/>
                <a:cs typeface="Arial"/>
              </a:rPr>
              <a:t>Awareness</a:t>
            </a:r>
          </a:p>
        </p:txBody>
      </p:sp>
      <p:sp>
        <p:nvSpPr>
          <p:cNvPr id="21" name="">
            <a:extLst xmlns:a="http://schemas.openxmlformats.org/drawingml/2006/main">
              <a:ext uri="{FF2B5EF4-FFF2-40B4-BE49-F238E27FC236}">
                <a16:creationId xmlns:a16="http://schemas.microsoft.com/office/drawing/2014/main" id="{89284DDC-65A2-4D0A-8D59-D66A215991C2}"/>
              </a:ext>
            </a:extLst>
          </p:cNvPr>
          <p:cNvSpPr>
            <a:spLocks xmlns:a="http://schemas.openxmlformats.org/drawingml/2006/main" noGrp="1"/>
          </p:cNvSpPr>
          <p:nvPr/>
        </p:nvSpPr>
        <p:spPr>
          <a:xfrm xmlns:a="http://schemas.openxmlformats.org/drawingml/2006/main">
            <a:off x="3705225" y="4124325"/>
            <a:ext cx="2000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0" i="0">
                <a:solidFill>
                  <a:srgbClr val="64748B"/>
                </a:solidFill>
                <a:latin typeface="Arial"/>
                <a:ea typeface="Arial"/>
                <a:cs typeface="Arial"/>
              </a:defRPr>
            </a:pPr>
            <a:r>
              <a:rPr sz="1425" b="0" i="0">
                <a:solidFill>
                  <a:srgbClr val="64748B"/>
                </a:solidFill>
                <a:latin typeface="Arial"/>
                <a:ea typeface="Arial"/>
                <a:cs typeface="Arial"/>
              </a:rPr>
              <a:t>Local discovery, education and lead generation</a:t>
            </a:r>
          </a:p>
        </p:txBody>
      </p:sp>
      <p:sp>
        <p:nvSpPr>
          <p:cNvPr id="22" name="">
            <a:extLst xmlns:a="http://schemas.openxmlformats.org/drawingml/2006/main">
              <a:ext uri="{FF2B5EF4-FFF2-40B4-BE49-F238E27FC236}">
                <a16:creationId xmlns:a16="http://schemas.microsoft.com/office/drawing/2014/main" id="{CE85FDE9-F44C-48C0-9A35-7116232750F7}"/>
              </a:ext>
            </a:extLst>
          </p:cNvPr>
          <p:cNvSpPr>
            <a:spLocks xmlns:a="http://schemas.openxmlformats.org/drawingml/2006/main" noGrp="1"/>
          </p:cNvSpPr>
          <p:nvPr/>
        </p:nvSpPr>
        <p:spPr>
          <a:xfrm xmlns:a="http://schemas.openxmlformats.org/drawingml/2006/main">
            <a:off x="3705225" y="5572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173"/>
                </a:solidFill>
                <a:latin typeface="Arial"/>
                <a:ea typeface="Arial"/>
                <a:cs typeface="Arial"/>
              </a:defRPr>
            </a:pPr>
            <a:r>
              <a:rPr sz="975" b="1" i="0">
                <a:solidFill>
                  <a:srgbClr val="234173"/>
                </a:solidFill>
                <a:latin typeface="Arial"/>
                <a:ea typeface="Arial"/>
                <a:cs typeface="Arial"/>
              </a:rPr>
              <a:t>DEMAND CREATED</a:t>
            </a:r>
          </a:p>
        </p:txBody>
      </p:sp>
      <p:sp>
        <p:nvSpPr>
          <p:cNvPr id="23" name="">
            <a:extLst xmlns:a="http://schemas.openxmlformats.org/drawingml/2006/main">
              <a:ext uri="{FF2B5EF4-FFF2-40B4-BE49-F238E27FC236}">
                <a16:creationId xmlns:a16="http://schemas.microsoft.com/office/drawing/2014/main" id="{91D1135E-89A3-4219-8CA6-289531F80CD3}"/>
              </a:ext>
            </a:extLst>
          </p:cNvPr>
          <p:cNvSpPr>
            <a:spLocks xmlns:a="http://schemas.openxmlformats.org/drawingml/2006/main" noGrp="1"/>
          </p:cNvSpPr>
          <p:nvPr/>
        </p:nvSpPr>
        <p:spPr>
          <a:xfrm xmlns:a="http://schemas.openxmlformats.org/drawingml/2006/main">
            <a:off x="5943600" y="2362200"/>
            <a:ext cx="19050" cy="34766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5EF4D5D-91BF-4B3B-9AF3-DA9E45582288}"/>
              </a:ext>
            </a:extLst>
          </p:cNvPr>
          <p:cNvSpPr>
            <a:spLocks xmlns:a="http://schemas.openxmlformats.org/drawingml/2006/main" noGrp="1"/>
          </p:cNvSpPr>
          <p:nvPr/>
        </p:nvSpPr>
        <p:spPr>
          <a:xfrm xmlns:a="http://schemas.openxmlformats.org/drawingml/2006/main">
            <a:off x="7334250" y="3438525"/>
            <a:ext cx="323850" cy="323850"/>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943F271-17F7-4C1A-9EDC-0C2122DB7103}"/>
              </a:ext>
            </a:extLst>
          </p:cNvPr>
          <p:cNvSpPr>
            <a:spLocks xmlns:a="http://schemas.openxmlformats.org/drawingml/2006/main" noGrp="1"/>
          </p:cNvSpPr>
          <p:nvPr/>
        </p:nvSpPr>
        <p:spPr>
          <a:xfrm xmlns:a="http://schemas.openxmlformats.org/drawingml/2006/main">
            <a:off x="6505575" y="23336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38AC3"/>
                </a:solidFill>
                <a:latin typeface="Arial"/>
                <a:ea typeface="Arial"/>
                <a:cs typeface="Arial"/>
              </a:defRPr>
            </a:pPr>
            <a:r>
              <a:rPr sz="1425" b="1" i="0">
                <a:solidFill>
                  <a:srgbClr val="538AC3"/>
                </a:solidFill>
                <a:latin typeface="Arial"/>
                <a:ea typeface="Arial"/>
                <a:cs typeface="Arial"/>
              </a:rPr>
              <a:t>OCT</a:t>
            </a:r>
          </a:p>
        </p:txBody>
      </p:sp>
      <p:sp>
        <p:nvSpPr>
          <p:cNvPr id="26" name="">
            <a:extLst xmlns:a="http://schemas.openxmlformats.org/drawingml/2006/main">
              <a:ext uri="{FF2B5EF4-FFF2-40B4-BE49-F238E27FC236}">
                <a16:creationId xmlns:a16="http://schemas.microsoft.com/office/drawing/2014/main" id="{A606F280-2B4B-401D-8197-022A81A89756}"/>
              </a:ext>
            </a:extLst>
          </p:cNvPr>
          <p:cNvSpPr>
            <a:spLocks xmlns:a="http://schemas.openxmlformats.org/drawingml/2006/main" noGrp="1"/>
          </p:cNvSpPr>
          <p:nvPr/>
        </p:nvSpPr>
        <p:spPr>
          <a:xfrm xmlns:a="http://schemas.openxmlformats.org/drawingml/2006/main">
            <a:off x="6505575" y="27813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173"/>
                </a:solidFill>
                <a:latin typeface="Arial"/>
                <a:ea typeface="Arial"/>
                <a:cs typeface="Arial"/>
              </a:defRPr>
            </a:pPr>
            <a:r>
              <a:rPr sz="1950" b="1" i="0">
                <a:solidFill>
                  <a:srgbClr val="234173"/>
                </a:solidFill>
                <a:latin typeface="Arial"/>
                <a:ea typeface="Arial"/>
                <a:cs typeface="Arial"/>
              </a:rPr>
              <a:t>Authority</a:t>
            </a:r>
          </a:p>
        </p:txBody>
      </p:sp>
      <p:sp>
        <p:nvSpPr>
          <p:cNvPr id="27" name="">
            <a:extLst xmlns:a="http://schemas.openxmlformats.org/drawingml/2006/main">
              <a:ext uri="{FF2B5EF4-FFF2-40B4-BE49-F238E27FC236}">
                <a16:creationId xmlns:a16="http://schemas.microsoft.com/office/drawing/2014/main" id="{8E23DF5E-C869-481F-9395-E829B19EA049}"/>
              </a:ext>
            </a:extLst>
          </p:cNvPr>
          <p:cNvSpPr>
            <a:spLocks xmlns:a="http://schemas.openxmlformats.org/drawingml/2006/main" noGrp="1"/>
          </p:cNvSpPr>
          <p:nvPr/>
        </p:nvSpPr>
        <p:spPr>
          <a:xfrm xmlns:a="http://schemas.openxmlformats.org/drawingml/2006/main">
            <a:off x="6505575" y="4124325"/>
            <a:ext cx="2000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0" i="0">
                <a:solidFill>
                  <a:srgbClr val="64748B"/>
                </a:solidFill>
                <a:latin typeface="Arial"/>
                <a:ea typeface="Arial"/>
                <a:cs typeface="Arial"/>
              </a:defRPr>
            </a:pPr>
            <a:r>
              <a:rPr sz="1425" b="0" i="0">
                <a:solidFill>
                  <a:srgbClr val="64748B"/>
                </a:solidFill>
                <a:latin typeface="Arial"/>
                <a:ea typeface="Arial"/>
                <a:cs typeface="Arial"/>
              </a:rPr>
              <a:t>Patient journeys and referral development</a:t>
            </a:r>
          </a:p>
        </p:txBody>
      </p:sp>
      <p:sp>
        <p:nvSpPr>
          <p:cNvPr id="28" name="">
            <a:extLst xmlns:a="http://schemas.openxmlformats.org/drawingml/2006/main">
              <a:ext uri="{FF2B5EF4-FFF2-40B4-BE49-F238E27FC236}">
                <a16:creationId xmlns:a16="http://schemas.microsoft.com/office/drawing/2014/main" id="{F5530762-BDB5-43FF-AE41-5530CA44DE10}"/>
              </a:ext>
            </a:extLst>
          </p:cNvPr>
          <p:cNvSpPr>
            <a:spLocks xmlns:a="http://schemas.openxmlformats.org/drawingml/2006/main" noGrp="1"/>
          </p:cNvSpPr>
          <p:nvPr/>
        </p:nvSpPr>
        <p:spPr>
          <a:xfrm xmlns:a="http://schemas.openxmlformats.org/drawingml/2006/main">
            <a:off x="6505575" y="5572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173"/>
                </a:solidFill>
                <a:latin typeface="Arial"/>
                <a:ea typeface="Arial"/>
                <a:cs typeface="Arial"/>
              </a:defRPr>
            </a:pPr>
            <a:r>
              <a:rPr sz="975" b="1" i="0">
                <a:solidFill>
                  <a:srgbClr val="234173"/>
                </a:solidFill>
                <a:latin typeface="Arial"/>
                <a:ea typeface="Arial"/>
                <a:cs typeface="Arial"/>
              </a:rPr>
              <a:t>TRUST CONVERTED</a:t>
            </a:r>
          </a:p>
        </p:txBody>
      </p:sp>
      <p:sp>
        <p:nvSpPr>
          <p:cNvPr id="29" name="">
            <a:extLst xmlns:a="http://schemas.openxmlformats.org/drawingml/2006/main">
              <a:ext uri="{FF2B5EF4-FFF2-40B4-BE49-F238E27FC236}">
                <a16:creationId xmlns:a16="http://schemas.microsoft.com/office/drawing/2014/main" id="{3A530836-1E3F-4D33-A27B-92DF95B3E954}"/>
              </a:ext>
            </a:extLst>
          </p:cNvPr>
          <p:cNvSpPr>
            <a:spLocks xmlns:a="http://schemas.openxmlformats.org/drawingml/2006/main" noGrp="1"/>
          </p:cNvSpPr>
          <p:nvPr/>
        </p:nvSpPr>
        <p:spPr>
          <a:xfrm xmlns:a="http://schemas.openxmlformats.org/drawingml/2006/main">
            <a:off x="8743950" y="2362200"/>
            <a:ext cx="19050" cy="34766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64841D9-AA93-4404-B9E4-0ED93E4A9F45}"/>
              </a:ext>
            </a:extLst>
          </p:cNvPr>
          <p:cNvSpPr>
            <a:spLocks xmlns:a="http://schemas.openxmlformats.org/drawingml/2006/main" noGrp="1"/>
          </p:cNvSpPr>
          <p:nvPr/>
        </p:nvSpPr>
        <p:spPr>
          <a:xfrm xmlns:a="http://schemas.openxmlformats.org/drawingml/2006/main">
            <a:off x="10134600" y="3438525"/>
            <a:ext cx="323850" cy="323850"/>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0822697-D4FA-4AF0-8EE3-2CEF3B6DCCCF}"/>
              </a:ext>
            </a:extLst>
          </p:cNvPr>
          <p:cNvSpPr>
            <a:spLocks xmlns:a="http://schemas.openxmlformats.org/drawingml/2006/main" noGrp="1"/>
          </p:cNvSpPr>
          <p:nvPr/>
        </p:nvSpPr>
        <p:spPr>
          <a:xfrm xmlns:a="http://schemas.openxmlformats.org/drawingml/2006/main">
            <a:off x="9305925" y="23336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38AC3"/>
                </a:solidFill>
                <a:latin typeface="Arial"/>
                <a:ea typeface="Arial"/>
                <a:cs typeface="Arial"/>
              </a:defRPr>
            </a:pPr>
            <a:r>
              <a:rPr sz="1425" b="1" i="0">
                <a:solidFill>
                  <a:srgbClr val="538AC3"/>
                </a:solidFill>
                <a:latin typeface="Arial"/>
                <a:ea typeface="Arial"/>
                <a:cs typeface="Arial"/>
              </a:rPr>
              <a:t>NOV</a:t>
            </a:r>
          </a:p>
        </p:txBody>
      </p:sp>
      <p:sp>
        <p:nvSpPr>
          <p:cNvPr id="32" name="">
            <a:extLst xmlns:a="http://schemas.openxmlformats.org/drawingml/2006/main">
              <a:ext uri="{FF2B5EF4-FFF2-40B4-BE49-F238E27FC236}">
                <a16:creationId xmlns:a16="http://schemas.microsoft.com/office/drawing/2014/main" id="{B1D373D9-6283-4564-9ADB-97ADC426E952}"/>
              </a:ext>
            </a:extLst>
          </p:cNvPr>
          <p:cNvSpPr>
            <a:spLocks xmlns:a="http://schemas.openxmlformats.org/drawingml/2006/main" noGrp="1"/>
          </p:cNvSpPr>
          <p:nvPr/>
        </p:nvSpPr>
        <p:spPr>
          <a:xfrm xmlns:a="http://schemas.openxmlformats.org/drawingml/2006/main">
            <a:off x="9305925" y="27813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173"/>
                </a:solidFill>
                <a:latin typeface="Arial"/>
                <a:ea typeface="Arial"/>
                <a:cs typeface="Arial"/>
              </a:defRPr>
            </a:pPr>
            <a:r>
              <a:rPr sz="1950" b="1" i="0">
                <a:solidFill>
                  <a:srgbClr val="234173"/>
                </a:solidFill>
                <a:latin typeface="Arial"/>
                <a:ea typeface="Arial"/>
                <a:cs typeface="Arial"/>
              </a:rPr>
              <a:t>Diabetic wounds</a:t>
            </a:r>
          </a:p>
        </p:txBody>
      </p:sp>
      <p:sp>
        <p:nvSpPr>
          <p:cNvPr id="33" name="">
            <a:extLst xmlns:a="http://schemas.openxmlformats.org/drawingml/2006/main">
              <a:ext uri="{FF2B5EF4-FFF2-40B4-BE49-F238E27FC236}">
                <a16:creationId xmlns:a16="http://schemas.microsoft.com/office/drawing/2014/main" id="{E8A25F2C-B8CE-4059-9E14-94D000D21C4F}"/>
              </a:ext>
            </a:extLst>
          </p:cNvPr>
          <p:cNvSpPr>
            <a:spLocks xmlns:a="http://schemas.openxmlformats.org/drawingml/2006/main" noGrp="1"/>
          </p:cNvSpPr>
          <p:nvPr/>
        </p:nvSpPr>
        <p:spPr>
          <a:xfrm xmlns:a="http://schemas.openxmlformats.org/drawingml/2006/main">
            <a:off x="9305925" y="4124325"/>
            <a:ext cx="2000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0" i="0">
                <a:solidFill>
                  <a:srgbClr val="64748B"/>
                </a:solidFill>
                <a:latin typeface="Arial"/>
                <a:ea typeface="Arial"/>
                <a:cs typeface="Arial"/>
              </a:defRPr>
            </a:pPr>
            <a:r>
              <a:rPr sz="1425" b="0" i="0">
                <a:solidFill>
                  <a:srgbClr val="64748B"/>
                </a:solidFill>
                <a:latin typeface="Arial"/>
                <a:ea typeface="Arial"/>
                <a:cs typeface="Arial"/>
              </a:rPr>
              <a:t>Education, screening and partnerships</a:t>
            </a:r>
          </a:p>
        </p:txBody>
      </p:sp>
      <p:sp>
        <p:nvSpPr>
          <p:cNvPr id="34" name="">
            <a:extLst xmlns:a="http://schemas.openxmlformats.org/drawingml/2006/main">
              <a:ext uri="{FF2B5EF4-FFF2-40B4-BE49-F238E27FC236}">
                <a16:creationId xmlns:a16="http://schemas.microsoft.com/office/drawing/2014/main" id="{24624A77-9F5F-4EE1-B2D5-2B4BDF50D753}"/>
              </a:ext>
            </a:extLst>
          </p:cNvPr>
          <p:cNvSpPr>
            <a:spLocks xmlns:a="http://schemas.openxmlformats.org/drawingml/2006/main" noGrp="1"/>
          </p:cNvSpPr>
          <p:nvPr/>
        </p:nvSpPr>
        <p:spPr>
          <a:xfrm xmlns:a="http://schemas.openxmlformats.org/drawingml/2006/main">
            <a:off x="9305925" y="5572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173"/>
                </a:solidFill>
                <a:latin typeface="Arial"/>
                <a:ea typeface="Arial"/>
                <a:cs typeface="Arial"/>
              </a:defRPr>
            </a:pPr>
            <a:r>
              <a:rPr sz="975" b="1" i="0">
                <a:solidFill>
                  <a:srgbClr val="234173"/>
                </a:solidFill>
                <a:latin typeface="Arial"/>
                <a:ea typeface="Arial"/>
                <a:cs typeface="Arial"/>
              </a:rPr>
              <a:t>CAMPAIGN PEAK</a:t>
            </a:r>
          </a:p>
        </p:txBody>
      </p:sp>
      <p:sp>
        <p:nvSpPr>
          <p:cNvPr id="35" name="">
            <a:extLst xmlns:a="http://schemas.openxmlformats.org/drawingml/2006/main">
              <a:ext uri="{FF2B5EF4-FFF2-40B4-BE49-F238E27FC236}">
                <a16:creationId xmlns:a16="http://schemas.microsoft.com/office/drawing/2014/main" id="{D8FD7341-2783-4ADF-A0C6-27A1C398F97B}"/>
              </a:ext>
            </a:extLst>
          </p:cNvPr>
          <p:cNvSpPr>
            <a:spLocks xmlns:a="http://schemas.openxmlformats.org/drawingml/2006/main" noGrp="1"/>
          </p:cNvSpPr>
          <p:nvPr/>
        </p:nvSpPr>
        <p:spPr>
          <a:xfrm xmlns:a="http://schemas.openxmlformats.org/drawingml/2006/main">
            <a:off x="11544300" y="2362200"/>
            <a:ext cx="19050" cy="34766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B1D6255-5496-4FD0-AD29-FBE47F385DF2}"/>
              </a:ext>
            </a:extLst>
          </p:cNvPr>
          <p:cNvSpPr>
            <a:spLocks xmlns:a="http://schemas.openxmlformats.org/drawingml/2006/main" noGrp="1"/>
          </p:cNvSpPr>
          <p:nvPr/>
        </p:nvSpPr>
        <p:spPr>
          <a:xfrm xmlns:a="http://schemas.openxmlformats.org/drawingml/2006/main">
            <a:off x="12934950" y="3438525"/>
            <a:ext cx="323850" cy="323850"/>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9C25F37-B62D-4BC4-8E4F-6A50F567073D}"/>
              </a:ext>
            </a:extLst>
          </p:cNvPr>
          <p:cNvSpPr>
            <a:spLocks xmlns:a="http://schemas.openxmlformats.org/drawingml/2006/main" noGrp="1"/>
          </p:cNvSpPr>
          <p:nvPr/>
        </p:nvSpPr>
        <p:spPr>
          <a:xfrm xmlns:a="http://schemas.openxmlformats.org/drawingml/2006/main">
            <a:off x="12106275" y="2333625"/>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38AC3"/>
                </a:solidFill>
                <a:latin typeface="Arial"/>
                <a:ea typeface="Arial"/>
                <a:cs typeface="Arial"/>
              </a:defRPr>
            </a:pPr>
            <a:r>
              <a:rPr sz="1425" b="1" i="0">
                <a:solidFill>
                  <a:srgbClr val="538AC3"/>
                </a:solidFill>
                <a:latin typeface="Arial"/>
                <a:ea typeface="Arial"/>
                <a:cs typeface="Arial"/>
              </a:rPr>
              <a:t>DEC</a:t>
            </a:r>
          </a:p>
        </p:txBody>
      </p:sp>
      <p:sp>
        <p:nvSpPr>
          <p:cNvPr id="38" name="">
            <a:extLst xmlns:a="http://schemas.openxmlformats.org/drawingml/2006/main">
              <a:ext uri="{FF2B5EF4-FFF2-40B4-BE49-F238E27FC236}">
                <a16:creationId xmlns:a16="http://schemas.microsoft.com/office/drawing/2014/main" id="{5966B7DF-85B3-4EF1-8DFC-9809F9DFE03E}"/>
              </a:ext>
            </a:extLst>
          </p:cNvPr>
          <p:cNvSpPr>
            <a:spLocks xmlns:a="http://schemas.openxmlformats.org/drawingml/2006/main" noGrp="1"/>
          </p:cNvSpPr>
          <p:nvPr/>
        </p:nvSpPr>
        <p:spPr>
          <a:xfrm xmlns:a="http://schemas.openxmlformats.org/drawingml/2006/main">
            <a:off x="12106275" y="27813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173"/>
                </a:solidFill>
                <a:latin typeface="Arial"/>
                <a:ea typeface="Arial"/>
                <a:cs typeface="Arial"/>
              </a:defRPr>
            </a:pPr>
            <a:r>
              <a:rPr sz="1950" b="1" i="0">
                <a:solidFill>
                  <a:srgbClr val="234173"/>
                </a:solidFill>
                <a:latin typeface="Arial"/>
                <a:ea typeface="Arial"/>
                <a:cs typeface="Arial"/>
              </a:rPr>
              <a:t>Scale &amp; retain</a:t>
            </a:r>
          </a:p>
        </p:txBody>
      </p:sp>
      <p:sp>
        <p:nvSpPr>
          <p:cNvPr id="39" name="">
            <a:extLst xmlns:a="http://schemas.openxmlformats.org/drawingml/2006/main">
              <a:ext uri="{FF2B5EF4-FFF2-40B4-BE49-F238E27FC236}">
                <a16:creationId xmlns:a16="http://schemas.microsoft.com/office/drawing/2014/main" id="{03993EC2-8357-406E-97C1-4D7420CC4D55}"/>
              </a:ext>
            </a:extLst>
          </p:cNvPr>
          <p:cNvSpPr>
            <a:spLocks xmlns:a="http://schemas.openxmlformats.org/drawingml/2006/main" noGrp="1"/>
          </p:cNvSpPr>
          <p:nvPr/>
        </p:nvSpPr>
        <p:spPr>
          <a:xfrm xmlns:a="http://schemas.openxmlformats.org/drawingml/2006/main">
            <a:off x="12106275" y="4124325"/>
            <a:ext cx="2000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0" i="0">
                <a:solidFill>
                  <a:srgbClr val="64748B"/>
                </a:solidFill>
                <a:latin typeface="Arial"/>
                <a:ea typeface="Arial"/>
                <a:cs typeface="Arial"/>
              </a:defRPr>
            </a:pPr>
            <a:r>
              <a:rPr sz="1425" b="0" i="0">
                <a:solidFill>
                  <a:srgbClr val="64748B"/>
                </a:solidFill>
                <a:latin typeface="Arial"/>
                <a:ea typeface="Arial"/>
                <a:cs typeface="Arial"/>
              </a:rPr>
              <a:t>Winning channels, continuity and 2027 readiness</a:t>
            </a:r>
          </a:p>
        </p:txBody>
      </p:sp>
      <p:sp>
        <p:nvSpPr>
          <p:cNvPr id="40" name="">
            <a:extLst xmlns:a="http://schemas.openxmlformats.org/drawingml/2006/main">
              <a:ext uri="{FF2B5EF4-FFF2-40B4-BE49-F238E27FC236}">
                <a16:creationId xmlns:a16="http://schemas.microsoft.com/office/drawing/2014/main" id="{9F0F276B-F88D-4844-888A-5F788737A99B}"/>
              </a:ext>
            </a:extLst>
          </p:cNvPr>
          <p:cNvSpPr>
            <a:spLocks xmlns:a="http://schemas.openxmlformats.org/drawingml/2006/main" noGrp="1"/>
          </p:cNvSpPr>
          <p:nvPr/>
        </p:nvSpPr>
        <p:spPr>
          <a:xfrm xmlns:a="http://schemas.openxmlformats.org/drawingml/2006/main">
            <a:off x="12106275" y="55721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173"/>
                </a:solidFill>
                <a:latin typeface="Arial"/>
                <a:ea typeface="Arial"/>
                <a:cs typeface="Arial"/>
              </a:defRPr>
            </a:pPr>
            <a:r>
              <a:rPr sz="975" b="1" i="0">
                <a:solidFill>
                  <a:srgbClr val="234173"/>
                </a:solidFill>
                <a:latin typeface="Arial"/>
                <a:ea typeface="Arial"/>
                <a:cs typeface="Arial"/>
              </a:rPr>
              <a:t>GROWTH SUSTAINED</a:t>
            </a:r>
          </a:p>
        </p:txBody>
      </p:sp>
      <p:sp>
        <p:nvSpPr>
          <p:cNvPr id="41" name="">
            <a:extLst xmlns:a="http://schemas.openxmlformats.org/drawingml/2006/main">
              <a:ext uri="{FF2B5EF4-FFF2-40B4-BE49-F238E27FC236}">
                <a16:creationId xmlns:a16="http://schemas.microsoft.com/office/drawing/2014/main" id="{234AE8F6-917E-4626-942C-2C69D69FA5F9}"/>
              </a:ext>
            </a:extLst>
          </p:cNvPr>
          <p:cNvSpPr>
            <a:spLocks xmlns:a="http://schemas.openxmlformats.org/drawingml/2006/main" noGrp="1"/>
          </p:cNvSpPr>
          <p:nvPr/>
        </p:nvSpPr>
        <p:spPr>
          <a:xfrm xmlns:a="http://schemas.openxmlformats.org/drawingml/2006/main">
            <a:off x="1524000" y="6477000"/>
            <a:ext cx="1219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875" b="1" i="0">
                <a:solidFill>
                  <a:srgbClr val="1E293B"/>
                </a:solidFill>
                <a:latin typeface="Arial"/>
                <a:ea typeface="Arial"/>
                <a:cs typeface="Arial"/>
              </a:defRPr>
            </a:pPr>
            <a:r>
              <a:rPr sz="1875" b="1" i="0">
                <a:solidFill>
                  <a:srgbClr val="1E293B"/>
                </a:solidFill>
                <a:latin typeface="Arial"/>
                <a:ea typeface="Arial"/>
                <a:cs typeface="Arial"/>
              </a:rPr>
              <a:t>The sequence prevents premature scaling: build the system first, generate demand second, deepen trust and referrals third, then scale what works.</a:t>
            </a:r>
          </a:p>
        </p:txBody>
      </p:sp>
    </p:spTree>
    <p:extLst>
      <p:ext uri="{BB962C8B-B14F-4D97-AF65-F5344CB8AC3E}">
        <p14:creationId xmlns:p14="http://schemas.microsoft.com/office/powerpoint/2010/main" val="79730909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fdf25da0034c4bc4"/>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E383ED-B2C7-4042-92DE-FF84B2C57927}"/>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03482D34-4AD9-449E-A6A5-5EF2F3F6E978}"/>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A0CAB14F-DA49-4CFE-85CE-CF81498F1025}"/>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A74703-3320-459B-9252-292D117850AB}"/>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16CFFF-CD6F-4401-BA2C-ADCA42A69139}"/>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BC5CACA6-E585-4DDB-B1FB-47F2D7A7C48A}"/>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1BAB9176-D73F-40A8-A95E-12FEA959F78B}"/>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07</a:t>
            </a:r>
          </a:p>
        </p:txBody>
      </p:sp>
      <p:sp>
        <p:nvSpPr>
          <p:cNvPr id="9" name="">
            <a:extLst xmlns:a="http://schemas.openxmlformats.org/drawingml/2006/main">
              <a:ext uri="{FF2B5EF4-FFF2-40B4-BE49-F238E27FC236}">
                <a16:creationId xmlns:a16="http://schemas.microsoft.com/office/drawing/2014/main" id="{B81F2B5E-E2E2-4F50-AD7C-56D279928871}"/>
              </a:ext>
            </a:extLst>
          </p:cNvPr>
          <p:cNvSpPr>
            <a:spLocks xmlns:a="http://schemas.openxmlformats.org/drawingml/2006/main" noGrp="1"/>
          </p:cNvSpPr>
          <p:nvPr/>
        </p:nvSpPr>
        <p:spPr>
          <a:xfrm xmlns:a="http://schemas.openxmlformats.org/drawingml/2006/main">
            <a:off x="742950" y="1190625"/>
            <a:ext cx="2990850" cy="61912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67E8BA-44BF-4FB4-B50A-0676DE4A4E7A}"/>
              </a:ext>
            </a:extLst>
          </p:cNvPr>
          <p:cNvSpPr>
            <a:spLocks xmlns:a="http://schemas.openxmlformats.org/drawingml/2006/main" noGrp="1"/>
          </p:cNvSpPr>
          <p:nvPr/>
        </p:nvSpPr>
        <p:spPr>
          <a:xfrm xmlns:a="http://schemas.openxmlformats.org/drawingml/2006/main">
            <a:off x="1047750" y="15240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AUGUST</a:t>
            </a:r>
          </a:p>
        </p:txBody>
      </p:sp>
      <p:sp>
        <p:nvSpPr>
          <p:cNvPr id="11" name="">
            <a:extLst xmlns:a="http://schemas.openxmlformats.org/drawingml/2006/main">
              <a:ext uri="{FF2B5EF4-FFF2-40B4-BE49-F238E27FC236}">
                <a16:creationId xmlns:a16="http://schemas.microsoft.com/office/drawing/2014/main" id="{6E44D81B-81ED-4E60-8036-85779E5FBA20}"/>
              </a:ext>
            </a:extLst>
          </p:cNvPr>
          <p:cNvSpPr>
            <a:spLocks xmlns:a="http://schemas.openxmlformats.org/drawingml/2006/main" noGrp="1"/>
          </p:cNvSpPr>
          <p:nvPr/>
        </p:nvSpPr>
        <p:spPr>
          <a:xfrm xmlns:a="http://schemas.openxmlformats.org/drawingml/2006/main">
            <a:off x="1047750" y="1952625"/>
            <a:ext cx="238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400" b="1" i="0">
                <a:solidFill>
                  <a:srgbClr val="FFFFFF"/>
                </a:solidFill>
                <a:latin typeface="Arial"/>
                <a:ea typeface="Arial"/>
                <a:cs typeface="Arial"/>
              </a:defRPr>
            </a:pPr>
            <a:r>
              <a:rPr sz="5400" b="1" i="0">
                <a:solidFill>
                  <a:srgbClr val="FFFFFF"/>
                </a:solidFill>
                <a:latin typeface="Arial"/>
                <a:ea typeface="Arial"/>
                <a:cs typeface="Arial"/>
              </a:rPr>
              <a:t>2026</a:t>
            </a:r>
          </a:p>
        </p:txBody>
      </p:sp>
      <p:sp>
        <p:nvSpPr>
          <p:cNvPr id="12" name="">
            <a:extLst xmlns:a="http://schemas.openxmlformats.org/drawingml/2006/main">
              <a:ext uri="{FF2B5EF4-FFF2-40B4-BE49-F238E27FC236}">
                <a16:creationId xmlns:a16="http://schemas.microsoft.com/office/drawing/2014/main" id="{F74FF8C5-0159-49DD-807C-350F22DEB18C}"/>
              </a:ext>
            </a:extLst>
          </p:cNvPr>
          <p:cNvSpPr>
            <a:spLocks xmlns:a="http://schemas.openxmlformats.org/drawingml/2006/main" noGrp="1"/>
          </p:cNvSpPr>
          <p:nvPr/>
        </p:nvSpPr>
        <p:spPr>
          <a:xfrm xmlns:a="http://schemas.openxmlformats.org/drawingml/2006/main">
            <a:off x="1047750" y="3133725"/>
            <a:ext cx="2095500" cy="38100"/>
          </a:xfrm>
          <a:prstGeom xmlns:a="http://schemas.openxmlformats.org/drawingml/2006/main" prst="rect">
            <a:avLst/>
          </a:prstGeom>
          <a:solidFill xmlns:a="http://schemas.openxmlformats.org/drawingml/2006/main">
            <a:srgbClr val="538AC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3029F9A-A8B3-4BCE-A839-BD6776B55067}"/>
              </a:ext>
            </a:extLst>
          </p:cNvPr>
          <p:cNvSpPr>
            <a:spLocks xmlns:a="http://schemas.openxmlformats.org/drawingml/2006/main" noGrp="1"/>
          </p:cNvSpPr>
          <p:nvPr/>
        </p:nvSpPr>
        <p:spPr>
          <a:xfrm xmlns:a="http://schemas.openxmlformats.org/drawingml/2006/main">
            <a:off x="1047750" y="3429000"/>
            <a:ext cx="2238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Foundation and soft launch</a:t>
            </a:r>
          </a:p>
        </p:txBody>
      </p:sp>
      <p:sp>
        <p:nvSpPr>
          <p:cNvPr id="14" name="">
            <a:extLst xmlns:a="http://schemas.openxmlformats.org/drawingml/2006/main">
              <a:ext uri="{FF2B5EF4-FFF2-40B4-BE49-F238E27FC236}">
                <a16:creationId xmlns:a16="http://schemas.microsoft.com/office/drawing/2014/main" id="{1E99CE89-6675-40AD-8EDB-B83030E98FE8}"/>
              </a:ext>
            </a:extLst>
          </p:cNvPr>
          <p:cNvSpPr>
            <a:spLocks xmlns:a="http://schemas.openxmlformats.org/drawingml/2006/main" noGrp="1"/>
          </p:cNvSpPr>
          <p:nvPr/>
        </p:nvSpPr>
        <p:spPr>
          <a:xfrm xmlns:a="http://schemas.openxmlformats.org/drawingml/2006/main">
            <a:off x="1047750" y="49053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D8EB"/>
                </a:solidFill>
                <a:latin typeface="Arial"/>
                <a:ea typeface="Arial"/>
                <a:cs typeface="Arial"/>
              </a:defRPr>
            </a:pPr>
            <a:r>
              <a:rPr sz="900" b="1" i="0">
                <a:solidFill>
                  <a:srgbClr val="C9D8EB"/>
                </a:solidFill>
                <a:latin typeface="Arial"/>
                <a:ea typeface="Arial"/>
                <a:cs typeface="Arial"/>
              </a:rPr>
              <a:t>CAMPAIGN THEME</a:t>
            </a:r>
          </a:p>
        </p:txBody>
      </p:sp>
      <p:sp>
        <p:nvSpPr>
          <p:cNvPr id="15" name="">
            <a:extLst xmlns:a="http://schemas.openxmlformats.org/drawingml/2006/main">
              <a:ext uri="{FF2B5EF4-FFF2-40B4-BE49-F238E27FC236}">
                <a16:creationId xmlns:a16="http://schemas.microsoft.com/office/drawing/2014/main" id="{022BE7ED-8716-4109-B43D-762F5E1D591E}"/>
              </a:ext>
            </a:extLst>
          </p:cNvPr>
          <p:cNvSpPr>
            <a:spLocks xmlns:a="http://schemas.openxmlformats.org/drawingml/2006/main" noGrp="1"/>
          </p:cNvSpPr>
          <p:nvPr/>
        </p:nvSpPr>
        <p:spPr>
          <a:xfrm xmlns:a="http://schemas.openxmlformats.org/drawingml/2006/main">
            <a:off x="1047750" y="5219700"/>
            <a:ext cx="22383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1">
                <a:solidFill>
                  <a:srgbClr val="FFFFFF"/>
                </a:solidFill>
                <a:latin typeface="Arial"/>
                <a:ea typeface="Arial"/>
                <a:cs typeface="Arial"/>
              </a:defRPr>
            </a:pPr>
            <a:r>
              <a:rPr sz="1500" b="0" i="1">
                <a:solidFill>
                  <a:srgbClr val="FFFFFF"/>
                </a:solidFill>
                <a:latin typeface="Arial"/>
                <a:ea typeface="Arial"/>
                <a:cs typeface="Arial"/>
              </a:rPr>
              <a:t>A New Phase in Wound Care at Klinik Inocare</a:t>
            </a:r>
          </a:p>
        </p:txBody>
      </p:sp>
      <p:sp>
        <p:nvSpPr>
          <p:cNvPr id="16" name="">
            <a:extLst xmlns:a="http://schemas.openxmlformats.org/drawingml/2006/main">
              <a:ext uri="{FF2B5EF4-FFF2-40B4-BE49-F238E27FC236}">
                <a16:creationId xmlns:a16="http://schemas.microsoft.com/office/drawing/2014/main" id="{CB87D4B5-BD18-427E-87D7-76643190D15B}"/>
              </a:ext>
            </a:extLst>
          </p:cNvPr>
          <p:cNvSpPr>
            <a:spLocks xmlns:a="http://schemas.openxmlformats.org/drawingml/2006/main" noGrp="1"/>
          </p:cNvSpPr>
          <p:nvPr/>
        </p:nvSpPr>
        <p:spPr>
          <a:xfrm xmlns:a="http://schemas.openxmlformats.org/drawingml/2006/main">
            <a:off x="1047750" y="6667500"/>
            <a:ext cx="2238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C9D8EB"/>
                </a:solidFill>
                <a:latin typeface="Arial"/>
                <a:ea typeface="Arial"/>
                <a:cs typeface="Arial"/>
              </a:defRPr>
            </a:pPr>
            <a:r>
              <a:rPr sz="975" b="1" i="0">
                <a:solidFill>
                  <a:srgbClr val="C9D8EB"/>
                </a:solidFill>
                <a:latin typeface="Arial"/>
                <a:ea typeface="Arial"/>
                <a:cs typeface="Arial"/>
              </a:rPr>
              <a:t>Execution: 15-31 August</a:t>
            </a:r>
          </a:p>
        </p:txBody>
      </p:sp>
      <p:sp>
        <p:nvSpPr>
          <p:cNvPr id="17" name="">
            <a:extLst xmlns:a="http://schemas.openxmlformats.org/drawingml/2006/main">
              <a:ext uri="{FF2B5EF4-FFF2-40B4-BE49-F238E27FC236}">
                <a16:creationId xmlns:a16="http://schemas.microsoft.com/office/drawing/2014/main" id="{98127CC5-0337-40C8-8CC2-D8098EC839BE}"/>
              </a:ext>
            </a:extLst>
          </p:cNvPr>
          <p:cNvSpPr>
            <a:spLocks xmlns:a="http://schemas.openxmlformats.org/drawingml/2006/main" noGrp="1"/>
          </p:cNvSpPr>
          <p:nvPr/>
        </p:nvSpPr>
        <p:spPr>
          <a:xfrm xmlns:a="http://schemas.openxmlformats.org/drawingml/2006/main">
            <a:off x="4229100" y="1200150"/>
            <a:ext cx="971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8"/>
          </a:bodyPr>
          <a:lstStyle xmlns:a="http://schemas.openxmlformats.org/drawingml/2006/main"/>
          <a:p xmlns:a="http://schemas.openxmlformats.org/drawingml/2006/main">
            <a:pPr algn="l">
              <a:lnSpc>
                <a:spcPct val="101000"/>
              </a:lnSpc>
              <a:buNone/>
              <a:defRPr sz="2550" b="1" i="0">
                <a:solidFill>
                  <a:srgbClr val="234173"/>
                </a:solidFill>
                <a:latin typeface="Arial"/>
                <a:ea typeface="Arial"/>
                <a:cs typeface="Arial"/>
              </a:defRPr>
            </a:pPr>
            <a:r>
              <a:rPr sz="2550" b="1" i="0">
                <a:solidFill>
                  <a:srgbClr val="234173"/>
                </a:solidFill>
                <a:latin typeface="Arial"/>
                <a:ea typeface="Arial"/>
                <a:cs typeface="Arial"/>
              </a:rPr>
              <a:t>Build the operational, compliance and sales foundation before scaling.</a:t>
            </a:r>
          </a:p>
        </p:txBody>
      </p:sp>
      <p:sp>
        <p:nvSpPr>
          <p:cNvPr id="18" name="">
            <a:extLst xmlns:a="http://schemas.openxmlformats.org/drawingml/2006/main">
              <a:ext uri="{FF2B5EF4-FFF2-40B4-BE49-F238E27FC236}">
                <a16:creationId xmlns:a16="http://schemas.microsoft.com/office/drawing/2014/main" id="{2C92BD73-B59D-40F5-B0A7-7838AE2209E1}"/>
              </a:ext>
            </a:extLst>
          </p:cNvPr>
          <p:cNvSpPr>
            <a:spLocks xmlns:a="http://schemas.openxmlformats.org/drawingml/2006/main" noGrp="1"/>
          </p:cNvSpPr>
          <p:nvPr/>
        </p:nvSpPr>
        <p:spPr>
          <a:xfrm xmlns:a="http://schemas.openxmlformats.org/drawingml/2006/main">
            <a:off x="4229100" y="2076450"/>
            <a:ext cx="95250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01C4110-989E-4833-8C7A-1872FB39D22B}"/>
              </a:ext>
            </a:extLst>
          </p:cNvPr>
          <p:cNvSpPr>
            <a:spLocks xmlns:a="http://schemas.openxmlformats.org/drawingml/2006/main" noGrp="1"/>
          </p:cNvSpPr>
          <p:nvPr/>
        </p:nvSpPr>
        <p:spPr>
          <a:xfrm xmlns:a="http://schemas.openxmlformats.org/drawingml/2006/main">
            <a:off x="422910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01</a:t>
            </a:r>
          </a:p>
        </p:txBody>
      </p:sp>
      <p:sp>
        <p:nvSpPr>
          <p:cNvPr id="20" name="">
            <a:extLst xmlns:a="http://schemas.openxmlformats.org/drawingml/2006/main">
              <a:ext uri="{FF2B5EF4-FFF2-40B4-BE49-F238E27FC236}">
                <a16:creationId xmlns:a16="http://schemas.microsoft.com/office/drawing/2014/main" id="{7E464818-297B-470E-9FBA-E122C33A622A}"/>
              </a:ext>
            </a:extLst>
          </p:cNvPr>
          <p:cNvSpPr>
            <a:spLocks xmlns:a="http://schemas.openxmlformats.org/drawingml/2006/main" noGrp="1"/>
          </p:cNvSpPr>
          <p:nvPr/>
        </p:nvSpPr>
        <p:spPr>
          <a:xfrm xmlns:a="http://schemas.openxmlformats.org/drawingml/2006/main">
            <a:off x="476250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Verify the registration certificate, permitted claims, authorisation and ad-approval status.</a:t>
            </a:r>
          </a:p>
        </p:txBody>
      </p:sp>
      <p:sp>
        <p:nvSpPr>
          <p:cNvPr id="21" name="">
            <a:extLst xmlns:a="http://schemas.openxmlformats.org/drawingml/2006/main">
              <a:ext uri="{FF2B5EF4-FFF2-40B4-BE49-F238E27FC236}">
                <a16:creationId xmlns:a16="http://schemas.microsoft.com/office/drawing/2014/main" id="{674ED0DA-B972-4780-96B6-B172782D347C}"/>
              </a:ext>
            </a:extLst>
          </p:cNvPr>
          <p:cNvSpPr>
            <a:spLocks xmlns:a="http://schemas.openxmlformats.org/drawingml/2006/main" noGrp="1"/>
          </p:cNvSpPr>
          <p:nvPr/>
        </p:nvSpPr>
        <p:spPr>
          <a:xfrm xmlns:a="http://schemas.openxmlformats.org/drawingml/2006/main">
            <a:off x="422910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1B5DC12-4B55-4444-938D-498D0D3CBCE4}"/>
              </a:ext>
            </a:extLst>
          </p:cNvPr>
          <p:cNvSpPr>
            <a:spLocks xmlns:a="http://schemas.openxmlformats.org/drawingml/2006/main" noGrp="1"/>
          </p:cNvSpPr>
          <p:nvPr/>
        </p:nvSpPr>
        <p:spPr>
          <a:xfrm xmlns:a="http://schemas.openxmlformats.org/drawingml/2006/main">
            <a:off x="422910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02</a:t>
            </a:r>
          </a:p>
        </p:txBody>
      </p:sp>
      <p:sp>
        <p:nvSpPr>
          <p:cNvPr id="23" name="">
            <a:extLst xmlns:a="http://schemas.openxmlformats.org/drawingml/2006/main">
              <a:ext uri="{FF2B5EF4-FFF2-40B4-BE49-F238E27FC236}">
                <a16:creationId xmlns:a16="http://schemas.microsoft.com/office/drawing/2014/main" id="{011A5A1F-27D9-4428-9E65-03A535FF3E1A}"/>
              </a:ext>
            </a:extLst>
          </p:cNvPr>
          <p:cNvSpPr>
            <a:spLocks xmlns:a="http://schemas.openxmlformats.org/drawingml/2006/main" noGrp="1"/>
          </p:cNvSpPr>
          <p:nvPr/>
        </p:nvSpPr>
        <p:spPr>
          <a:xfrm xmlns:a="http://schemas.openxmlformats.org/drawingml/2006/main">
            <a:off x="476250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Finalise package inclusions, pricing, payment options, capacity and weekly assessment slots.</a:t>
            </a:r>
          </a:p>
        </p:txBody>
      </p:sp>
      <p:sp>
        <p:nvSpPr>
          <p:cNvPr id="24" name="">
            <a:extLst xmlns:a="http://schemas.openxmlformats.org/drawingml/2006/main">
              <a:ext uri="{FF2B5EF4-FFF2-40B4-BE49-F238E27FC236}">
                <a16:creationId xmlns:a16="http://schemas.microsoft.com/office/drawing/2014/main" id="{DEC5BFF1-37AA-4CC3-AE19-4F351C2BE350}"/>
              </a:ext>
            </a:extLst>
          </p:cNvPr>
          <p:cNvSpPr>
            <a:spLocks xmlns:a="http://schemas.openxmlformats.org/drawingml/2006/main" noGrp="1"/>
          </p:cNvSpPr>
          <p:nvPr/>
        </p:nvSpPr>
        <p:spPr>
          <a:xfrm xmlns:a="http://schemas.openxmlformats.org/drawingml/2006/main">
            <a:off x="422910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B2F77BF-1319-4FCD-897A-A994968369CB}"/>
              </a:ext>
            </a:extLst>
          </p:cNvPr>
          <p:cNvSpPr>
            <a:spLocks xmlns:a="http://schemas.openxmlformats.org/drawingml/2006/main" noGrp="1"/>
          </p:cNvSpPr>
          <p:nvPr/>
        </p:nvSpPr>
        <p:spPr>
          <a:xfrm xmlns:a="http://schemas.openxmlformats.org/drawingml/2006/main">
            <a:off x="422910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2E03CB13-65BC-4A31-8497-FC6647E5F4E4}"/>
              </a:ext>
            </a:extLst>
          </p:cNvPr>
          <p:cNvSpPr>
            <a:spLocks xmlns:a="http://schemas.openxmlformats.org/drawingml/2006/main" noGrp="1"/>
          </p:cNvSpPr>
          <p:nvPr/>
        </p:nvSpPr>
        <p:spPr>
          <a:xfrm xmlns:a="http://schemas.openxmlformats.org/drawingml/2006/main">
            <a:off x="476250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Launch the wound-care landing page and direct WhatsApp call to action.</a:t>
            </a:r>
          </a:p>
        </p:txBody>
      </p:sp>
      <p:sp>
        <p:nvSpPr>
          <p:cNvPr id="27" name="">
            <a:extLst xmlns:a="http://schemas.openxmlformats.org/drawingml/2006/main">
              <a:ext uri="{FF2B5EF4-FFF2-40B4-BE49-F238E27FC236}">
                <a16:creationId xmlns:a16="http://schemas.microsoft.com/office/drawing/2014/main" id="{F0E9C6F9-66F2-4D8F-8E0C-108B6166D63E}"/>
              </a:ext>
            </a:extLst>
          </p:cNvPr>
          <p:cNvSpPr>
            <a:spLocks xmlns:a="http://schemas.openxmlformats.org/drawingml/2006/main" noGrp="1"/>
          </p:cNvSpPr>
          <p:nvPr/>
        </p:nvSpPr>
        <p:spPr>
          <a:xfrm xmlns:a="http://schemas.openxmlformats.org/drawingml/2006/main">
            <a:off x="422910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DFC3854-2AFD-4F44-A31C-99C2A46957B6}"/>
              </a:ext>
            </a:extLst>
          </p:cNvPr>
          <p:cNvSpPr>
            <a:spLocks xmlns:a="http://schemas.openxmlformats.org/drawingml/2006/main" noGrp="1"/>
          </p:cNvSpPr>
          <p:nvPr/>
        </p:nvSpPr>
        <p:spPr>
          <a:xfrm xmlns:a="http://schemas.openxmlformats.org/drawingml/2006/main">
            <a:off x="908685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D230E9E6-5561-4117-9172-56CA66A577F9}"/>
              </a:ext>
            </a:extLst>
          </p:cNvPr>
          <p:cNvSpPr>
            <a:spLocks xmlns:a="http://schemas.openxmlformats.org/drawingml/2006/main" noGrp="1"/>
          </p:cNvSpPr>
          <p:nvPr/>
        </p:nvSpPr>
        <p:spPr>
          <a:xfrm xmlns:a="http://schemas.openxmlformats.org/drawingml/2006/main">
            <a:off x="962025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Set quick replies, screening, lead labels and mandatory source tracking.</a:t>
            </a:r>
          </a:p>
        </p:txBody>
      </p:sp>
      <p:sp>
        <p:nvSpPr>
          <p:cNvPr id="30" name="">
            <a:extLst xmlns:a="http://schemas.openxmlformats.org/drawingml/2006/main">
              <a:ext uri="{FF2B5EF4-FFF2-40B4-BE49-F238E27FC236}">
                <a16:creationId xmlns:a16="http://schemas.microsoft.com/office/drawing/2014/main" id="{CB669165-22D7-4F72-9A66-3BF57D655014}"/>
              </a:ext>
            </a:extLst>
          </p:cNvPr>
          <p:cNvSpPr>
            <a:spLocks xmlns:a="http://schemas.openxmlformats.org/drawingml/2006/main" noGrp="1"/>
          </p:cNvSpPr>
          <p:nvPr/>
        </p:nvSpPr>
        <p:spPr>
          <a:xfrm xmlns:a="http://schemas.openxmlformats.org/drawingml/2006/main">
            <a:off x="908685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17EE3EB-6C2C-4F97-BD73-22B27E6A493B}"/>
              </a:ext>
            </a:extLst>
          </p:cNvPr>
          <p:cNvSpPr>
            <a:spLocks xmlns:a="http://schemas.openxmlformats.org/drawingml/2006/main" noGrp="1"/>
          </p:cNvSpPr>
          <p:nvPr/>
        </p:nvSpPr>
        <p:spPr>
          <a:xfrm xmlns:a="http://schemas.openxmlformats.org/drawingml/2006/main">
            <a:off x="908685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05</a:t>
            </a:r>
          </a:p>
        </p:txBody>
      </p:sp>
      <p:sp>
        <p:nvSpPr>
          <p:cNvPr id="32" name="">
            <a:extLst xmlns:a="http://schemas.openxmlformats.org/drawingml/2006/main">
              <a:ext uri="{FF2B5EF4-FFF2-40B4-BE49-F238E27FC236}">
                <a16:creationId xmlns:a16="http://schemas.microsoft.com/office/drawing/2014/main" id="{24247432-3032-4327-8574-AEE1340533C6}"/>
              </a:ext>
            </a:extLst>
          </p:cNvPr>
          <p:cNvSpPr>
            <a:spLocks xmlns:a="http://schemas.openxmlformats.org/drawingml/2006/main" noGrp="1"/>
          </p:cNvSpPr>
          <p:nvPr/>
        </p:nvSpPr>
        <p:spPr>
          <a:xfrm xmlns:a="http://schemas.openxmlformats.org/drawingml/2006/main">
            <a:off x="962025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Batch-produce six short videos and four posters or carousels; reactivate earlier enquiries.</a:t>
            </a:r>
          </a:p>
        </p:txBody>
      </p:sp>
      <p:sp>
        <p:nvSpPr>
          <p:cNvPr id="33" name="">
            <a:extLst xmlns:a="http://schemas.openxmlformats.org/drawingml/2006/main">
              <a:ext uri="{FF2B5EF4-FFF2-40B4-BE49-F238E27FC236}">
                <a16:creationId xmlns:a16="http://schemas.microsoft.com/office/drawing/2014/main" id="{1D03DB3C-3322-4F63-95E3-BACC0BB52B79}"/>
              </a:ext>
            </a:extLst>
          </p:cNvPr>
          <p:cNvSpPr>
            <a:spLocks xmlns:a="http://schemas.openxmlformats.org/drawingml/2006/main" noGrp="1"/>
          </p:cNvSpPr>
          <p:nvPr/>
        </p:nvSpPr>
        <p:spPr>
          <a:xfrm xmlns:a="http://schemas.openxmlformats.org/drawingml/2006/main">
            <a:off x="908685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0DF8055-1E0D-4677-B70B-E298EED89E88}"/>
              </a:ext>
            </a:extLst>
          </p:cNvPr>
          <p:cNvSpPr>
            <a:spLocks xmlns:a="http://schemas.openxmlformats.org/drawingml/2006/main" noGrp="1"/>
          </p:cNvSpPr>
          <p:nvPr/>
        </p:nvSpPr>
        <p:spPr>
          <a:xfrm xmlns:a="http://schemas.openxmlformats.org/drawingml/2006/main">
            <a:off x="908685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06</a:t>
            </a:r>
          </a:p>
        </p:txBody>
      </p:sp>
      <p:sp>
        <p:nvSpPr>
          <p:cNvPr id="35" name="">
            <a:extLst xmlns:a="http://schemas.openxmlformats.org/drawingml/2006/main">
              <a:ext uri="{FF2B5EF4-FFF2-40B4-BE49-F238E27FC236}">
                <a16:creationId xmlns:a16="http://schemas.microsoft.com/office/drawing/2014/main" id="{4E06A4C5-34B6-4AEB-8264-5988AA1B552E}"/>
              </a:ext>
            </a:extLst>
          </p:cNvPr>
          <p:cNvSpPr>
            <a:spLocks xmlns:a="http://schemas.openxmlformats.org/drawingml/2006/main" noGrp="1"/>
          </p:cNvSpPr>
          <p:nvPr/>
        </p:nvSpPr>
        <p:spPr>
          <a:xfrm xmlns:a="http://schemas.openxmlformats.org/drawingml/2006/main">
            <a:off x="962025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Test two or three ad variations and prepare a concise professional referral kit.</a:t>
            </a:r>
          </a:p>
        </p:txBody>
      </p:sp>
      <p:sp>
        <p:nvSpPr>
          <p:cNvPr id="36" name="">
            <a:extLst xmlns:a="http://schemas.openxmlformats.org/drawingml/2006/main">
              <a:ext uri="{FF2B5EF4-FFF2-40B4-BE49-F238E27FC236}">
                <a16:creationId xmlns:a16="http://schemas.microsoft.com/office/drawing/2014/main" id="{C4AE49CE-3448-485D-B4EF-932473BBAB9D}"/>
              </a:ext>
            </a:extLst>
          </p:cNvPr>
          <p:cNvSpPr>
            <a:spLocks xmlns:a="http://schemas.openxmlformats.org/drawingml/2006/main" noGrp="1"/>
          </p:cNvSpPr>
          <p:nvPr/>
        </p:nvSpPr>
        <p:spPr>
          <a:xfrm xmlns:a="http://schemas.openxmlformats.org/drawingml/2006/main">
            <a:off x="908685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1DC628E7-0C2C-496C-9111-92F3B6FF357D}"/>
              </a:ext>
            </a:extLst>
          </p:cNvPr>
          <p:cNvSpPr>
            <a:spLocks xmlns:a="http://schemas.openxmlformats.org/drawingml/2006/main" noGrp="1"/>
          </p:cNvSpPr>
          <p:nvPr/>
        </p:nvSpPr>
        <p:spPr>
          <a:xfrm xmlns:a="http://schemas.openxmlformats.org/drawingml/2006/main">
            <a:off x="4229100" y="6467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173"/>
                </a:solidFill>
                <a:latin typeface="Arial"/>
                <a:ea typeface="Arial"/>
                <a:cs typeface="Arial"/>
              </a:defRPr>
            </a:pPr>
            <a:r>
              <a:rPr sz="1200" b="1" i="0">
                <a:solidFill>
                  <a:srgbClr val="234173"/>
                </a:solidFill>
                <a:latin typeface="Arial"/>
                <a:ea typeface="Arial"/>
                <a:cs typeface="Arial"/>
              </a:rPr>
              <a:t>Success markers</a:t>
            </a:r>
          </a:p>
        </p:txBody>
      </p:sp>
      <p:sp>
        <p:nvSpPr>
          <p:cNvPr id="38" name="">
            <a:extLst xmlns:a="http://schemas.openxmlformats.org/drawingml/2006/main">
              <a:ext uri="{FF2B5EF4-FFF2-40B4-BE49-F238E27FC236}">
                <a16:creationId xmlns:a16="http://schemas.microsoft.com/office/drawing/2014/main" id="{1C4A1C6F-DF6A-48ED-80D6-4824D0F50C0C}"/>
              </a:ext>
            </a:extLst>
          </p:cNvPr>
          <p:cNvSpPr>
            <a:spLocks xmlns:a="http://schemas.openxmlformats.org/drawingml/2006/main" noGrp="1"/>
          </p:cNvSpPr>
          <p:nvPr/>
        </p:nvSpPr>
        <p:spPr>
          <a:xfrm xmlns:a="http://schemas.openxmlformats.org/drawingml/2006/main">
            <a:off x="4229100" y="6810375"/>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64748B"/>
                </a:solidFill>
                <a:latin typeface="Arial"/>
                <a:ea typeface="Arial"/>
                <a:cs typeface="Arial"/>
              </a:defRPr>
            </a:pPr>
            <a:r>
              <a:rPr sz="1275" b="1" i="0">
                <a:solidFill>
                  <a:srgbClr val="64748B"/>
                </a:solidFill>
                <a:latin typeface="Arial"/>
                <a:ea typeface="Arial"/>
                <a:cs typeface="Arial"/>
              </a:rPr>
              <a:t>Compliance sign-off  •  Source tracking live  •  6 videos + 4 creatives  •  2-3 ad tests</a:t>
            </a:r>
          </a:p>
        </p:txBody>
      </p:sp>
    </p:spTree>
    <p:extLst>
      <p:ext uri="{BB962C8B-B14F-4D97-AF65-F5344CB8AC3E}">
        <p14:creationId xmlns:p14="http://schemas.microsoft.com/office/powerpoint/2010/main" val="4079029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a3d70e21d7c4cdb"/>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3C6891-1F27-45D4-B854-E19F28F052A7}"/>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922E4ADD-2B75-4D4E-97D4-B86B2FEE7435}"/>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36A1882D-E0DF-40C2-8369-7EC780FB9FAC}"/>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0B00411-97CF-4358-8B55-EFC4F0CC90C7}"/>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024B906-E8F7-47D3-BCD5-05A2DCB62545}"/>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7EC67E18-806B-46DA-AE5A-947F46182481}"/>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F03871BD-2E27-4430-9D13-0BEBE2278DB8}"/>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08</a:t>
            </a:r>
          </a:p>
        </p:txBody>
      </p:sp>
      <p:sp>
        <p:nvSpPr>
          <p:cNvPr id="9" name="">
            <a:extLst xmlns:a="http://schemas.openxmlformats.org/drawingml/2006/main">
              <a:ext uri="{FF2B5EF4-FFF2-40B4-BE49-F238E27FC236}">
                <a16:creationId xmlns:a16="http://schemas.microsoft.com/office/drawing/2014/main" id="{69031A4B-7EC6-4527-95BE-80988F357DE7}"/>
              </a:ext>
            </a:extLst>
          </p:cNvPr>
          <p:cNvSpPr>
            <a:spLocks xmlns:a="http://schemas.openxmlformats.org/drawingml/2006/main" noGrp="1"/>
          </p:cNvSpPr>
          <p:nvPr/>
        </p:nvSpPr>
        <p:spPr>
          <a:xfrm xmlns:a="http://schemas.openxmlformats.org/drawingml/2006/main">
            <a:off x="742950" y="1190625"/>
            <a:ext cx="2990850" cy="61912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0B3804C-9406-4F1D-B6FF-C17F995DE0A1}"/>
              </a:ext>
            </a:extLst>
          </p:cNvPr>
          <p:cNvSpPr>
            <a:spLocks xmlns:a="http://schemas.openxmlformats.org/drawingml/2006/main" noGrp="1"/>
          </p:cNvSpPr>
          <p:nvPr/>
        </p:nvSpPr>
        <p:spPr>
          <a:xfrm xmlns:a="http://schemas.openxmlformats.org/drawingml/2006/main">
            <a:off x="1047750" y="15240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SEPTEMBER</a:t>
            </a:r>
          </a:p>
        </p:txBody>
      </p:sp>
      <p:sp>
        <p:nvSpPr>
          <p:cNvPr id="11" name="">
            <a:extLst xmlns:a="http://schemas.openxmlformats.org/drawingml/2006/main">
              <a:ext uri="{FF2B5EF4-FFF2-40B4-BE49-F238E27FC236}">
                <a16:creationId xmlns:a16="http://schemas.microsoft.com/office/drawing/2014/main" id="{BA5612DD-E4CA-445A-937C-2B69C4AB9250}"/>
              </a:ext>
            </a:extLst>
          </p:cNvPr>
          <p:cNvSpPr>
            <a:spLocks xmlns:a="http://schemas.openxmlformats.org/drawingml/2006/main" noGrp="1"/>
          </p:cNvSpPr>
          <p:nvPr/>
        </p:nvSpPr>
        <p:spPr>
          <a:xfrm xmlns:a="http://schemas.openxmlformats.org/drawingml/2006/main">
            <a:off x="1047750" y="1952625"/>
            <a:ext cx="238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400" b="1" i="0">
                <a:solidFill>
                  <a:srgbClr val="FFFFFF"/>
                </a:solidFill>
                <a:latin typeface="Arial"/>
                <a:ea typeface="Arial"/>
                <a:cs typeface="Arial"/>
              </a:defRPr>
            </a:pPr>
            <a:r>
              <a:rPr sz="5400" b="1" i="0">
                <a:solidFill>
                  <a:srgbClr val="FFFFFF"/>
                </a:solidFill>
                <a:latin typeface="Arial"/>
                <a:ea typeface="Arial"/>
                <a:cs typeface="Arial"/>
              </a:rPr>
              <a:t>2026</a:t>
            </a:r>
          </a:p>
        </p:txBody>
      </p:sp>
      <p:sp>
        <p:nvSpPr>
          <p:cNvPr id="12" name="">
            <a:extLst xmlns:a="http://schemas.openxmlformats.org/drawingml/2006/main">
              <a:ext uri="{FF2B5EF4-FFF2-40B4-BE49-F238E27FC236}">
                <a16:creationId xmlns:a16="http://schemas.microsoft.com/office/drawing/2014/main" id="{5E6489C3-A9C8-48C6-B350-FED5FC2CB9CC}"/>
              </a:ext>
            </a:extLst>
          </p:cNvPr>
          <p:cNvSpPr>
            <a:spLocks xmlns:a="http://schemas.openxmlformats.org/drawingml/2006/main" noGrp="1"/>
          </p:cNvSpPr>
          <p:nvPr/>
        </p:nvSpPr>
        <p:spPr>
          <a:xfrm xmlns:a="http://schemas.openxmlformats.org/drawingml/2006/main">
            <a:off x="1047750" y="3133725"/>
            <a:ext cx="2095500" cy="38100"/>
          </a:xfrm>
          <a:prstGeom xmlns:a="http://schemas.openxmlformats.org/drawingml/2006/main" prst="rect">
            <a:avLst/>
          </a:prstGeom>
          <a:solidFill xmlns:a="http://schemas.openxmlformats.org/drawingml/2006/main">
            <a:srgbClr val="538AC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C473F75-DA2D-4B49-BE7B-6ABC1DDFFDD7}"/>
              </a:ext>
            </a:extLst>
          </p:cNvPr>
          <p:cNvSpPr>
            <a:spLocks xmlns:a="http://schemas.openxmlformats.org/drawingml/2006/main" noGrp="1"/>
          </p:cNvSpPr>
          <p:nvPr/>
        </p:nvSpPr>
        <p:spPr>
          <a:xfrm xmlns:a="http://schemas.openxmlformats.org/drawingml/2006/main">
            <a:off x="1047750" y="3429000"/>
            <a:ext cx="2238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Awareness and lead generation</a:t>
            </a:r>
          </a:p>
        </p:txBody>
      </p:sp>
      <p:sp>
        <p:nvSpPr>
          <p:cNvPr id="14" name="">
            <a:extLst xmlns:a="http://schemas.openxmlformats.org/drawingml/2006/main">
              <a:ext uri="{FF2B5EF4-FFF2-40B4-BE49-F238E27FC236}">
                <a16:creationId xmlns:a16="http://schemas.microsoft.com/office/drawing/2014/main" id="{1056EE6E-88D6-4224-8359-C75C531D2D29}"/>
              </a:ext>
            </a:extLst>
          </p:cNvPr>
          <p:cNvSpPr>
            <a:spLocks xmlns:a="http://schemas.openxmlformats.org/drawingml/2006/main" noGrp="1"/>
          </p:cNvSpPr>
          <p:nvPr/>
        </p:nvSpPr>
        <p:spPr>
          <a:xfrm xmlns:a="http://schemas.openxmlformats.org/drawingml/2006/main">
            <a:off x="1047750" y="49053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D8EB"/>
                </a:solidFill>
                <a:latin typeface="Arial"/>
                <a:ea typeface="Arial"/>
                <a:cs typeface="Arial"/>
              </a:defRPr>
            </a:pPr>
            <a:r>
              <a:rPr sz="900" b="1" i="0">
                <a:solidFill>
                  <a:srgbClr val="C9D8EB"/>
                </a:solidFill>
                <a:latin typeface="Arial"/>
                <a:ea typeface="Arial"/>
                <a:cs typeface="Arial"/>
              </a:rPr>
              <a:t>CAMPAIGN THEME</a:t>
            </a:r>
          </a:p>
        </p:txBody>
      </p:sp>
      <p:sp>
        <p:nvSpPr>
          <p:cNvPr id="15" name="">
            <a:extLst xmlns:a="http://schemas.openxmlformats.org/drawingml/2006/main">
              <a:ext uri="{FF2B5EF4-FFF2-40B4-BE49-F238E27FC236}">
                <a16:creationId xmlns:a16="http://schemas.microsoft.com/office/drawing/2014/main" id="{F64D5F81-ABF3-412B-89A9-1FFCFC564666}"/>
              </a:ext>
            </a:extLst>
          </p:cNvPr>
          <p:cNvSpPr>
            <a:spLocks xmlns:a="http://schemas.openxmlformats.org/drawingml/2006/main" noGrp="1"/>
          </p:cNvSpPr>
          <p:nvPr/>
        </p:nvSpPr>
        <p:spPr>
          <a:xfrm xmlns:a="http://schemas.openxmlformats.org/drawingml/2006/main">
            <a:off x="1047750" y="5219700"/>
            <a:ext cx="22383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1">
                <a:solidFill>
                  <a:srgbClr val="FFFFFF"/>
                </a:solidFill>
                <a:latin typeface="Arial"/>
                <a:ea typeface="Arial"/>
                <a:cs typeface="Arial"/>
              </a:defRPr>
            </a:pPr>
            <a:r>
              <a:rPr sz="1500" b="0" i="1">
                <a:solidFill>
                  <a:srgbClr val="FFFFFF"/>
                </a:solidFill>
                <a:latin typeface="Arial"/>
                <a:ea typeface="Arial"/>
                <a:cs typeface="Arial"/>
              </a:rPr>
              <a:t>A Wound for More Than 2 Weeks? Do Not Wait.</a:t>
            </a:r>
          </a:p>
        </p:txBody>
      </p:sp>
      <p:sp>
        <p:nvSpPr>
          <p:cNvPr id="16" name="">
            <a:extLst xmlns:a="http://schemas.openxmlformats.org/drawingml/2006/main">
              <a:ext uri="{FF2B5EF4-FFF2-40B4-BE49-F238E27FC236}">
                <a16:creationId xmlns:a16="http://schemas.microsoft.com/office/drawing/2014/main" id="{205D5665-BE78-4480-9F61-C6617E7AD5F2}"/>
              </a:ext>
            </a:extLst>
          </p:cNvPr>
          <p:cNvSpPr>
            <a:spLocks xmlns:a="http://schemas.openxmlformats.org/drawingml/2006/main" noGrp="1"/>
          </p:cNvSpPr>
          <p:nvPr/>
        </p:nvSpPr>
        <p:spPr>
          <a:xfrm xmlns:a="http://schemas.openxmlformats.org/drawingml/2006/main">
            <a:off x="4229100" y="1200150"/>
            <a:ext cx="971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8"/>
          </a:bodyPr>
          <a:lstStyle xmlns:a="http://schemas.openxmlformats.org/drawingml/2006/main"/>
          <a:p xmlns:a="http://schemas.openxmlformats.org/drawingml/2006/main">
            <a:pPr algn="l">
              <a:lnSpc>
                <a:spcPct val="101000"/>
              </a:lnSpc>
              <a:buNone/>
              <a:defRPr sz="2550" b="1" i="0">
                <a:solidFill>
                  <a:srgbClr val="234173"/>
                </a:solidFill>
                <a:latin typeface="Arial"/>
                <a:ea typeface="Arial"/>
                <a:cs typeface="Arial"/>
              </a:defRPr>
            </a:pPr>
            <a:r>
              <a:rPr sz="2550" b="1" i="0">
                <a:solidFill>
                  <a:srgbClr val="234173"/>
                </a:solidFill>
                <a:latin typeface="Arial"/>
                <a:ea typeface="Arial"/>
                <a:cs typeface="Arial"/>
              </a:rPr>
              <a:t>Create consistent local demand and convert enquiries into booked assessments.</a:t>
            </a:r>
          </a:p>
        </p:txBody>
      </p:sp>
      <p:sp>
        <p:nvSpPr>
          <p:cNvPr id="17" name="">
            <a:extLst xmlns:a="http://schemas.openxmlformats.org/drawingml/2006/main">
              <a:ext uri="{FF2B5EF4-FFF2-40B4-BE49-F238E27FC236}">
                <a16:creationId xmlns:a16="http://schemas.microsoft.com/office/drawing/2014/main" id="{8EB09F47-70FC-4FDF-A8F7-6CC7A3CDF01F}"/>
              </a:ext>
            </a:extLst>
          </p:cNvPr>
          <p:cNvSpPr>
            <a:spLocks xmlns:a="http://schemas.openxmlformats.org/drawingml/2006/main" noGrp="1"/>
          </p:cNvSpPr>
          <p:nvPr/>
        </p:nvSpPr>
        <p:spPr>
          <a:xfrm xmlns:a="http://schemas.openxmlformats.org/drawingml/2006/main">
            <a:off x="4229100" y="2076450"/>
            <a:ext cx="95250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9ED0233-FB48-46D7-A720-1D122379B482}"/>
              </a:ext>
            </a:extLst>
          </p:cNvPr>
          <p:cNvSpPr>
            <a:spLocks xmlns:a="http://schemas.openxmlformats.org/drawingml/2006/main" noGrp="1"/>
          </p:cNvSpPr>
          <p:nvPr/>
        </p:nvSpPr>
        <p:spPr>
          <a:xfrm xmlns:a="http://schemas.openxmlformats.org/drawingml/2006/main">
            <a:off x="422910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01</a:t>
            </a:r>
          </a:p>
        </p:txBody>
      </p:sp>
      <p:sp>
        <p:nvSpPr>
          <p:cNvPr id="19" name="">
            <a:extLst xmlns:a="http://schemas.openxmlformats.org/drawingml/2006/main">
              <a:ext uri="{FF2B5EF4-FFF2-40B4-BE49-F238E27FC236}">
                <a16:creationId xmlns:a16="http://schemas.microsoft.com/office/drawing/2014/main" id="{E5884E9E-987E-4D98-B0A8-E4C42C6A6930}"/>
              </a:ext>
            </a:extLst>
          </p:cNvPr>
          <p:cNvSpPr>
            <a:spLocks xmlns:a="http://schemas.openxmlformats.org/drawingml/2006/main" noGrp="1"/>
          </p:cNvSpPr>
          <p:nvPr/>
        </p:nvSpPr>
        <p:spPr>
          <a:xfrm xmlns:a="http://schemas.openxmlformats.org/drawingml/2006/main">
            <a:off x="476250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Publish three short videos and one educational carousel weekly, supported by near-daily Stories.</a:t>
            </a:r>
          </a:p>
        </p:txBody>
      </p:sp>
      <p:sp>
        <p:nvSpPr>
          <p:cNvPr id="20" name="">
            <a:extLst xmlns:a="http://schemas.openxmlformats.org/drawingml/2006/main">
              <a:ext uri="{FF2B5EF4-FFF2-40B4-BE49-F238E27FC236}">
                <a16:creationId xmlns:a16="http://schemas.microsoft.com/office/drawing/2014/main" id="{3B886EBF-2F68-4EE6-B25C-D17595B1E303}"/>
              </a:ext>
            </a:extLst>
          </p:cNvPr>
          <p:cNvSpPr>
            <a:spLocks xmlns:a="http://schemas.openxmlformats.org/drawingml/2006/main" noGrp="1"/>
          </p:cNvSpPr>
          <p:nvPr/>
        </p:nvSpPr>
        <p:spPr>
          <a:xfrm xmlns:a="http://schemas.openxmlformats.org/drawingml/2006/main">
            <a:off x="422910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391805A-7193-41EA-96A7-54AA36053641}"/>
              </a:ext>
            </a:extLst>
          </p:cNvPr>
          <p:cNvSpPr>
            <a:spLocks xmlns:a="http://schemas.openxmlformats.org/drawingml/2006/main" noGrp="1"/>
          </p:cNvSpPr>
          <p:nvPr/>
        </p:nvSpPr>
        <p:spPr>
          <a:xfrm xmlns:a="http://schemas.openxmlformats.org/drawingml/2006/main">
            <a:off x="422910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02</a:t>
            </a:r>
          </a:p>
        </p:txBody>
      </p:sp>
      <p:sp>
        <p:nvSpPr>
          <p:cNvPr id="22" name="">
            <a:extLst xmlns:a="http://schemas.openxmlformats.org/drawingml/2006/main">
              <a:ext uri="{FF2B5EF4-FFF2-40B4-BE49-F238E27FC236}">
                <a16:creationId xmlns:a16="http://schemas.microsoft.com/office/drawing/2014/main" id="{C5E30C3D-31F9-4ABA-9146-116BECA8681F}"/>
              </a:ext>
            </a:extLst>
          </p:cNvPr>
          <p:cNvSpPr>
            <a:spLocks xmlns:a="http://schemas.openxmlformats.org/drawingml/2006/main" noGrp="1"/>
          </p:cNvSpPr>
          <p:nvPr/>
        </p:nvSpPr>
        <p:spPr>
          <a:xfrm xmlns:a="http://schemas.openxmlformats.org/drawingml/2006/main">
            <a:off x="476250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Focus education on diabetic, pressure, post-surgical and traumatic wounds.</a:t>
            </a:r>
          </a:p>
        </p:txBody>
      </p:sp>
      <p:sp>
        <p:nvSpPr>
          <p:cNvPr id="23" name="">
            <a:extLst xmlns:a="http://schemas.openxmlformats.org/drawingml/2006/main">
              <a:ext uri="{FF2B5EF4-FFF2-40B4-BE49-F238E27FC236}">
                <a16:creationId xmlns:a16="http://schemas.microsoft.com/office/drawing/2014/main" id="{EAEA4690-D929-43F5-9639-AA6E4CC8B82E}"/>
              </a:ext>
            </a:extLst>
          </p:cNvPr>
          <p:cNvSpPr>
            <a:spLocks xmlns:a="http://schemas.openxmlformats.org/drawingml/2006/main" noGrp="1"/>
          </p:cNvSpPr>
          <p:nvPr/>
        </p:nvSpPr>
        <p:spPr>
          <a:xfrm xmlns:a="http://schemas.openxmlformats.org/drawingml/2006/main">
            <a:off x="422910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3CB0CA7-1769-401A-9DED-E4CA5E6C5598}"/>
              </a:ext>
            </a:extLst>
          </p:cNvPr>
          <p:cNvSpPr>
            <a:spLocks xmlns:a="http://schemas.openxmlformats.org/drawingml/2006/main" noGrp="1"/>
          </p:cNvSpPr>
          <p:nvPr/>
        </p:nvSpPr>
        <p:spPr>
          <a:xfrm xmlns:a="http://schemas.openxmlformats.org/drawingml/2006/main">
            <a:off x="422910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D5E1672C-9B2C-40E1-AECE-200EE7DE6BF0}"/>
              </a:ext>
            </a:extLst>
          </p:cNvPr>
          <p:cNvSpPr>
            <a:spLocks xmlns:a="http://schemas.openxmlformats.org/drawingml/2006/main" noGrp="1"/>
          </p:cNvSpPr>
          <p:nvPr/>
        </p:nvSpPr>
        <p:spPr>
          <a:xfrm xmlns:a="http://schemas.openxmlformats.org/drawingml/2006/main">
            <a:off x="476250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Run Kuala Lumpur and Selangor Meta Ads, supported by Google Search or Maps.</a:t>
            </a:r>
          </a:p>
        </p:txBody>
      </p:sp>
      <p:sp>
        <p:nvSpPr>
          <p:cNvPr id="26" name="">
            <a:extLst xmlns:a="http://schemas.openxmlformats.org/drawingml/2006/main">
              <a:ext uri="{FF2B5EF4-FFF2-40B4-BE49-F238E27FC236}">
                <a16:creationId xmlns:a16="http://schemas.microsoft.com/office/drawing/2014/main" id="{DB542D46-4A4F-4D4B-A060-73B111B05B2A}"/>
              </a:ext>
            </a:extLst>
          </p:cNvPr>
          <p:cNvSpPr>
            <a:spLocks xmlns:a="http://schemas.openxmlformats.org/drawingml/2006/main" noGrp="1"/>
          </p:cNvSpPr>
          <p:nvPr/>
        </p:nvSpPr>
        <p:spPr>
          <a:xfrm xmlns:a="http://schemas.openxmlformats.org/drawingml/2006/main">
            <a:off x="422910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1FEBCF1-D158-4E5B-94C1-2EC9025E77DA}"/>
              </a:ext>
            </a:extLst>
          </p:cNvPr>
          <p:cNvSpPr>
            <a:spLocks xmlns:a="http://schemas.openxmlformats.org/drawingml/2006/main" noGrp="1"/>
          </p:cNvSpPr>
          <p:nvPr/>
        </p:nvSpPr>
        <p:spPr>
          <a:xfrm xmlns:a="http://schemas.openxmlformats.org/drawingml/2006/main">
            <a:off x="908685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A4C91EFE-C0CD-426E-8F9B-8581BEBC35FC}"/>
              </a:ext>
            </a:extLst>
          </p:cNvPr>
          <p:cNvSpPr>
            <a:spLocks xmlns:a="http://schemas.openxmlformats.org/drawingml/2006/main" noGrp="1"/>
          </p:cNvSpPr>
          <p:nvPr/>
        </p:nvSpPr>
        <p:spPr>
          <a:xfrm xmlns:a="http://schemas.openxmlformats.org/drawingml/2006/main">
            <a:off x="962025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Conduct two screening or community outreach activities.</a:t>
            </a:r>
          </a:p>
        </p:txBody>
      </p:sp>
      <p:sp>
        <p:nvSpPr>
          <p:cNvPr id="29" name="">
            <a:extLst xmlns:a="http://schemas.openxmlformats.org/drawingml/2006/main">
              <a:ext uri="{FF2B5EF4-FFF2-40B4-BE49-F238E27FC236}">
                <a16:creationId xmlns:a16="http://schemas.microsoft.com/office/drawing/2014/main" id="{6B4150DC-1E91-4B91-A9A0-4793AD65A33C}"/>
              </a:ext>
            </a:extLst>
          </p:cNvPr>
          <p:cNvSpPr>
            <a:spLocks xmlns:a="http://schemas.openxmlformats.org/drawingml/2006/main" noGrp="1"/>
          </p:cNvSpPr>
          <p:nvPr/>
        </p:nvSpPr>
        <p:spPr>
          <a:xfrm xmlns:a="http://schemas.openxmlformats.org/drawingml/2006/main">
            <a:off x="908685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18B7F14-1178-40C4-92FD-3EFDE1BBE1C1}"/>
              </a:ext>
            </a:extLst>
          </p:cNvPr>
          <p:cNvSpPr>
            <a:spLocks xmlns:a="http://schemas.openxmlformats.org/drawingml/2006/main" noGrp="1"/>
          </p:cNvSpPr>
          <p:nvPr/>
        </p:nvSpPr>
        <p:spPr>
          <a:xfrm xmlns:a="http://schemas.openxmlformats.org/drawingml/2006/main">
            <a:off x="908685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05</a:t>
            </a:r>
          </a:p>
        </p:txBody>
      </p:sp>
      <p:sp>
        <p:nvSpPr>
          <p:cNvPr id="31" name="">
            <a:extLst xmlns:a="http://schemas.openxmlformats.org/drawingml/2006/main">
              <a:ext uri="{FF2B5EF4-FFF2-40B4-BE49-F238E27FC236}">
                <a16:creationId xmlns:a16="http://schemas.microsoft.com/office/drawing/2014/main" id="{4F3D8C0C-1D27-4A63-98CC-BC5CD0AABE14}"/>
              </a:ext>
            </a:extLst>
          </p:cNvPr>
          <p:cNvSpPr>
            <a:spLocks xmlns:a="http://schemas.openxmlformats.org/drawingml/2006/main" noGrp="1"/>
          </p:cNvSpPr>
          <p:nvPr/>
        </p:nvSpPr>
        <p:spPr>
          <a:xfrm xmlns:a="http://schemas.openxmlformats.org/drawingml/2006/main">
            <a:off x="962025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Approach at least 20 organisations and build five active referral partners.</a:t>
            </a:r>
          </a:p>
        </p:txBody>
      </p:sp>
      <p:sp>
        <p:nvSpPr>
          <p:cNvPr id="32" name="">
            <a:extLst xmlns:a="http://schemas.openxmlformats.org/drawingml/2006/main">
              <a:ext uri="{FF2B5EF4-FFF2-40B4-BE49-F238E27FC236}">
                <a16:creationId xmlns:a16="http://schemas.microsoft.com/office/drawing/2014/main" id="{99E5EAFD-C6E0-4122-BDA5-541A92395DDD}"/>
              </a:ext>
            </a:extLst>
          </p:cNvPr>
          <p:cNvSpPr>
            <a:spLocks xmlns:a="http://schemas.openxmlformats.org/drawingml/2006/main" noGrp="1"/>
          </p:cNvSpPr>
          <p:nvPr/>
        </p:nvSpPr>
        <p:spPr>
          <a:xfrm xmlns:a="http://schemas.openxmlformats.org/drawingml/2006/main">
            <a:off x="908685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C23ECC8-01D6-44E6-89DE-6C072995A422}"/>
              </a:ext>
            </a:extLst>
          </p:cNvPr>
          <p:cNvSpPr>
            <a:spLocks xmlns:a="http://schemas.openxmlformats.org/drawingml/2006/main" noGrp="1"/>
          </p:cNvSpPr>
          <p:nvPr/>
        </p:nvSpPr>
        <p:spPr>
          <a:xfrm xmlns:a="http://schemas.openxmlformats.org/drawingml/2006/main">
            <a:off x="908685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06</a:t>
            </a:r>
          </a:p>
        </p:txBody>
      </p:sp>
      <p:sp>
        <p:nvSpPr>
          <p:cNvPr id="34" name="">
            <a:extLst xmlns:a="http://schemas.openxmlformats.org/drawingml/2006/main">
              <a:ext uri="{FF2B5EF4-FFF2-40B4-BE49-F238E27FC236}">
                <a16:creationId xmlns:a16="http://schemas.microsoft.com/office/drawing/2014/main" id="{E772E73A-73A1-43CF-B28D-70BE2986061D}"/>
              </a:ext>
            </a:extLst>
          </p:cNvPr>
          <p:cNvSpPr>
            <a:spLocks xmlns:a="http://schemas.openxmlformats.org/drawingml/2006/main" noGrp="1"/>
          </p:cNvSpPr>
          <p:nvPr/>
        </p:nvSpPr>
        <p:spPr>
          <a:xfrm xmlns:a="http://schemas.openxmlformats.org/drawingml/2006/main">
            <a:off x="962025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Use WhatsApp follow-up on Days 0, 1, 3 and 7 for prospects who have not booked.</a:t>
            </a:r>
          </a:p>
        </p:txBody>
      </p:sp>
      <p:sp>
        <p:nvSpPr>
          <p:cNvPr id="35" name="">
            <a:extLst xmlns:a="http://schemas.openxmlformats.org/drawingml/2006/main">
              <a:ext uri="{FF2B5EF4-FFF2-40B4-BE49-F238E27FC236}">
                <a16:creationId xmlns:a16="http://schemas.microsoft.com/office/drawing/2014/main" id="{532292A1-7F34-49C0-9E40-6DFF3BBC4621}"/>
              </a:ext>
            </a:extLst>
          </p:cNvPr>
          <p:cNvSpPr>
            <a:spLocks xmlns:a="http://schemas.openxmlformats.org/drawingml/2006/main" noGrp="1"/>
          </p:cNvSpPr>
          <p:nvPr/>
        </p:nvSpPr>
        <p:spPr>
          <a:xfrm xmlns:a="http://schemas.openxmlformats.org/drawingml/2006/main">
            <a:off x="908685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778D476-B76D-41A6-9BCB-F629699D56BB}"/>
              </a:ext>
            </a:extLst>
          </p:cNvPr>
          <p:cNvSpPr>
            <a:spLocks xmlns:a="http://schemas.openxmlformats.org/drawingml/2006/main" noGrp="1"/>
          </p:cNvSpPr>
          <p:nvPr/>
        </p:nvSpPr>
        <p:spPr>
          <a:xfrm xmlns:a="http://schemas.openxmlformats.org/drawingml/2006/main">
            <a:off x="4229100" y="6467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173"/>
                </a:solidFill>
                <a:latin typeface="Arial"/>
                <a:ea typeface="Arial"/>
                <a:cs typeface="Arial"/>
              </a:defRPr>
            </a:pPr>
            <a:r>
              <a:rPr sz="1200" b="1" i="0">
                <a:solidFill>
                  <a:srgbClr val="234173"/>
                </a:solidFill>
                <a:latin typeface="Arial"/>
                <a:ea typeface="Arial"/>
                <a:cs typeface="Arial"/>
              </a:rPr>
              <a:t>Success markers</a:t>
            </a:r>
          </a:p>
        </p:txBody>
      </p:sp>
      <p:sp>
        <p:nvSpPr>
          <p:cNvPr id="37" name="">
            <a:extLst xmlns:a="http://schemas.openxmlformats.org/drawingml/2006/main">
              <a:ext uri="{FF2B5EF4-FFF2-40B4-BE49-F238E27FC236}">
                <a16:creationId xmlns:a16="http://schemas.microsoft.com/office/drawing/2014/main" id="{9B6F39AB-9C01-4561-B501-05CC557EC0AA}"/>
              </a:ext>
            </a:extLst>
          </p:cNvPr>
          <p:cNvSpPr>
            <a:spLocks xmlns:a="http://schemas.openxmlformats.org/drawingml/2006/main" noGrp="1"/>
          </p:cNvSpPr>
          <p:nvPr/>
        </p:nvSpPr>
        <p:spPr>
          <a:xfrm xmlns:a="http://schemas.openxmlformats.org/drawingml/2006/main">
            <a:off x="4229100" y="6810375"/>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64748B"/>
                </a:solidFill>
                <a:latin typeface="Arial"/>
                <a:ea typeface="Arial"/>
                <a:cs typeface="Arial"/>
              </a:defRPr>
            </a:pPr>
            <a:r>
              <a:rPr sz="1275" b="1" i="0">
                <a:solidFill>
                  <a:srgbClr val="64748B"/>
                </a:solidFill>
                <a:latin typeface="Arial"/>
                <a:ea typeface="Arial"/>
                <a:cs typeface="Arial"/>
              </a:rPr>
              <a:t>60 qualified leads  •  24 assessments booked  •  5 active referral partners  •  2 outreach activities</a:t>
            </a:r>
          </a:p>
        </p:txBody>
      </p:sp>
    </p:spTree>
    <p:extLst>
      <p:ext uri="{BB962C8B-B14F-4D97-AF65-F5344CB8AC3E}">
        <p14:creationId xmlns:p14="http://schemas.microsoft.com/office/powerpoint/2010/main" val="18579549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f42345cacd14b47"/>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DEDA143-ADF2-4EEC-B8B1-38651CBB5B3A}"/>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B91C82C5-EA94-45E5-A46D-42C9437F14B0}"/>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A7443A93-B993-497D-9C53-5DBC1ACCF62B}"/>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35A23E-6B01-4DB6-9F4C-E96BD7151571}"/>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C6A8F3A-160F-4850-AD61-71C8D4E493CA}"/>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56EB8A6D-4396-4EC8-9AEC-3EE05DBABD7D}"/>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4BC34D57-7BD5-4999-A6AF-19D44169CB5E}"/>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09</a:t>
            </a:r>
          </a:p>
        </p:txBody>
      </p:sp>
      <p:sp>
        <p:nvSpPr>
          <p:cNvPr id="9" name="">
            <a:extLst xmlns:a="http://schemas.openxmlformats.org/drawingml/2006/main">
              <a:ext uri="{FF2B5EF4-FFF2-40B4-BE49-F238E27FC236}">
                <a16:creationId xmlns:a16="http://schemas.microsoft.com/office/drawing/2014/main" id="{16824B3D-CCF6-463D-8BC6-D6AD58733B85}"/>
              </a:ext>
            </a:extLst>
          </p:cNvPr>
          <p:cNvSpPr>
            <a:spLocks xmlns:a="http://schemas.openxmlformats.org/drawingml/2006/main" noGrp="1"/>
          </p:cNvSpPr>
          <p:nvPr/>
        </p:nvSpPr>
        <p:spPr>
          <a:xfrm xmlns:a="http://schemas.openxmlformats.org/drawingml/2006/main">
            <a:off x="742950" y="1190625"/>
            <a:ext cx="2990850" cy="61912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952B5FE-AE56-437F-890E-A6E345351255}"/>
              </a:ext>
            </a:extLst>
          </p:cNvPr>
          <p:cNvSpPr>
            <a:spLocks xmlns:a="http://schemas.openxmlformats.org/drawingml/2006/main" noGrp="1"/>
          </p:cNvSpPr>
          <p:nvPr/>
        </p:nvSpPr>
        <p:spPr>
          <a:xfrm xmlns:a="http://schemas.openxmlformats.org/drawingml/2006/main">
            <a:off x="1047750" y="15240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OCTOBER</a:t>
            </a:r>
          </a:p>
        </p:txBody>
      </p:sp>
      <p:sp>
        <p:nvSpPr>
          <p:cNvPr id="11" name="">
            <a:extLst xmlns:a="http://schemas.openxmlformats.org/drawingml/2006/main">
              <a:ext uri="{FF2B5EF4-FFF2-40B4-BE49-F238E27FC236}">
                <a16:creationId xmlns:a16="http://schemas.microsoft.com/office/drawing/2014/main" id="{E7E2CF29-A609-47B6-BCBD-93A467BB4198}"/>
              </a:ext>
            </a:extLst>
          </p:cNvPr>
          <p:cNvSpPr>
            <a:spLocks xmlns:a="http://schemas.openxmlformats.org/drawingml/2006/main" noGrp="1"/>
          </p:cNvSpPr>
          <p:nvPr/>
        </p:nvSpPr>
        <p:spPr>
          <a:xfrm xmlns:a="http://schemas.openxmlformats.org/drawingml/2006/main">
            <a:off x="1047750" y="1952625"/>
            <a:ext cx="238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400" b="1" i="0">
                <a:solidFill>
                  <a:srgbClr val="FFFFFF"/>
                </a:solidFill>
                <a:latin typeface="Arial"/>
                <a:ea typeface="Arial"/>
                <a:cs typeface="Arial"/>
              </a:defRPr>
            </a:pPr>
            <a:r>
              <a:rPr sz="5400" b="1" i="0">
                <a:solidFill>
                  <a:srgbClr val="FFFFFF"/>
                </a:solidFill>
                <a:latin typeface="Arial"/>
                <a:ea typeface="Arial"/>
                <a:cs typeface="Arial"/>
              </a:rPr>
              <a:t>2026</a:t>
            </a:r>
          </a:p>
        </p:txBody>
      </p:sp>
      <p:sp>
        <p:nvSpPr>
          <p:cNvPr id="12" name="">
            <a:extLst xmlns:a="http://schemas.openxmlformats.org/drawingml/2006/main">
              <a:ext uri="{FF2B5EF4-FFF2-40B4-BE49-F238E27FC236}">
                <a16:creationId xmlns:a16="http://schemas.microsoft.com/office/drawing/2014/main" id="{05593132-7A42-4771-BE71-811BA725FE3A}"/>
              </a:ext>
            </a:extLst>
          </p:cNvPr>
          <p:cNvSpPr>
            <a:spLocks xmlns:a="http://schemas.openxmlformats.org/drawingml/2006/main" noGrp="1"/>
          </p:cNvSpPr>
          <p:nvPr/>
        </p:nvSpPr>
        <p:spPr>
          <a:xfrm xmlns:a="http://schemas.openxmlformats.org/drawingml/2006/main">
            <a:off x="1047750" y="3133725"/>
            <a:ext cx="2095500" cy="38100"/>
          </a:xfrm>
          <a:prstGeom xmlns:a="http://schemas.openxmlformats.org/drawingml/2006/main" prst="rect">
            <a:avLst/>
          </a:prstGeom>
          <a:solidFill xmlns:a="http://schemas.openxmlformats.org/drawingml/2006/main">
            <a:srgbClr val="538AC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75F21B5-58E8-454F-AC18-90A9A2B2E254}"/>
              </a:ext>
            </a:extLst>
          </p:cNvPr>
          <p:cNvSpPr>
            <a:spLocks xmlns:a="http://schemas.openxmlformats.org/drawingml/2006/main" noGrp="1"/>
          </p:cNvSpPr>
          <p:nvPr/>
        </p:nvSpPr>
        <p:spPr>
          <a:xfrm xmlns:a="http://schemas.openxmlformats.org/drawingml/2006/main">
            <a:off x="1047750" y="3429000"/>
            <a:ext cx="2238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Clinical authority and referral network</a:t>
            </a:r>
          </a:p>
        </p:txBody>
      </p:sp>
      <p:sp>
        <p:nvSpPr>
          <p:cNvPr id="14" name="">
            <a:extLst xmlns:a="http://schemas.openxmlformats.org/drawingml/2006/main">
              <a:ext uri="{FF2B5EF4-FFF2-40B4-BE49-F238E27FC236}">
                <a16:creationId xmlns:a16="http://schemas.microsoft.com/office/drawing/2014/main" id="{48857E0F-DDFA-49A5-9DFA-58C852A86C91}"/>
              </a:ext>
            </a:extLst>
          </p:cNvPr>
          <p:cNvSpPr>
            <a:spLocks xmlns:a="http://schemas.openxmlformats.org/drawingml/2006/main" noGrp="1"/>
          </p:cNvSpPr>
          <p:nvPr/>
        </p:nvSpPr>
        <p:spPr>
          <a:xfrm xmlns:a="http://schemas.openxmlformats.org/drawingml/2006/main">
            <a:off x="1047750" y="49053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D8EB"/>
                </a:solidFill>
                <a:latin typeface="Arial"/>
                <a:ea typeface="Arial"/>
                <a:cs typeface="Arial"/>
              </a:defRPr>
            </a:pPr>
            <a:r>
              <a:rPr sz="900" b="1" i="0">
                <a:solidFill>
                  <a:srgbClr val="C9D8EB"/>
                </a:solidFill>
                <a:latin typeface="Arial"/>
                <a:ea typeface="Arial"/>
                <a:cs typeface="Arial"/>
              </a:rPr>
              <a:t>CAMPAIGN THEME</a:t>
            </a:r>
          </a:p>
        </p:txBody>
      </p:sp>
      <p:sp>
        <p:nvSpPr>
          <p:cNvPr id="15" name="">
            <a:extLst xmlns:a="http://schemas.openxmlformats.org/drawingml/2006/main">
              <a:ext uri="{FF2B5EF4-FFF2-40B4-BE49-F238E27FC236}">
                <a16:creationId xmlns:a16="http://schemas.microsoft.com/office/drawing/2014/main" id="{62868FC6-F4D0-46E7-8D0B-8D854A7CC447}"/>
              </a:ext>
            </a:extLst>
          </p:cNvPr>
          <p:cNvSpPr>
            <a:spLocks xmlns:a="http://schemas.openxmlformats.org/drawingml/2006/main" noGrp="1"/>
          </p:cNvSpPr>
          <p:nvPr/>
        </p:nvSpPr>
        <p:spPr>
          <a:xfrm xmlns:a="http://schemas.openxmlformats.org/drawingml/2006/main">
            <a:off x="1047750" y="5219700"/>
            <a:ext cx="22383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1">
                <a:solidFill>
                  <a:srgbClr val="FFFFFF"/>
                </a:solidFill>
                <a:latin typeface="Arial"/>
                <a:ea typeface="Arial"/>
                <a:cs typeface="Arial"/>
              </a:defRPr>
            </a:pPr>
            <a:r>
              <a:rPr sz="1500" b="0" i="1">
                <a:solidFill>
                  <a:srgbClr val="FFFFFF"/>
                </a:solidFill>
                <a:latin typeface="Arial"/>
                <a:ea typeface="Arial"/>
                <a:cs typeface="Arial"/>
              </a:rPr>
              <a:t>The Wound-Care Journey</a:t>
            </a:r>
          </a:p>
        </p:txBody>
      </p:sp>
      <p:sp>
        <p:nvSpPr>
          <p:cNvPr id="16" name="">
            <a:extLst xmlns:a="http://schemas.openxmlformats.org/drawingml/2006/main">
              <a:ext uri="{FF2B5EF4-FFF2-40B4-BE49-F238E27FC236}">
                <a16:creationId xmlns:a16="http://schemas.microsoft.com/office/drawing/2014/main" id="{E2366761-6453-4599-8343-2C892F42F8EF}"/>
              </a:ext>
            </a:extLst>
          </p:cNvPr>
          <p:cNvSpPr>
            <a:spLocks xmlns:a="http://schemas.openxmlformats.org/drawingml/2006/main" noGrp="1"/>
          </p:cNvSpPr>
          <p:nvPr/>
        </p:nvSpPr>
        <p:spPr>
          <a:xfrm xmlns:a="http://schemas.openxmlformats.org/drawingml/2006/main">
            <a:off x="4229100" y="1200150"/>
            <a:ext cx="971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8"/>
          </a:bodyPr>
          <a:lstStyle xmlns:a="http://schemas.openxmlformats.org/drawingml/2006/main"/>
          <a:p xmlns:a="http://schemas.openxmlformats.org/drawingml/2006/main">
            <a:pPr algn="l">
              <a:lnSpc>
                <a:spcPct val="101000"/>
              </a:lnSpc>
              <a:buNone/>
              <a:defRPr sz="2550" b="1" i="0">
                <a:solidFill>
                  <a:srgbClr val="234173"/>
                </a:solidFill>
                <a:latin typeface="Arial"/>
                <a:ea typeface="Arial"/>
                <a:cs typeface="Arial"/>
              </a:defRPr>
            </a:pPr>
            <a:r>
              <a:rPr sz="2550" b="1" i="0">
                <a:solidFill>
                  <a:srgbClr val="234173"/>
                </a:solidFill>
                <a:latin typeface="Arial"/>
                <a:ea typeface="Arial"/>
                <a:cs typeface="Arial"/>
              </a:rPr>
              <a:t>Increase trust, attendance and conversion through transparent care processes.</a:t>
            </a:r>
          </a:p>
        </p:txBody>
      </p:sp>
      <p:sp>
        <p:nvSpPr>
          <p:cNvPr id="17" name="">
            <a:extLst xmlns:a="http://schemas.openxmlformats.org/drawingml/2006/main">
              <a:ext uri="{FF2B5EF4-FFF2-40B4-BE49-F238E27FC236}">
                <a16:creationId xmlns:a16="http://schemas.microsoft.com/office/drawing/2014/main" id="{DBFA0AC3-5D35-4082-83AA-CA1C130F2EC9}"/>
              </a:ext>
            </a:extLst>
          </p:cNvPr>
          <p:cNvSpPr>
            <a:spLocks xmlns:a="http://schemas.openxmlformats.org/drawingml/2006/main" noGrp="1"/>
          </p:cNvSpPr>
          <p:nvPr/>
        </p:nvSpPr>
        <p:spPr>
          <a:xfrm xmlns:a="http://schemas.openxmlformats.org/drawingml/2006/main">
            <a:off x="4229100" y="2076450"/>
            <a:ext cx="95250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FB722BC-581E-4F53-A479-E205BA8DEF69}"/>
              </a:ext>
            </a:extLst>
          </p:cNvPr>
          <p:cNvSpPr>
            <a:spLocks xmlns:a="http://schemas.openxmlformats.org/drawingml/2006/main" noGrp="1"/>
          </p:cNvSpPr>
          <p:nvPr/>
        </p:nvSpPr>
        <p:spPr>
          <a:xfrm xmlns:a="http://schemas.openxmlformats.org/drawingml/2006/main">
            <a:off x="422910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01</a:t>
            </a:r>
          </a:p>
        </p:txBody>
      </p:sp>
      <p:sp>
        <p:nvSpPr>
          <p:cNvPr id="19" name="">
            <a:extLst xmlns:a="http://schemas.openxmlformats.org/drawingml/2006/main">
              <a:ext uri="{FF2B5EF4-FFF2-40B4-BE49-F238E27FC236}">
                <a16:creationId xmlns:a16="http://schemas.microsoft.com/office/drawing/2014/main" id="{CD16D471-84D0-4E5B-A059-00AB9CD0DB7B}"/>
              </a:ext>
            </a:extLst>
          </p:cNvPr>
          <p:cNvSpPr>
            <a:spLocks xmlns:a="http://schemas.openxmlformats.org/drawingml/2006/main" noGrp="1"/>
          </p:cNvSpPr>
          <p:nvPr/>
        </p:nvSpPr>
        <p:spPr>
          <a:xfrm xmlns:a="http://schemas.openxmlformats.org/drawingml/2006/main">
            <a:off x="476250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Publish consented, anonymised patient-care journeys without guaranteed outcome language.</a:t>
            </a:r>
          </a:p>
        </p:txBody>
      </p:sp>
      <p:sp>
        <p:nvSpPr>
          <p:cNvPr id="20" name="">
            <a:extLst xmlns:a="http://schemas.openxmlformats.org/drawingml/2006/main">
              <a:ext uri="{FF2B5EF4-FFF2-40B4-BE49-F238E27FC236}">
                <a16:creationId xmlns:a16="http://schemas.microsoft.com/office/drawing/2014/main" id="{BF585091-D68B-4FA7-BBCE-74826120874A}"/>
              </a:ext>
            </a:extLst>
          </p:cNvPr>
          <p:cNvSpPr>
            <a:spLocks xmlns:a="http://schemas.openxmlformats.org/drawingml/2006/main" noGrp="1"/>
          </p:cNvSpPr>
          <p:nvPr/>
        </p:nvSpPr>
        <p:spPr>
          <a:xfrm xmlns:a="http://schemas.openxmlformats.org/drawingml/2006/main">
            <a:off x="422910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2DA1CFA-B47D-4D5A-9852-2715B04FDC05}"/>
              </a:ext>
            </a:extLst>
          </p:cNvPr>
          <p:cNvSpPr>
            <a:spLocks xmlns:a="http://schemas.openxmlformats.org/drawingml/2006/main" noGrp="1"/>
          </p:cNvSpPr>
          <p:nvPr/>
        </p:nvSpPr>
        <p:spPr>
          <a:xfrm xmlns:a="http://schemas.openxmlformats.org/drawingml/2006/main">
            <a:off x="422910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02</a:t>
            </a:r>
          </a:p>
        </p:txBody>
      </p:sp>
      <p:sp>
        <p:nvSpPr>
          <p:cNvPr id="22" name="">
            <a:extLst xmlns:a="http://schemas.openxmlformats.org/drawingml/2006/main">
              <a:ext uri="{FF2B5EF4-FFF2-40B4-BE49-F238E27FC236}">
                <a16:creationId xmlns:a16="http://schemas.microsoft.com/office/drawing/2014/main" id="{B013812C-82A6-4560-9B0E-F772770A6EEB}"/>
              </a:ext>
            </a:extLst>
          </p:cNvPr>
          <p:cNvSpPr>
            <a:spLocks xmlns:a="http://schemas.openxmlformats.org/drawingml/2006/main" noGrp="1"/>
          </p:cNvSpPr>
          <p:nvPr/>
        </p:nvSpPr>
        <p:spPr>
          <a:xfrm xmlns:a="http://schemas.openxmlformats.org/drawingml/2006/main">
            <a:off x="476250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Produce doctor-led videos on assessment, delayed healing and the need for follow-up.</a:t>
            </a:r>
          </a:p>
        </p:txBody>
      </p:sp>
      <p:sp>
        <p:nvSpPr>
          <p:cNvPr id="23" name="">
            <a:extLst xmlns:a="http://schemas.openxmlformats.org/drawingml/2006/main">
              <a:ext uri="{FF2B5EF4-FFF2-40B4-BE49-F238E27FC236}">
                <a16:creationId xmlns:a16="http://schemas.microsoft.com/office/drawing/2014/main" id="{4B3E3196-B007-4C9C-96AD-FE36FC7E7E36}"/>
              </a:ext>
            </a:extLst>
          </p:cNvPr>
          <p:cNvSpPr>
            <a:spLocks xmlns:a="http://schemas.openxmlformats.org/drawingml/2006/main" noGrp="1"/>
          </p:cNvSpPr>
          <p:nvPr/>
        </p:nvSpPr>
        <p:spPr>
          <a:xfrm xmlns:a="http://schemas.openxmlformats.org/drawingml/2006/main">
            <a:off x="422910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D89DF56-3DC8-49E5-9629-E69445324647}"/>
              </a:ext>
            </a:extLst>
          </p:cNvPr>
          <p:cNvSpPr>
            <a:spLocks xmlns:a="http://schemas.openxmlformats.org/drawingml/2006/main" noGrp="1"/>
          </p:cNvSpPr>
          <p:nvPr/>
        </p:nvSpPr>
        <p:spPr>
          <a:xfrm xmlns:a="http://schemas.openxmlformats.org/drawingml/2006/main">
            <a:off x="422910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CDFE4910-2518-4C51-B1AE-19B54A09CDD0}"/>
              </a:ext>
            </a:extLst>
          </p:cNvPr>
          <p:cNvSpPr>
            <a:spLocks xmlns:a="http://schemas.openxmlformats.org/drawingml/2006/main" noGrp="1"/>
          </p:cNvSpPr>
          <p:nvPr/>
        </p:nvSpPr>
        <p:spPr>
          <a:xfrm xmlns:a="http://schemas.openxmlformats.org/drawingml/2006/main">
            <a:off x="476250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Retarget video viewers, landing-page visitors and WhatsApp starters.</a:t>
            </a:r>
          </a:p>
        </p:txBody>
      </p:sp>
      <p:sp>
        <p:nvSpPr>
          <p:cNvPr id="26" name="">
            <a:extLst xmlns:a="http://schemas.openxmlformats.org/drawingml/2006/main">
              <a:ext uri="{FF2B5EF4-FFF2-40B4-BE49-F238E27FC236}">
                <a16:creationId xmlns:a16="http://schemas.microsoft.com/office/drawing/2014/main" id="{1DE70498-528D-4C67-96B7-5E69BF7D7B51}"/>
              </a:ext>
            </a:extLst>
          </p:cNvPr>
          <p:cNvSpPr>
            <a:spLocks xmlns:a="http://schemas.openxmlformats.org/drawingml/2006/main" noGrp="1"/>
          </p:cNvSpPr>
          <p:nvPr/>
        </p:nvSpPr>
        <p:spPr>
          <a:xfrm xmlns:a="http://schemas.openxmlformats.org/drawingml/2006/main">
            <a:off x="422910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50DE7A5-176F-49B8-9863-4E0C521C5074}"/>
              </a:ext>
            </a:extLst>
          </p:cNvPr>
          <p:cNvSpPr>
            <a:spLocks xmlns:a="http://schemas.openxmlformats.org/drawingml/2006/main" noGrp="1"/>
          </p:cNvSpPr>
          <p:nvPr/>
        </p:nvSpPr>
        <p:spPr>
          <a:xfrm xmlns:a="http://schemas.openxmlformats.org/drawingml/2006/main">
            <a:off x="908685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8F869898-6EDC-4137-AE02-C96BCBCAAE86}"/>
              </a:ext>
            </a:extLst>
          </p:cNvPr>
          <p:cNvSpPr>
            <a:spLocks xmlns:a="http://schemas.openxmlformats.org/drawingml/2006/main" noGrp="1"/>
          </p:cNvSpPr>
          <p:nvPr/>
        </p:nvSpPr>
        <p:spPr>
          <a:xfrm xmlns:a="http://schemas.openxmlformats.org/drawingml/2006/main">
            <a:off x="962025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Deliver concise clinical briefings to clinics, nurses, dialysis centres and care homes.</a:t>
            </a:r>
          </a:p>
        </p:txBody>
      </p:sp>
      <p:sp>
        <p:nvSpPr>
          <p:cNvPr id="29" name="">
            <a:extLst xmlns:a="http://schemas.openxmlformats.org/drawingml/2006/main">
              <a:ext uri="{FF2B5EF4-FFF2-40B4-BE49-F238E27FC236}">
                <a16:creationId xmlns:a16="http://schemas.microsoft.com/office/drawing/2014/main" id="{76803650-F561-4186-960F-AF1371D30D2F}"/>
              </a:ext>
            </a:extLst>
          </p:cNvPr>
          <p:cNvSpPr>
            <a:spLocks xmlns:a="http://schemas.openxmlformats.org/drawingml/2006/main" noGrp="1"/>
          </p:cNvSpPr>
          <p:nvPr/>
        </p:nvSpPr>
        <p:spPr>
          <a:xfrm xmlns:a="http://schemas.openxmlformats.org/drawingml/2006/main">
            <a:off x="908685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FA2AD0C-F668-4DA0-A59D-D685F7831956}"/>
              </a:ext>
            </a:extLst>
          </p:cNvPr>
          <p:cNvSpPr>
            <a:spLocks xmlns:a="http://schemas.openxmlformats.org/drawingml/2006/main" noGrp="1"/>
          </p:cNvSpPr>
          <p:nvPr/>
        </p:nvSpPr>
        <p:spPr>
          <a:xfrm xmlns:a="http://schemas.openxmlformats.org/drawingml/2006/main">
            <a:off x="908685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05</a:t>
            </a:r>
          </a:p>
        </p:txBody>
      </p:sp>
      <p:sp>
        <p:nvSpPr>
          <p:cNvPr id="31" name="">
            <a:extLst xmlns:a="http://schemas.openxmlformats.org/drawingml/2006/main">
              <a:ext uri="{FF2B5EF4-FFF2-40B4-BE49-F238E27FC236}">
                <a16:creationId xmlns:a16="http://schemas.microsoft.com/office/drawing/2014/main" id="{943DD2EB-94AC-44A1-A303-BEE5D4145925}"/>
              </a:ext>
            </a:extLst>
          </p:cNvPr>
          <p:cNvSpPr>
            <a:spLocks xmlns:a="http://schemas.openxmlformats.org/drawingml/2006/main" noGrp="1"/>
          </p:cNvSpPr>
          <p:nvPr/>
        </p:nvSpPr>
        <p:spPr>
          <a:xfrm xmlns:a="http://schemas.openxmlformats.org/drawingml/2006/main">
            <a:off x="962025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Create a simple referral route with a dedicated contact, short form and protected slots.</a:t>
            </a:r>
          </a:p>
        </p:txBody>
      </p:sp>
      <p:sp>
        <p:nvSpPr>
          <p:cNvPr id="32" name="">
            <a:extLst xmlns:a="http://schemas.openxmlformats.org/drawingml/2006/main">
              <a:ext uri="{FF2B5EF4-FFF2-40B4-BE49-F238E27FC236}">
                <a16:creationId xmlns:a16="http://schemas.microsoft.com/office/drawing/2014/main" id="{BC8A5562-758E-4478-B4B1-770EB26C8CF4}"/>
              </a:ext>
            </a:extLst>
          </p:cNvPr>
          <p:cNvSpPr>
            <a:spLocks xmlns:a="http://schemas.openxmlformats.org/drawingml/2006/main" noGrp="1"/>
          </p:cNvSpPr>
          <p:nvPr/>
        </p:nvSpPr>
        <p:spPr>
          <a:xfrm xmlns:a="http://schemas.openxmlformats.org/drawingml/2006/main">
            <a:off x="908685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C4C9A48-0DE5-4D21-B712-6F4A8BBEB408}"/>
              </a:ext>
            </a:extLst>
          </p:cNvPr>
          <p:cNvSpPr>
            <a:spLocks xmlns:a="http://schemas.openxmlformats.org/drawingml/2006/main" noGrp="1"/>
          </p:cNvSpPr>
          <p:nvPr/>
        </p:nvSpPr>
        <p:spPr>
          <a:xfrm xmlns:a="http://schemas.openxmlformats.org/drawingml/2006/main">
            <a:off x="908685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06</a:t>
            </a:r>
          </a:p>
        </p:txBody>
      </p:sp>
      <p:sp>
        <p:nvSpPr>
          <p:cNvPr id="34" name="">
            <a:extLst xmlns:a="http://schemas.openxmlformats.org/drawingml/2006/main">
              <a:ext uri="{FF2B5EF4-FFF2-40B4-BE49-F238E27FC236}">
                <a16:creationId xmlns:a16="http://schemas.microsoft.com/office/drawing/2014/main" id="{B23000CD-0ADE-4C0B-8CF4-A0584F7CABD6}"/>
              </a:ext>
            </a:extLst>
          </p:cNvPr>
          <p:cNvSpPr>
            <a:spLocks xmlns:a="http://schemas.openxmlformats.org/drawingml/2006/main" noGrp="1"/>
          </p:cNvSpPr>
          <p:nvPr/>
        </p:nvSpPr>
        <p:spPr>
          <a:xfrm xmlns:a="http://schemas.openxmlformats.org/drawingml/2006/main">
            <a:off x="962025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Collect Google reviews about service experience without unverified clinical claims.</a:t>
            </a:r>
          </a:p>
        </p:txBody>
      </p:sp>
      <p:sp>
        <p:nvSpPr>
          <p:cNvPr id="35" name="">
            <a:extLst xmlns:a="http://schemas.openxmlformats.org/drawingml/2006/main">
              <a:ext uri="{FF2B5EF4-FFF2-40B4-BE49-F238E27FC236}">
                <a16:creationId xmlns:a16="http://schemas.microsoft.com/office/drawing/2014/main" id="{0B6FEED3-95C2-4909-8377-F7ED3A71FF20}"/>
              </a:ext>
            </a:extLst>
          </p:cNvPr>
          <p:cNvSpPr>
            <a:spLocks xmlns:a="http://schemas.openxmlformats.org/drawingml/2006/main" noGrp="1"/>
          </p:cNvSpPr>
          <p:nvPr/>
        </p:nvSpPr>
        <p:spPr>
          <a:xfrm xmlns:a="http://schemas.openxmlformats.org/drawingml/2006/main">
            <a:off x="908685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7DCAA39-FC77-4BB8-9E56-0B6CD660BD28}"/>
              </a:ext>
            </a:extLst>
          </p:cNvPr>
          <p:cNvSpPr>
            <a:spLocks xmlns:a="http://schemas.openxmlformats.org/drawingml/2006/main" noGrp="1"/>
          </p:cNvSpPr>
          <p:nvPr/>
        </p:nvSpPr>
        <p:spPr>
          <a:xfrm xmlns:a="http://schemas.openxmlformats.org/drawingml/2006/main">
            <a:off x="4229100" y="6467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173"/>
                </a:solidFill>
                <a:latin typeface="Arial"/>
                <a:ea typeface="Arial"/>
                <a:cs typeface="Arial"/>
              </a:defRPr>
            </a:pPr>
            <a:r>
              <a:rPr sz="1200" b="1" i="0">
                <a:solidFill>
                  <a:srgbClr val="234173"/>
                </a:solidFill>
                <a:latin typeface="Arial"/>
                <a:ea typeface="Arial"/>
                <a:cs typeface="Arial"/>
              </a:rPr>
              <a:t>Success markers</a:t>
            </a:r>
          </a:p>
        </p:txBody>
      </p:sp>
      <p:sp>
        <p:nvSpPr>
          <p:cNvPr id="37" name="">
            <a:extLst xmlns:a="http://schemas.openxmlformats.org/drawingml/2006/main">
              <a:ext uri="{FF2B5EF4-FFF2-40B4-BE49-F238E27FC236}">
                <a16:creationId xmlns:a16="http://schemas.microsoft.com/office/drawing/2014/main" id="{300B2932-3DB0-4D25-B3EF-5CC4B4EA2D39}"/>
              </a:ext>
            </a:extLst>
          </p:cNvPr>
          <p:cNvSpPr>
            <a:spLocks xmlns:a="http://schemas.openxmlformats.org/drawingml/2006/main" noGrp="1"/>
          </p:cNvSpPr>
          <p:nvPr/>
        </p:nvSpPr>
        <p:spPr>
          <a:xfrm xmlns:a="http://schemas.openxmlformats.org/drawingml/2006/main">
            <a:off x="4229100" y="6810375"/>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64748B"/>
                </a:solidFill>
                <a:latin typeface="Arial"/>
                <a:ea typeface="Arial"/>
                <a:cs typeface="Arial"/>
              </a:defRPr>
            </a:pPr>
            <a:r>
              <a:rPr sz="1275" b="1" i="0">
                <a:solidFill>
                  <a:srgbClr val="64748B"/>
                </a:solidFill>
                <a:latin typeface="Arial"/>
                <a:ea typeface="Arial"/>
                <a:cs typeface="Arial"/>
              </a:rPr>
              <a:t>90 qualified leads  •  36 assessments booked  •  8 active referral partners  •  Referral route live</a:t>
            </a:r>
          </a:p>
        </p:txBody>
      </p:sp>
    </p:spTree>
    <p:extLst>
      <p:ext uri="{BB962C8B-B14F-4D97-AF65-F5344CB8AC3E}">
        <p14:creationId xmlns:p14="http://schemas.microsoft.com/office/powerpoint/2010/main" val="4492287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d04beea8a9a4dfc"/>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A0D126-0001-4C5E-8A71-35E78BD56BC3}"/>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E54732E3-E542-48F7-A75A-295E8310CA04}"/>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F6F04589-366C-49E9-B98F-8A546045FD6C}"/>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7FCB0E0-0104-4A34-A9AE-D451ABD9C4B9}"/>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EDB60EB-9C72-44E3-B419-70451DCFD6F7}"/>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F978BAB9-D0B1-4991-BD0F-302E27DABE34}"/>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7032CB81-CE12-44E0-8233-2DC793EF66CF}"/>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10</a:t>
            </a:r>
          </a:p>
        </p:txBody>
      </p:sp>
      <p:sp>
        <p:nvSpPr>
          <p:cNvPr id="9" name="">
            <a:extLst xmlns:a="http://schemas.openxmlformats.org/drawingml/2006/main">
              <a:ext uri="{FF2B5EF4-FFF2-40B4-BE49-F238E27FC236}">
                <a16:creationId xmlns:a16="http://schemas.microsoft.com/office/drawing/2014/main" id="{5AF5BC09-F5CC-4B03-9DC5-6587C7D91F2E}"/>
              </a:ext>
            </a:extLst>
          </p:cNvPr>
          <p:cNvSpPr>
            <a:spLocks xmlns:a="http://schemas.openxmlformats.org/drawingml/2006/main" noGrp="1"/>
          </p:cNvSpPr>
          <p:nvPr/>
        </p:nvSpPr>
        <p:spPr>
          <a:xfrm xmlns:a="http://schemas.openxmlformats.org/drawingml/2006/main">
            <a:off x="742950" y="1190625"/>
            <a:ext cx="2990850" cy="61912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5AE2DC8-03E6-44A4-87D5-3443BB306157}"/>
              </a:ext>
            </a:extLst>
          </p:cNvPr>
          <p:cNvSpPr>
            <a:spLocks xmlns:a="http://schemas.openxmlformats.org/drawingml/2006/main" noGrp="1"/>
          </p:cNvSpPr>
          <p:nvPr/>
        </p:nvSpPr>
        <p:spPr>
          <a:xfrm xmlns:a="http://schemas.openxmlformats.org/drawingml/2006/main">
            <a:off x="1047750" y="15240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NOVEMBER</a:t>
            </a:r>
          </a:p>
        </p:txBody>
      </p:sp>
      <p:sp>
        <p:nvSpPr>
          <p:cNvPr id="11" name="">
            <a:extLst xmlns:a="http://schemas.openxmlformats.org/drawingml/2006/main">
              <a:ext uri="{FF2B5EF4-FFF2-40B4-BE49-F238E27FC236}">
                <a16:creationId xmlns:a16="http://schemas.microsoft.com/office/drawing/2014/main" id="{1511A6D6-187C-427A-88FF-F45837CA7D6F}"/>
              </a:ext>
            </a:extLst>
          </p:cNvPr>
          <p:cNvSpPr>
            <a:spLocks xmlns:a="http://schemas.openxmlformats.org/drawingml/2006/main" noGrp="1"/>
          </p:cNvSpPr>
          <p:nvPr/>
        </p:nvSpPr>
        <p:spPr>
          <a:xfrm xmlns:a="http://schemas.openxmlformats.org/drawingml/2006/main">
            <a:off x="1047750" y="1952625"/>
            <a:ext cx="238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400" b="1" i="0">
                <a:solidFill>
                  <a:srgbClr val="FFFFFF"/>
                </a:solidFill>
                <a:latin typeface="Arial"/>
                <a:ea typeface="Arial"/>
                <a:cs typeface="Arial"/>
              </a:defRPr>
            </a:pPr>
            <a:r>
              <a:rPr sz="5400" b="1" i="0">
                <a:solidFill>
                  <a:srgbClr val="FFFFFF"/>
                </a:solidFill>
                <a:latin typeface="Arial"/>
                <a:ea typeface="Arial"/>
                <a:cs typeface="Arial"/>
              </a:rPr>
              <a:t>2026</a:t>
            </a:r>
          </a:p>
        </p:txBody>
      </p:sp>
      <p:sp>
        <p:nvSpPr>
          <p:cNvPr id="12" name="">
            <a:extLst xmlns:a="http://schemas.openxmlformats.org/drawingml/2006/main">
              <a:ext uri="{FF2B5EF4-FFF2-40B4-BE49-F238E27FC236}">
                <a16:creationId xmlns:a16="http://schemas.microsoft.com/office/drawing/2014/main" id="{C87BE13C-A4D7-45CD-982F-0E0376F593C7}"/>
              </a:ext>
            </a:extLst>
          </p:cNvPr>
          <p:cNvSpPr>
            <a:spLocks xmlns:a="http://schemas.openxmlformats.org/drawingml/2006/main" noGrp="1"/>
          </p:cNvSpPr>
          <p:nvPr/>
        </p:nvSpPr>
        <p:spPr>
          <a:xfrm xmlns:a="http://schemas.openxmlformats.org/drawingml/2006/main">
            <a:off x="1047750" y="3133725"/>
            <a:ext cx="2095500" cy="38100"/>
          </a:xfrm>
          <a:prstGeom xmlns:a="http://schemas.openxmlformats.org/drawingml/2006/main" prst="rect">
            <a:avLst/>
          </a:prstGeom>
          <a:solidFill xmlns:a="http://schemas.openxmlformats.org/drawingml/2006/main">
            <a:srgbClr val="538AC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147684A-F944-4679-B278-59FB251101E9}"/>
              </a:ext>
            </a:extLst>
          </p:cNvPr>
          <p:cNvSpPr>
            <a:spLocks xmlns:a="http://schemas.openxmlformats.org/drawingml/2006/main" noGrp="1"/>
          </p:cNvSpPr>
          <p:nvPr/>
        </p:nvSpPr>
        <p:spPr>
          <a:xfrm xmlns:a="http://schemas.openxmlformats.org/drawingml/2006/main">
            <a:off x="1047750" y="3429000"/>
            <a:ext cx="2238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Diabetic wound campaign</a:t>
            </a:r>
          </a:p>
        </p:txBody>
      </p:sp>
      <p:sp>
        <p:nvSpPr>
          <p:cNvPr id="14" name="">
            <a:extLst xmlns:a="http://schemas.openxmlformats.org/drawingml/2006/main">
              <a:ext uri="{FF2B5EF4-FFF2-40B4-BE49-F238E27FC236}">
                <a16:creationId xmlns:a16="http://schemas.microsoft.com/office/drawing/2014/main" id="{BD50C551-636C-4401-A0BC-4CB9FB9196F9}"/>
              </a:ext>
            </a:extLst>
          </p:cNvPr>
          <p:cNvSpPr>
            <a:spLocks xmlns:a="http://schemas.openxmlformats.org/drawingml/2006/main" noGrp="1"/>
          </p:cNvSpPr>
          <p:nvPr/>
        </p:nvSpPr>
        <p:spPr>
          <a:xfrm xmlns:a="http://schemas.openxmlformats.org/drawingml/2006/main">
            <a:off x="1047750" y="49053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D8EB"/>
                </a:solidFill>
                <a:latin typeface="Arial"/>
                <a:ea typeface="Arial"/>
                <a:cs typeface="Arial"/>
              </a:defRPr>
            </a:pPr>
            <a:r>
              <a:rPr sz="900" b="1" i="0">
                <a:solidFill>
                  <a:srgbClr val="C9D8EB"/>
                </a:solidFill>
                <a:latin typeface="Arial"/>
                <a:ea typeface="Arial"/>
                <a:cs typeface="Arial"/>
              </a:rPr>
              <a:t>CAMPAIGN THEME</a:t>
            </a:r>
          </a:p>
        </p:txBody>
      </p:sp>
      <p:sp>
        <p:nvSpPr>
          <p:cNvPr id="15" name="">
            <a:extLst xmlns:a="http://schemas.openxmlformats.org/drawingml/2006/main">
              <a:ext uri="{FF2B5EF4-FFF2-40B4-BE49-F238E27FC236}">
                <a16:creationId xmlns:a16="http://schemas.microsoft.com/office/drawing/2014/main" id="{6A7EE466-E687-47E3-8C8B-B8C9CAD952D5}"/>
              </a:ext>
            </a:extLst>
          </p:cNvPr>
          <p:cNvSpPr>
            <a:spLocks xmlns:a="http://schemas.openxmlformats.org/drawingml/2006/main" noGrp="1"/>
          </p:cNvSpPr>
          <p:nvPr/>
        </p:nvSpPr>
        <p:spPr>
          <a:xfrm xmlns:a="http://schemas.openxmlformats.org/drawingml/2006/main">
            <a:off x="1047750" y="5219700"/>
            <a:ext cx="22383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1">
                <a:solidFill>
                  <a:srgbClr val="FFFFFF"/>
                </a:solidFill>
                <a:latin typeface="Arial"/>
                <a:ea typeface="Arial"/>
                <a:cs typeface="Arial"/>
              </a:defRPr>
            </a:pPr>
            <a:r>
              <a:rPr sz="1500" b="0" i="1">
                <a:solidFill>
                  <a:srgbClr val="FFFFFF"/>
                </a:solidFill>
                <a:latin typeface="Arial"/>
                <a:ea typeface="Arial"/>
                <a:cs typeface="Arial"/>
              </a:rPr>
              <a:t>Diabetes and Foot Wounds: Act Before It Is Too Late.</a:t>
            </a:r>
          </a:p>
        </p:txBody>
      </p:sp>
      <p:sp>
        <p:nvSpPr>
          <p:cNvPr id="16" name="">
            <a:extLst xmlns:a="http://schemas.openxmlformats.org/drawingml/2006/main">
              <a:ext uri="{FF2B5EF4-FFF2-40B4-BE49-F238E27FC236}">
                <a16:creationId xmlns:a16="http://schemas.microsoft.com/office/drawing/2014/main" id="{6F9E965B-50B1-47D2-9C80-048C39D5DBEA}"/>
              </a:ext>
            </a:extLst>
          </p:cNvPr>
          <p:cNvSpPr>
            <a:spLocks xmlns:a="http://schemas.openxmlformats.org/drawingml/2006/main" noGrp="1"/>
          </p:cNvSpPr>
          <p:nvPr/>
        </p:nvSpPr>
        <p:spPr>
          <a:xfrm xmlns:a="http://schemas.openxmlformats.org/drawingml/2006/main">
            <a:off x="4229100" y="1200150"/>
            <a:ext cx="971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8"/>
          </a:bodyPr>
          <a:lstStyle xmlns:a="http://schemas.openxmlformats.org/drawingml/2006/main"/>
          <a:p xmlns:a="http://schemas.openxmlformats.org/drawingml/2006/main">
            <a:pPr algn="l">
              <a:lnSpc>
                <a:spcPct val="101000"/>
              </a:lnSpc>
              <a:buNone/>
              <a:defRPr sz="2550" b="1" i="0">
                <a:solidFill>
                  <a:srgbClr val="234173"/>
                </a:solidFill>
                <a:latin typeface="Arial"/>
                <a:ea typeface="Arial"/>
                <a:cs typeface="Arial"/>
              </a:defRPr>
            </a:pPr>
            <a:r>
              <a:rPr sz="2550" b="1" i="0">
                <a:solidFill>
                  <a:srgbClr val="234173"/>
                </a:solidFill>
                <a:latin typeface="Arial"/>
                <a:ea typeface="Arial"/>
                <a:cs typeface="Arial"/>
              </a:rPr>
              <a:t>Use Diabetes Awareness Month to drive education, screening and conversion.</a:t>
            </a:r>
          </a:p>
        </p:txBody>
      </p:sp>
      <p:sp>
        <p:nvSpPr>
          <p:cNvPr id="17" name="">
            <a:extLst xmlns:a="http://schemas.openxmlformats.org/drawingml/2006/main">
              <a:ext uri="{FF2B5EF4-FFF2-40B4-BE49-F238E27FC236}">
                <a16:creationId xmlns:a16="http://schemas.microsoft.com/office/drawing/2014/main" id="{91FC515B-38A7-4822-95C7-DF852590476A}"/>
              </a:ext>
            </a:extLst>
          </p:cNvPr>
          <p:cNvSpPr>
            <a:spLocks xmlns:a="http://schemas.openxmlformats.org/drawingml/2006/main" noGrp="1"/>
          </p:cNvSpPr>
          <p:nvPr/>
        </p:nvSpPr>
        <p:spPr>
          <a:xfrm xmlns:a="http://schemas.openxmlformats.org/drawingml/2006/main">
            <a:off x="4229100" y="2076450"/>
            <a:ext cx="95250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DEAE7D9-9FDB-4172-81B6-DF243B984B4F}"/>
              </a:ext>
            </a:extLst>
          </p:cNvPr>
          <p:cNvSpPr>
            <a:spLocks xmlns:a="http://schemas.openxmlformats.org/drawingml/2006/main" noGrp="1"/>
          </p:cNvSpPr>
          <p:nvPr/>
        </p:nvSpPr>
        <p:spPr>
          <a:xfrm xmlns:a="http://schemas.openxmlformats.org/drawingml/2006/main">
            <a:off x="422910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01</a:t>
            </a:r>
          </a:p>
        </p:txBody>
      </p:sp>
      <p:sp>
        <p:nvSpPr>
          <p:cNvPr id="19" name="">
            <a:extLst xmlns:a="http://schemas.openxmlformats.org/drawingml/2006/main">
              <a:ext uri="{FF2B5EF4-FFF2-40B4-BE49-F238E27FC236}">
                <a16:creationId xmlns:a16="http://schemas.microsoft.com/office/drawing/2014/main" id="{40D9DE9F-66BF-46B0-BA97-48E6E43C33A4}"/>
              </a:ext>
            </a:extLst>
          </p:cNvPr>
          <p:cNvSpPr>
            <a:spLocks xmlns:a="http://schemas.openxmlformats.org/drawingml/2006/main" noGrp="1"/>
          </p:cNvSpPr>
          <p:nvPr/>
        </p:nvSpPr>
        <p:spPr>
          <a:xfrm xmlns:a="http://schemas.openxmlformats.org/drawingml/2006/main">
            <a:off x="476250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Run a diabetic foot and wound screening programme with a direct route to assessment.</a:t>
            </a:r>
          </a:p>
        </p:txBody>
      </p:sp>
      <p:sp>
        <p:nvSpPr>
          <p:cNvPr id="20" name="">
            <a:extLst xmlns:a="http://schemas.openxmlformats.org/drawingml/2006/main">
              <a:ext uri="{FF2B5EF4-FFF2-40B4-BE49-F238E27FC236}">
                <a16:creationId xmlns:a16="http://schemas.microsoft.com/office/drawing/2014/main" id="{0990BF45-AEDA-4A9D-A806-74B666AE3CC1}"/>
              </a:ext>
            </a:extLst>
          </p:cNvPr>
          <p:cNvSpPr>
            <a:spLocks xmlns:a="http://schemas.openxmlformats.org/drawingml/2006/main" noGrp="1"/>
          </p:cNvSpPr>
          <p:nvPr/>
        </p:nvSpPr>
        <p:spPr>
          <a:xfrm xmlns:a="http://schemas.openxmlformats.org/drawingml/2006/main">
            <a:off x="422910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FD47502-4D65-4809-83F3-3890B3365A00}"/>
              </a:ext>
            </a:extLst>
          </p:cNvPr>
          <p:cNvSpPr>
            <a:spLocks xmlns:a="http://schemas.openxmlformats.org/drawingml/2006/main" noGrp="1"/>
          </p:cNvSpPr>
          <p:nvPr/>
        </p:nvSpPr>
        <p:spPr>
          <a:xfrm xmlns:a="http://schemas.openxmlformats.org/drawingml/2006/main">
            <a:off x="422910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02</a:t>
            </a:r>
          </a:p>
        </p:txBody>
      </p:sp>
      <p:sp>
        <p:nvSpPr>
          <p:cNvPr id="22" name="">
            <a:extLst xmlns:a="http://schemas.openxmlformats.org/drawingml/2006/main">
              <a:ext uri="{FF2B5EF4-FFF2-40B4-BE49-F238E27FC236}">
                <a16:creationId xmlns:a16="http://schemas.microsoft.com/office/drawing/2014/main" id="{C8DEAA21-9CD8-41C6-AD90-46176F659A55}"/>
              </a:ext>
            </a:extLst>
          </p:cNvPr>
          <p:cNvSpPr>
            <a:spLocks xmlns:a="http://schemas.openxmlformats.org/drawingml/2006/main" noGrp="1"/>
          </p:cNvSpPr>
          <p:nvPr/>
        </p:nvSpPr>
        <p:spPr>
          <a:xfrm xmlns:a="http://schemas.openxmlformats.org/drawingml/2006/main">
            <a:off x="476250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Publish focused content on foot care, warning signs, prevention and when to seek care.</a:t>
            </a:r>
          </a:p>
        </p:txBody>
      </p:sp>
      <p:sp>
        <p:nvSpPr>
          <p:cNvPr id="23" name="">
            <a:extLst xmlns:a="http://schemas.openxmlformats.org/drawingml/2006/main">
              <a:ext uri="{FF2B5EF4-FFF2-40B4-BE49-F238E27FC236}">
                <a16:creationId xmlns:a16="http://schemas.microsoft.com/office/drawing/2014/main" id="{7CC03C70-5322-4C30-9AAF-A7FA36112F18}"/>
              </a:ext>
            </a:extLst>
          </p:cNvPr>
          <p:cNvSpPr>
            <a:spLocks xmlns:a="http://schemas.openxmlformats.org/drawingml/2006/main" noGrp="1"/>
          </p:cNvSpPr>
          <p:nvPr/>
        </p:nvSpPr>
        <p:spPr>
          <a:xfrm xmlns:a="http://schemas.openxmlformats.org/drawingml/2006/main">
            <a:off x="422910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63448BE-BDC8-4A83-9D37-22A1F0E9C6AF}"/>
              </a:ext>
            </a:extLst>
          </p:cNvPr>
          <p:cNvSpPr>
            <a:spLocks xmlns:a="http://schemas.openxmlformats.org/drawingml/2006/main" noGrp="1"/>
          </p:cNvSpPr>
          <p:nvPr/>
        </p:nvSpPr>
        <p:spPr>
          <a:xfrm xmlns:a="http://schemas.openxmlformats.org/drawingml/2006/main">
            <a:off x="422910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CAE3AA37-C16A-46D9-8E87-B4451A7DDBF8}"/>
              </a:ext>
            </a:extLst>
          </p:cNvPr>
          <p:cNvSpPr>
            <a:spLocks xmlns:a="http://schemas.openxmlformats.org/drawingml/2006/main" noGrp="1"/>
          </p:cNvSpPr>
          <p:nvPr/>
        </p:nvSpPr>
        <p:spPr>
          <a:xfrm xmlns:a="http://schemas.openxmlformats.org/drawingml/2006/main">
            <a:off x="476250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Build educational partnerships with pharmacies, dialysis centres and diabetes groups.</a:t>
            </a:r>
          </a:p>
        </p:txBody>
      </p:sp>
      <p:sp>
        <p:nvSpPr>
          <p:cNvPr id="26" name="">
            <a:extLst xmlns:a="http://schemas.openxmlformats.org/drawingml/2006/main">
              <a:ext uri="{FF2B5EF4-FFF2-40B4-BE49-F238E27FC236}">
                <a16:creationId xmlns:a16="http://schemas.microsoft.com/office/drawing/2014/main" id="{914F2B00-0A86-42B6-914C-6CA8032BE004}"/>
              </a:ext>
            </a:extLst>
          </p:cNvPr>
          <p:cNvSpPr>
            <a:spLocks xmlns:a="http://schemas.openxmlformats.org/drawingml/2006/main" noGrp="1"/>
          </p:cNvSpPr>
          <p:nvPr/>
        </p:nvSpPr>
        <p:spPr>
          <a:xfrm xmlns:a="http://schemas.openxmlformats.org/drawingml/2006/main">
            <a:off x="422910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ADD078F-1B14-460C-82CD-9C9E409E47EA}"/>
              </a:ext>
            </a:extLst>
          </p:cNvPr>
          <p:cNvSpPr>
            <a:spLocks xmlns:a="http://schemas.openxmlformats.org/drawingml/2006/main" noGrp="1"/>
          </p:cNvSpPr>
          <p:nvPr/>
        </p:nvSpPr>
        <p:spPr>
          <a:xfrm xmlns:a="http://schemas.openxmlformats.org/drawingml/2006/main">
            <a:off x="908685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FA082DD0-6CE2-4078-AC0A-985CCCB2B3C8}"/>
              </a:ext>
            </a:extLst>
          </p:cNvPr>
          <p:cNvSpPr>
            <a:spLocks xmlns:a="http://schemas.openxmlformats.org/drawingml/2006/main" noGrp="1"/>
          </p:cNvSpPr>
          <p:nvPr/>
        </p:nvSpPr>
        <p:spPr>
          <a:xfrm xmlns:a="http://schemas.openxmlformats.org/drawingml/2006/main">
            <a:off x="962025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Retarget unconverted September-October leads and reactivate discontinued follow-up.</a:t>
            </a:r>
          </a:p>
        </p:txBody>
      </p:sp>
      <p:sp>
        <p:nvSpPr>
          <p:cNvPr id="29" name="">
            <a:extLst xmlns:a="http://schemas.openxmlformats.org/drawingml/2006/main">
              <a:ext uri="{FF2B5EF4-FFF2-40B4-BE49-F238E27FC236}">
                <a16:creationId xmlns:a16="http://schemas.microsoft.com/office/drawing/2014/main" id="{43ACA10B-3292-4332-AEED-C48CF4CD1EA7}"/>
              </a:ext>
            </a:extLst>
          </p:cNvPr>
          <p:cNvSpPr>
            <a:spLocks xmlns:a="http://schemas.openxmlformats.org/drawingml/2006/main" noGrp="1"/>
          </p:cNvSpPr>
          <p:nvPr/>
        </p:nvSpPr>
        <p:spPr>
          <a:xfrm xmlns:a="http://schemas.openxmlformats.org/drawingml/2006/main">
            <a:off x="908685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FC1B6FF-16D7-4572-8180-7BC81D8C7198}"/>
              </a:ext>
            </a:extLst>
          </p:cNvPr>
          <p:cNvSpPr>
            <a:spLocks xmlns:a="http://schemas.openxmlformats.org/drawingml/2006/main" noGrp="1"/>
          </p:cNvSpPr>
          <p:nvPr/>
        </p:nvSpPr>
        <p:spPr>
          <a:xfrm xmlns:a="http://schemas.openxmlformats.org/drawingml/2006/main">
            <a:off x="908685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05</a:t>
            </a:r>
          </a:p>
        </p:txBody>
      </p:sp>
      <p:sp>
        <p:nvSpPr>
          <p:cNvPr id="31" name="">
            <a:extLst xmlns:a="http://schemas.openxmlformats.org/drawingml/2006/main">
              <a:ext uri="{FF2B5EF4-FFF2-40B4-BE49-F238E27FC236}">
                <a16:creationId xmlns:a16="http://schemas.microsoft.com/office/drawing/2014/main" id="{E513EDC7-ADA6-4960-93C2-0CA3D4D94141}"/>
              </a:ext>
            </a:extLst>
          </p:cNvPr>
          <p:cNvSpPr>
            <a:spLocks xmlns:a="http://schemas.openxmlformats.org/drawingml/2006/main" noGrp="1"/>
          </p:cNvSpPr>
          <p:nvPr/>
        </p:nvSpPr>
        <p:spPr>
          <a:xfrm xmlns:a="http://schemas.openxmlformats.org/drawingml/2006/main">
            <a:off x="962025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Consider phased packages or payment options only when approved and clinically appropriate.</a:t>
            </a:r>
          </a:p>
        </p:txBody>
      </p:sp>
      <p:sp>
        <p:nvSpPr>
          <p:cNvPr id="32" name="">
            <a:extLst xmlns:a="http://schemas.openxmlformats.org/drawingml/2006/main">
              <a:ext uri="{FF2B5EF4-FFF2-40B4-BE49-F238E27FC236}">
                <a16:creationId xmlns:a16="http://schemas.microsoft.com/office/drawing/2014/main" id="{BF970D09-84F9-4ABD-B6AD-740793FB22A6}"/>
              </a:ext>
            </a:extLst>
          </p:cNvPr>
          <p:cNvSpPr>
            <a:spLocks xmlns:a="http://schemas.openxmlformats.org/drawingml/2006/main" noGrp="1"/>
          </p:cNvSpPr>
          <p:nvPr/>
        </p:nvSpPr>
        <p:spPr>
          <a:xfrm xmlns:a="http://schemas.openxmlformats.org/drawingml/2006/main">
            <a:off x="908685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25C35D3-F5AC-4711-8F90-9E9FC0956C13}"/>
              </a:ext>
            </a:extLst>
          </p:cNvPr>
          <p:cNvSpPr>
            <a:spLocks xmlns:a="http://schemas.openxmlformats.org/drawingml/2006/main" noGrp="1"/>
          </p:cNvSpPr>
          <p:nvPr/>
        </p:nvSpPr>
        <p:spPr>
          <a:xfrm xmlns:a="http://schemas.openxmlformats.org/drawingml/2006/main">
            <a:off x="908685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06</a:t>
            </a:r>
          </a:p>
        </p:txBody>
      </p:sp>
      <p:sp>
        <p:nvSpPr>
          <p:cNvPr id="34" name="">
            <a:extLst xmlns:a="http://schemas.openxmlformats.org/drawingml/2006/main">
              <a:ext uri="{FF2B5EF4-FFF2-40B4-BE49-F238E27FC236}">
                <a16:creationId xmlns:a16="http://schemas.microsoft.com/office/drawing/2014/main" id="{5EB2F41E-6623-4AFC-8423-BA4771016685}"/>
              </a:ext>
            </a:extLst>
          </p:cNvPr>
          <p:cNvSpPr>
            <a:spLocks xmlns:a="http://schemas.openxmlformats.org/drawingml/2006/main" noGrp="1"/>
          </p:cNvSpPr>
          <p:nvPr/>
        </p:nvSpPr>
        <p:spPr>
          <a:xfrm xmlns:a="http://schemas.openxmlformats.org/drawingml/2006/main">
            <a:off x="962025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Use service-experience testimonials; avoid cure guarantees or misleading comparisons.</a:t>
            </a:r>
          </a:p>
        </p:txBody>
      </p:sp>
      <p:sp>
        <p:nvSpPr>
          <p:cNvPr id="35" name="">
            <a:extLst xmlns:a="http://schemas.openxmlformats.org/drawingml/2006/main">
              <a:ext uri="{FF2B5EF4-FFF2-40B4-BE49-F238E27FC236}">
                <a16:creationId xmlns:a16="http://schemas.microsoft.com/office/drawing/2014/main" id="{34D59698-80EF-499A-9245-880E140FE48E}"/>
              </a:ext>
            </a:extLst>
          </p:cNvPr>
          <p:cNvSpPr>
            <a:spLocks xmlns:a="http://schemas.openxmlformats.org/drawingml/2006/main" noGrp="1"/>
          </p:cNvSpPr>
          <p:nvPr/>
        </p:nvSpPr>
        <p:spPr>
          <a:xfrm xmlns:a="http://schemas.openxmlformats.org/drawingml/2006/main">
            <a:off x="908685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1BEF3A8-3F9A-4E8F-9D75-2918DE612D1D}"/>
              </a:ext>
            </a:extLst>
          </p:cNvPr>
          <p:cNvSpPr>
            <a:spLocks xmlns:a="http://schemas.openxmlformats.org/drawingml/2006/main" noGrp="1"/>
          </p:cNvSpPr>
          <p:nvPr/>
        </p:nvSpPr>
        <p:spPr>
          <a:xfrm xmlns:a="http://schemas.openxmlformats.org/drawingml/2006/main">
            <a:off x="4229100" y="6467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173"/>
                </a:solidFill>
                <a:latin typeface="Arial"/>
                <a:ea typeface="Arial"/>
                <a:cs typeface="Arial"/>
              </a:defRPr>
            </a:pPr>
            <a:r>
              <a:rPr sz="1200" b="1" i="0">
                <a:solidFill>
                  <a:srgbClr val="234173"/>
                </a:solidFill>
                <a:latin typeface="Arial"/>
                <a:ea typeface="Arial"/>
                <a:cs typeface="Arial"/>
              </a:rPr>
              <a:t>Success markers</a:t>
            </a:r>
          </a:p>
        </p:txBody>
      </p:sp>
      <p:sp>
        <p:nvSpPr>
          <p:cNvPr id="37" name="">
            <a:extLst xmlns:a="http://schemas.openxmlformats.org/drawingml/2006/main">
              <a:ext uri="{FF2B5EF4-FFF2-40B4-BE49-F238E27FC236}">
                <a16:creationId xmlns:a16="http://schemas.microsoft.com/office/drawing/2014/main" id="{7BAABE9F-ADBB-47FE-B1F1-DEAA5C7A9EF8}"/>
              </a:ext>
            </a:extLst>
          </p:cNvPr>
          <p:cNvSpPr>
            <a:spLocks xmlns:a="http://schemas.openxmlformats.org/drawingml/2006/main" noGrp="1"/>
          </p:cNvSpPr>
          <p:nvPr/>
        </p:nvSpPr>
        <p:spPr>
          <a:xfrm xmlns:a="http://schemas.openxmlformats.org/drawingml/2006/main">
            <a:off x="4229100" y="6810375"/>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64748B"/>
                </a:solidFill>
                <a:latin typeface="Arial"/>
                <a:ea typeface="Arial"/>
                <a:cs typeface="Arial"/>
              </a:defRPr>
            </a:pPr>
            <a:r>
              <a:rPr sz="1275" b="1" i="0">
                <a:solidFill>
                  <a:srgbClr val="64748B"/>
                </a:solidFill>
                <a:latin typeface="Arial"/>
                <a:ea typeface="Arial"/>
                <a:cs typeface="Arial"/>
              </a:rPr>
              <a:t>120 qualified leads  •  48 assessments booked  •  16 plans started  •  12 active partners</a:t>
            </a:r>
          </a:p>
        </p:txBody>
      </p:sp>
    </p:spTree>
    <p:extLst>
      <p:ext uri="{BB962C8B-B14F-4D97-AF65-F5344CB8AC3E}">
        <p14:creationId xmlns:p14="http://schemas.microsoft.com/office/powerpoint/2010/main" val="14069369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c5648a8a4154768"/>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1CA317-7EFE-4BCE-BB37-2243C9862FD8}"/>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16AB24B7-B80B-405B-86C5-EE4975881FB6}"/>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61CECE7E-E1D3-4F03-8436-081C6AC215E8}"/>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1B9FDB-28DD-40BD-83EF-7BC15AC0918B}"/>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9101BE-2664-475D-86AB-68CE51E81DF8}"/>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780DB069-9BE2-4760-9919-0EDE32E33545}"/>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EDDA07E8-C195-4897-AE37-661CAC90963D}"/>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11</a:t>
            </a:r>
          </a:p>
        </p:txBody>
      </p:sp>
      <p:sp>
        <p:nvSpPr>
          <p:cNvPr id="9" name="">
            <a:extLst xmlns:a="http://schemas.openxmlformats.org/drawingml/2006/main">
              <a:ext uri="{FF2B5EF4-FFF2-40B4-BE49-F238E27FC236}">
                <a16:creationId xmlns:a16="http://schemas.microsoft.com/office/drawing/2014/main" id="{9503FE0D-D1A3-42D4-AC17-D25A19A12A27}"/>
              </a:ext>
            </a:extLst>
          </p:cNvPr>
          <p:cNvSpPr>
            <a:spLocks xmlns:a="http://schemas.openxmlformats.org/drawingml/2006/main" noGrp="1"/>
          </p:cNvSpPr>
          <p:nvPr/>
        </p:nvSpPr>
        <p:spPr>
          <a:xfrm xmlns:a="http://schemas.openxmlformats.org/drawingml/2006/main">
            <a:off x="742950" y="1190625"/>
            <a:ext cx="2990850" cy="61912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3C02FD-6A33-438F-BC41-F5E18D5B87CE}"/>
              </a:ext>
            </a:extLst>
          </p:cNvPr>
          <p:cNvSpPr>
            <a:spLocks xmlns:a="http://schemas.openxmlformats.org/drawingml/2006/main" noGrp="1"/>
          </p:cNvSpPr>
          <p:nvPr/>
        </p:nvSpPr>
        <p:spPr>
          <a:xfrm xmlns:a="http://schemas.openxmlformats.org/drawingml/2006/main">
            <a:off x="1047750" y="152400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DECEMBER</a:t>
            </a:r>
          </a:p>
        </p:txBody>
      </p:sp>
      <p:sp>
        <p:nvSpPr>
          <p:cNvPr id="11" name="">
            <a:extLst xmlns:a="http://schemas.openxmlformats.org/drawingml/2006/main">
              <a:ext uri="{FF2B5EF4-FFF2-40B4-BE49-F238E27FC236}">
                <a16:creationId xmlns:a16="http://schemas.microsoft.com/office/drawing/2014/main" id="{44246B84-53E0-4FAD-8D7F-CFD99B5894D0}"/>
              </a:ext>
            </a:extLst>
          </p:cNvPr>
          <p:cNvSpPr>
            <a:spLocks xmlns:a="http://schemas.openxmlformats.org/drawingml/2006/main" noGrp="1"/>
          </p:cNvSpPr>
          <p:nvPr/>
        </p:nvSpPr>
        <p:spPr>
          <a:xfrm xmlns:a="http://schemas.openxmlformats.org/drawingml/2006/main">
            <a:off x="1047750" y="1952625"/>
            <a:ext cx="238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400" b="1" i="0">
                <a:solidFill>
                  <a:srgbClr val="FFFFFF"/>
                </a:solidFill>
                <a:latin typeface="Arial"/>
                <a:ea typeface="Arial"/>
                <a:cs typeface="Arial"/>
              </a:defRPr>
            </a:pPr>
            <a:r>
              <a:rPr sz="5400" b="1" i="0">
                <a:solidFill>
                  <a:srgbClr val="FFFFFF"/>
                </a:solidFill>
                <a:latin typeface="Arial"/>
                <a:ea typeface="Arial"/>
                <a:cs typeface="Arial"/>
              </a:rPr>
              <a:t>2026</a:t>
            </a:r>
          </a:p>
        </p:txBody>
      </p:sp>
      <p:sp>
        <p:nvSpPr>
          <p:cNvPr id="12" name="">
            <a:extLst xmlns:a="http://schemas.openxmlformats.org/drawingml/2006/main">
              <a:ext uri="{FF2B5EF4-FFF2-40B4-BE49-F238E27FC236}">
                <a16:creationId xmlns:a16="http://schemas.microsoft.com/office/drawing/2014/main" id="{87B78857-A462-47E0-ABD8-BA1B16E79CC9}"/>
              </a:ext>
            </a:extLst>
          </p:cNvPr>
          <p:cNvSpPr>
            <a:spLocks xmlns:a="http://schemas.openxmlformats.org/drawingml/2006/main" noGrp="1"/>
          </p:cNvSpPr>
          <p:nvPr/>
        </p:nvSpPr>
        <p:spPr>
          <a:xfrm xmlns:a="http://schemas.openxmlformats.org/drawingml/2006/main">
            <a:off x="1047750" y="3133725"/>
            <a:ext cx="2095500" cy="38100"/>
          </a:xfrm>
          <a:prstGeom xmlns:a="http://schemas.openxmlformats.org/drawingml/2006/main" prst="rect">
            <a:avLst/>
          </a:prstGeom>
          <a:solidFill xmlns:a="http://schemas.openxmlformats.org/drawingml/2006/main">
            <a:srgbClr val="538AC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207540-82D8-4993-897E-460F1363376F}"/>
              </a:ext>
            </a:extLst>
          </p:cNvPr>
          <p:cNvSpPr>
            <a:spLocks xmlns:a="http://schemas.openxmlformats.org/drawingml/2006/main" noGrp="1"/>
          </p:cNvSpPr>
          <p:nvPr/>
        </p:nvSpPr>
        <p:spPr>
          <a:xfrm xmlns:a="http://schemas.openxmlformats.org/drawingml/2006/main">
            <a:off x="1047750" y="3429000"/>
            <a:ext cx="2238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FFFF"/>
                </a:solidFill>
                <a:latin typeface="Arial"/>
                <a:ea typeface="Arial"/>
                <a:cs typeface="Arial"/>
              </a:defRPr>
            </a:pPr>
            <a:r>
              <a:rPr sz="2025" b="1" i="0">
                <a:solidFill>
                  <a:srgbClr val="FFFFFF"/>
                </a:solidFill>
                <a:latin typeface="Arial"/>
                <a:ea typeface="Arial"/>
                <a:cs typeface="Arial"/>
              </a:rPr>
              <a:t>Scale, retention and 2027 readiness</a:t>
            </a:r>
          </a:p>
        </p:txBody>
      </p:sp>
      <p:sp>
        <p:nvSpPr>
          <p:cNvPr id="14" name="">
            <a:extLst xmlns:a="http://schemas.openxmlformats.org/drawingml/2006/main">
              <a:ext uri="{FF2B5EF4-FFF2-40B4-BE49-F238E27FC236}">
                <a16:creationId xmlns:a16="http://schemas.microsoft.com/office/drawing/2014/main" id="{1DED0453-0F2E-4D39-8DA1-42E1A8C168A3}"/>
              </a:ext>
            </a:extLst>
          </p:cNvPr>
          <p:cNvSpPr>
            <a:spLocks xmlns:a="http://schemas.openxmlformats.org/drawingml/2006/main" noGrp="1"/>
          </p:cNvSpPr>
          <p:nvPr/>
        </p:nvSpPr>
        <p:spPr>
          <a:xfrm xmlns:a="http://schemas.openxmlformats.org/drawingml/2006/main">
            <a:off x="1047750" y="4905375"/>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C9D8EB"/>
                </a:solidFill>
                <a:latin typeface="Arial"/>
                <a:ea typeface="Arial"/>
                <a:cs typeface="Arial"/>
              </a:defRPr>
            </a:pPr>
            <a:r>
              <a:rPr sz="900" b="1" i="0">
                <a:solidFill>
                  <a:srgbClr val="C9D8EB"/>
                </a:solidFill>
                <a:latin typeface="Arial"/>
                <a:ea typeface="Arial"/>
                <a:cs typeface="Arial"/>
              </a:rPr>
              <a:t>CAMPAIGN THEME</a:t>
            </a:r>
          </a:p>
        </p:txBody>
      </p:sp>
      <p:sp>
        <p:nvSpPr>
          <p:cNvPr id="15" name="">
            <a:extLst xmlns:a="http://schemas.openxmlformats.org/drawingml/2006/main">
              <a:ext uri="{FF2B5EF4-FFF2-40B4-BE49-F238E27FC236}">
                <a16:creationId xmlns:a16="http://schemas.microsoft.com/office/drawing/2014/main" id="{86B19931-73EB-45C3-B0B9-FAACF71D021A}"/>
              </a:ext>
            </a:extLst>
          </p:cNvPr>
          <p:cNvSpPr>
            <a:spLocks xmlns:a="http://schemas.openxmlformats.org/drawingml/2006/main" noGrp="1"/>
          </p:cNvSpPr>
          <p:nvPr/>
        </p:nvSpPr>
        <p:spPr>
          <a:xfrm xmlns:a="http://schemas.openxmlformats.org/drawingml/2006/main">
            <a:off x="1047750" y="5219700"/>
            <a:ext cx="223837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500" b="0" i="1">
                <a:solidFill>
                  <a:srgbClr val="FFFFFF"/>
                </a:solidFill>
                <a:latin typeface="Arial"/>
                <a:ea typeface="Arial"/>
                <a:cs typeface="Arial"/>
              </a:defRPr>
            </a:pPr>
            <a:r>
              <a:rPr sz="1500" b="0" i="1">
                <a:solidFill>
                  <a:srgbClr val="FFFFFF"/>
                </a:solidFill>
                <a:latin typeface="Arial"/>
                <a:ea typeface="Arial"/>
                <a:cs typeface="Arial"/>
              </a:rPr>
              <a:t>Do Not Delay Wound Care During the Holidays.</a:t>
            </a:r>
          </a:p>
        </p:txBody>
      </p:sp>
      <p:sp>
        <p:nvSpPr>
          <p:cNvPr id="16" name="">
            <a:extLst xmlns:a="http://schemas.openxmlformats.org/drawingml/2006/main">
              <a:ext uri="{FF2B5EF4-FFF2-40B4-BE49-F238E27FC236}">
                <a16:creationId xmlns:a16="http://schemas.microsoft.com/office/drawing/2014/main" id="{DE7529DA-1B50-443C-B2AB-F59ABE41E24E}"/>
              </a:ext>
            </a:extLst>
          </p:cNvPr>
          <p:cNvSpPr>
            <a:spLocks xmlns:a="http://schemas.openxmlformats.org/drawingml/2006/main" noGrp="1"/>
          </p:cNvSpPr>
          <p:nvPr/>
        </p:nvSpPr>
        <p:spPr>
          <a:xfrm xmlns:a="http://schemas.openxmlformats.org/drawingml/2006/main">
            <a:off x="4229100" y="1200150"/>
            <a:ext cx="971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68"/>
          </a:bodyPr>
          <a:lstStyle xmlns:a="http://schemas.openxmlformats.org/drawingml/2006/main"/>
          <a:p xmlns:a="http://schemas.openxmlformats.org/drawingml/2006/main">
            <a:pPr algn="l">
              <a:lnSpc>
                <a:spcPct val="101000"/>
              </a:lnSpc>
              <a:buNone/>
              <a:defRPr sz="2550" b="1" i="0">
                <a:solidFill>
                  <a:srgbClr val="234173"/>
                </a:solidFill>
                <a:latin typeface="Arial"/>
                <a:ea typeface="Arial"/>
                <a:cs typeface="Arial"/>
              </a:defRPr>
            </a:pPr>
            <a:r>
              <a:rPr sz="2550" b="1" i="0">
                <a:solidFill>
                  <a:srgbClr val="234173"/>
                </a:solidFill>
                <a:latin typeface="Arial"/>
                <a:ea typeface="Arial"/>
                <a:cs typeface="Arial"/>
              </a:rPr>
              <a:t>Scale proven channels while protecting continuity of care and January demand.</a:t>
            </a:r>
          </a:p>
        </p:txBody>
      </p:sp>
      <p:sp>
        <p:nvSpPr>
          <p:cNvPr id="17" name="">
            <a:extLst xmlns:a="http://schemas.openxmlformats.org/drawingml/2006/main">
              <a:ext uri="{FF2B5EF4-FFF2-40B4-BE49-F238E27FC236}">
                <a16:creationId xmlns:a16="http://schemas.microsoft.com/office/drawing/2014/main" id="{40C76BCB-7CB3-4FF4-B462-F3D9655CE287}"/>
              </a:ext>
            </a:extLst>
          </p:cNvPr>
          <p:cNvSpPr>
            <a:spLocks xmlns:a="http://schemas.openxmlformats.org/drawingml/2006/main" noGrp="1"/>
          </p:cNvSpPr>
          <p:nvPr/>
        </p:nvSpPr>
        <p:spPr>
          <a:xfrm xmlns:a="http://schemas.openxmlformats.org/drawingml/2006/main">
            <a:off x="4229100" y="2076450"/>
            <a:ext cx="95250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47DA2BB-63A7-4A61-B155-94F101357A1C}"/>
              </a:ext>
            </a:extLst>
          </p:cNvPr>
          <p:cNvSpPr>
            <a:spLocks xmlns:a="http://schemas.openxmlformats.org/drawingml/2006/main" noGrp="1"/>
          </p:cNvSpPr>
          <p:nvPr/>
        </p:nvSpPr>
        <p:spPr>
          <a:xfrm xmlns:a="http://schemas.openxmlformats.org/drawingml/2006/main">
            <a:off x="422910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01</a:t>
            </a:r>
          </a:p>
        </p:txBody>
      </p:sp>
      <p:sp>
        <p:nvSpPr>
          <p:cNvPr id="19" name="">
            <a:extLst xmlns:a="http://schemas.openxmlformats.org/drawingml/2006/main">
              <a:ext uri="{FF2B5EF4-FFF2-40B4-BE49-F238E27FC236}">
                <a16:creationId xmlns:a16="http://schemas.microsoft.com/office/drawing/2014/main" id="{0BA3BC20-FA15-4E01-9161-986BB393A110}"/>
              </a:ext>
            </a:extLst>
          </p:cNvPr>
          <p:cNvSpPr>
            <a:spLocks xmlns:a="http://schemas.openxmlformats.org/drawingml/2006/main" noGrp="1"/>
          </p:cNvSpPr>
          <p:nvPr/>
        </p:nvSpPr>
        <p:spPr>
          <a:xfrm xmlns:a="http://schemas.openxmlformats.org/drawingml/2006/main">
            <a:off x="476250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Increase spend only on ads that generate qualified leads, appointments and plan starts.</a:t>
            </a:r>
          </a:p>
        </p:txBody>
      </p:sp>
      <p:sp>
        <p:nvSpPr>
          <p:cNvPr id="20" name="">
            <a:extLst xmlns:a="http://schemas.openxmlformats.org/drawingml/2006/main">
              <a:ext uri="{FF2B5EF4-FFF2-40B4-BE49-F238E27FC236}">
                <a16:creationId xmlns:a16="http://schemas.microsoft.com/office/drawing/2014/main" id="{20A16838-394A-41D9-AEC8-1EB7B8311165}"/>
              </a:ext>
            </a:extLst>
          </p:cNvPr>
          <p:cNvSpPr>
            <a:spLocks xmlns:a="http://schemas.openxmlformats.org/drawingml/2006/main" noGrp="1"/>
          </p:cNvSpPr>
          <p:nvPr/>
        </p:nvSpPr>
        <p:spPr>
          <a:xfrm xmlns:a="http://schemas.openxmlformats.org/drawingml/2006/main">
            <a:off x="422910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12003EE-8551-4E13-8E19-86C5BA436877}"/>
              </a:ext>
            </a:extLst>
          </p:cNvPr>
          <p:cNvSpPr>
            <a:spLocks xmlns:a="http://schemas.openxmlformats.org/drawingml/2006/main" noGrp="1"/>
          </p:cNvSpPr>
          <p:nvPr/>
        </p:nvSpPr>
        <p:spPr>
          <a:xfrm xmlns:a="http://schemas.openxmlformats.org/drawingml/2006/main">
            <a:off x="422910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02</a:t>
            </a:r>
          </a:p>
        </p:txBody>
      </p:sp>
      <p:sp>
        <p:nvSpPr>
          <p:cNvPr id="22" name="">
            <a:extLst xmlns:a="http://schemas.openxmlformats.org/drawingml/2006/main">
              <a:ext uri="{FF2B5EF4-FFF2-40B4-BE49-F238E27FC236}">
                <a16:creationId xmlns:a16="http://schemas.microsoft.com/office/drawing/2014/main" id="{A603A242-E327-4A70-931C-E77DE352A6D2}"/>
              </a:ext>
            </a:extLst>
          </p:cNvPr>
          <p:cNvSpPr>
            <a:spLocks xmlns:a="http://schemas.openxmlformats.org/drawingml/2006/main" noGrp="1"/>
          </p:cNvSpPr>
          <p:nvPr/>
        </p:nvSpPr>
        <p:spPr>
          <a:xfrm xmlns:a="http://schemas.openxmlformats.org/drawingml/2006/main">
            <a:off x="476250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Reactivate undecided prospects and secure January appointments before the break.</a:t>
            </a:r>
          </a:p>
        </p:txBody>
      </p:sp>
      <p:sp>
        <p:nvSpPr>
          <p:cNvPr id="23" name="">
            <a:extLst xmlns:a="http://schemas.openxmlformats.org/drawingml/2006/main">
              <a:ext uri="{FF2B5EF4-FFF2-40B4-BE49-F238E27FC236}">
                <a16:creationId xmlns:a16="http://schemas.microsoft.com/office/drawing/2014/main" id="{6F92B93B-8FF0-42BD-9D47-2C6AF39B8108}"/>
              </a:ext>
            </a:extLst>
          </p:cNvPr>
          <p:cNvSpPr>
            <a:spLocks xmlns:a="http://schemas.openxmlformats.org/drawingml/2006/main" noGrp="1"/>
          </p:cNvSpPr>
          <p:nvPr/>
        </p:nvSpPr>
        <p:spPr>
          <a:xfrm xmlns:a="http://schemas.openxmlformats.org/drawingml/2006/main">
            <a:off x="422910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BD48953-DF9B-4022-9216-EAF93716A5B3}"/>
              </a:ext>
            </a:extLst>
          </p:cNvPr>
          <p:cNvSpPr>
            <a:spLocks xmlns:a="http://schemas.openxmlformats.org/drawingml/2006/main" noGrp="1"/>
          </p:cNvSpPr>
          <p:nvPr/>
        </p:nvSpPr>
        <p:spPr>
          <a:xfrm xmlns:a="http://schemas.openxmlformats.org/drawingml/2006/main">
            <a:off x="422910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03</a:t>
            </a:r>
          </a:p>
        </p:txBody>
      </p:sp>
      <p:sp>
        <p:nvSpPr>
          <p:cNvPr id="25" name="">
            <a:extLst xmlns:a="http://schemas.openxmlformats.org/drawingml/2006/main">
              <a:ext uri="{FF2B5EF4-FFF2-40B4-BE49-F238E27FC236}">
                <a16:creationId xmlns:a16="http://schemas.microsoft.com/office/drawing/2014/main" id="{22CE343C-A702-40F4-B4FF-9B03AE82FFCC}"/>
              </a:ext>
            </a:extLst>
          </p:cNvPr>
          <p:cNvSpPr>
            <a:spLocks xmlns:a="http://schemas.openxmlformats.org/drawingml/2006/main" noGrp="1"/>
          </p:cNvSpPr>
          <p:nvPr/>
        </p:nvSpPr>
        <p:spPr>
          <a:xfrm xmlns:a="http://schemas.openxmlformats.org/drawingml/2006/main">
            <a:off x="476250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Prepare dressing and follow-up continuity plans for the holiday period.</a:t>
            </a:r>
          </a:p>
        </p:txBody>
      </p:sp>
      <p:sp>
        <p:nvSpPr>
          <p:cNvPr id="26" name="">
            <a:extLst xmlns:a="http://schemas.openxmlformats.org/drawingml/2006/main">
              <a:ext uri="{FF2B5EF4-FFF2-40B4-BE49-F238E27FC236}">
                <a16:creationId xmlns:a16="http://schemas.microsoft.com/office/drawing/2014/main" id="{FF7E767E-0259-42BC-A494-1F67C253C980}"/>
              </a:ext>
            </a:extLst>
          </p:cNvPr>
          <p:cNvSpPr>
            <a:spLocks xmlns:a="http://schemas.openxmlformats.org/drawingml/2006/main" noGrp="1"/>
          </p:cNvSpPr>
          <p:nvPr/>
        </p:nvSpPr>
        <p:spPr>
          <a:xfrm xmlns:a="http://schemas.openxmlformats.org/drawingml/2006/main">
            <a:off x="422910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01559C-AD12-4DA2-ABEB-1B8BEE8A3032}"/>
              </a:ext>
            </a:extLst>
          </p:cNvPr>
          <p:cNvSpPr>
            <a:spLocks xmlns:a="http://schemas.openxmlformats.org/drawingml/2006/main" noGrp="1"/>
          </p:cNvSpPr>
          <p:nvPr/>
        </p:nvSpPr>
        <p:spPr>
          <a:xfrm xmlns:a="http://schemas.openxmlformats.org/drawingml/2006/main">
            <a:off x="9086850" y="24574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239D9F46-2839-4219-B601-D4673DC8AF2D}"/>
              </a:ext>
            </a:extLst>
          </p:cNvPr>
          <p:cNvSpPr>
            <a:spLocks xmlns:a="http://schemas.openxmlformats.org/drawingml/2006/main" noGrp="1"/>
          </p:cNvSpPr>
          <p:nvPr/>
        </p:nvSpPr>
        <p:spPr>
          <a:xfrm xmlns:a="http://schemas.openxmlformats.org/drawingml/2006/main">
            <a:off x="9620250" y="24574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Run satisfaction surveys and review clinical outcomes for August-November cases.</a:t>
            </a:r>
          </a:p>
        </p:txBody>
      </p:sp>
      <p:sp>
        <p:nvSpPr>
          <p:cNvPr id="29" name="">
            <a:extLst xmlns:a="http://schemas.openxmlformats.org/drawingml/2006/main">
              <a:ext uri="{FF2B5EF4-FFF2-40B4-BE49-F238E27FC236}">
                <a16:creationId xmlns:a16="http://schemas.microsoft.com/office/drawing/2014/main" id="{D3771B2B-AB87-469E-A606-EFF296EF033A}"/>
              </a:ext>
            </a:extLst>
          </p:cNvPr>
          <p:cNvSpPr>
            <a:spLocks xmlns:a="http://schemas.openxmlformats.org/drawingml/2006/main" noGrp="1"/>
          </p:cNvSpPr>
          <p:nvPr/>
        </p:nvSpPr>
        <p:spPr>
          <a:xfrm xmlns:a="http://schemas.openxmlformats.org/drawingml/2006/main">
            <a:off x="9086850" y="34480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6A5829B-8598-45CB-812D-206E0452A946}"/>
              </a:ext>
            </a:extLst>
          </p:cNvPr>
          <p:cNvSpPr>
            <a:spLocks xmlns:a="http://schemas.openxmlformats.org/drawingml/2006/main" noGrp="1"/>
          </p:cNvSpPr>
          <p:nvPr/>
        </p:nvSpPr>
        <p:spPr>
          <a:xfrm xmlns:a="http://schemas.openxmlformats.org/drawingml/2006/main">
            <a:off x="9086850" y="37147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05</a:t>
            </a:r>
          </a:p>
        </p:txBody>
      </p:sp>
      <p:sp>
        <p:nvSpPr>
          <p:cNvPr id="31" name="">
            <a:extLst xmlns:a="http://schemas.openxmlformats.org/drawingml/2006/main">
              <a:ext uri="{FF2B5EF4-FFF2-40B4-BE49-F238E27FC236}">
                <a16:creationId xmlns:a16="http://schemas.microsoft.com/office/drawing/2014/main" id="{3AB59FDB-5304-4377-8484-1DD0BAA8E6BA}"/>
              </a:ext>
            </a:extLst>
          </p:cNvPr>
          <p:cNvSpPr>
            <a:spLocks xmlns:a="http://schemas.openxmlformats.org/drawingml/2006/main" noGrp="1"/>
          </p:cNvSpPr>
          <p:nvPr/>
        </p:nvSpPr>
        <p:spPr>
          <a:xfrm xmlns:a="http://schemas.openxmlformats.org/drawingml/2006/main">
            <a:off x="9620250" y="37147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Recognise referral partners professionally without commissions or clinical inducements.</a:t>
            </a:r>
          </a:p>
        </p:txBody>
      </p:sp>
      <p:sp>
        <p:nvSpPr>
          <p:cNvPr id="32" name="">
            <a:extLst xmlns:a="http://schemas.openxmlformats.org/drawingml/2006/main">
              <a:ext uri="{FF2B5EF4-FFF2-40B4-BE49-F238E27FC236}">
                <a16:creationId xmlns:a16="http://schemas.microsoft.com/office/drawing/2014/main" id="{89B72060-E3EE-4428-8610-74F7A2B9ABE0}"/>
              </a:ext>
            </a:extLst>
          </p:cNvPr>
          <p:cNvSpPr>
            <a:spLocks xmlns:a="http://schemas.openxmlformats.org/drawingml/2006/main" noGrp="1"/>
          </p:cNvSpPr>
          <p:nvPr/>
        </p:nvSpPr>
        <p:spPr>
          <a:xfrm xmlns:a="http://schemas.openxmlformats.org/drawingml/2006/main">
            <a:off x="9086850" y="47053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AAB9CCA-2B86-4A62-BD7A-9B8082B0F06A}"/>
              </a:ext>
            </a:extLst>
          </p:cNvPr>
          <p:cNvSpPr>
            <a:spLocks xmlns:a="http://schemas.openxmlformats.org/drawingml/2006/main" noGrp="1"/>
          </p:cNvSpPr>
          <p:nvPr/>
        </p:nvSpPr>
        <p:spPr>
          <a:xfrm xmlns:a="http://schemas.openxmlformats.org/drawingml/2006/main">
            <a:off x="9086850" y="4972050"/>
            <a:ext cx="495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06</a:t>
            </a:r>
          </a:p>
        </p:txBody>
      </p:sp>
      <p:sp>
        <p:nvSpPr>
          <p:cNvPr id="34" name="">
            <a:extLst xmlns:a="http://schemas.openxmlformats.org/drawingml/2006/main">
              <a:ext uri="{FF2B5EF4-FFF2-40B4-BE49-F238E27FC236}">
                <a16:creationId xmlns:a16="http://schemas.microsoft.com/office/drawing/2014/main" id="{51F7D4B7-B72B-4361-A2CB-47AEE02C1651}"/>
              </a:ext>
            </a:extLst>
          </p:cNvPr>
          <p:cNvSpPr>
            <a:spLocks xmlns:a="http://schemas.openxmlformats.org/drawingml/2006/main" noGrp="1"/>
          </p:cNvSpPr>
          <p:nvPr/>
        </p:nvSpPr>
        <p:spPr>
          <a:xfrm xmlns:a="http://schemas.openxmlformats.org/drawingml/2006/main">
            <a:off x="9620250" y="49720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7000"/>
              </a:lnSpc>
              <a:buNone/>
              <a:defRPr sz="1575" b="0" i="0">
                <a:solidFill>
                  <a:srgbClr val="1E293B"/>
                </a:solidFill>
                <a:latin typeface="Arial"/>
                <a:ea typeface="Arial"/>
                <a:cs typeface="Arial"/>
              </a:defRPr>
            </a:pPr>
            <a:r>
              <a:rPr sz="1575" b="0" i="0">
                <a:solidFill>
                  <a:srgbClr val="1E293B"/>
                </a:solidFill>
                <a:latin typeface="Arial"/>
                <a:ea typeface="Arial"/>
                <a:cs typeface="Arial"/>
              </a:rPr>
              <a:t>Present the August-December report and agree the January-June 2027 growth plan.</a:t>
            </a:r>
          </a:p>
        </p:txBody>
      </p:sp>
      <p:sp>
        <p:nvSpPr>
          <p:cNvPr id="35" name="">
            <a:extLst xmlns:a="http://schemas.openxmlformats.org/drawingml/2006/main">
              <a:ext uri="{FF2B5EF4-FFF2-40B4-BE49-F238E27FC236}">
                <a16:creationId xmlns:a16="http://schemas.microsoft.com/office/drawing/2014/main" id="{E1796ADF-8BEC-4C32-8153-BE3CBA13FF86}"/>
              </a:ext>
            </a:extLst>
          </p:cNvPr>
          <p:cNvSpPr>
            <a:spLocks xmlns:a="http://schemas.openxmlformats.org/drawingml/2006/main" noGrp="1"/>
          </p:cNvSpPr>
          <p:nvPr/>
        </p:nvSpPr>
        <p:spPr>
          <a:xfrm xmlns:a="http://schemas.openxmlformats.org/drawingml/2006/main">
            <a:off x="9086850" y="5962650"/>
            <a:ext cx="4248150" cy="19050"/>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6E084E4D-0042-4818-84FC-A800E22BF45E}"/>
              </a:ext>
            </a:extLst>
          </p:cNvPr>
          <p:cNvSpPr>
            <a:spLocks xmlns:a="http://schemas.openxmlformats.org/drawingml/2006/main" noGrp="1"/>
          </p:cNvSpPr>
          <p:nvPr/>
        </p:nvSpPr>
        <p:spPr>
          <a:xfrm xmlns:a="http://schemas.openxmlformats.org/drawingml/2006/main">
            <a:off x="4229100" y="6467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173"/>
                </a:solidFill>
                <a:latin typeface="Arial"/>
                <a:ea typeface="Arial"/>
                <a:cs typeface="Arial"/>
              </a:defRPr>
            </a:pPr>
            <a:r>
              <a:rPr sz="1200" b="1" i="0">
                <a:solidFill>
                  <a:srgbClr val="234173"/>
                </a:solidFill>
                <a:latin typeface="Arial"/>
                <a:ea typeface="Arial"/>
                <a:cs typeface="Arial"/>
              </a:rPr>
              <a:t>Success markers</a:t>
            </a:r>
          </a:p>
        </p:txBody>
      </p:sp>
      <p:sp>
        <p:nvSpPr>
          <p:cNvPr id="37" name="">
            <a:extLst xmlns:a="http://schemas.openxmlformats.org/drawingml/2006/main">
              <a:ext uri="{FF2B5EF4-FFF2-40B4-BE49-F238E27FC236}">
                <a16:creationId xmlns:a16="http://schemas.microsoft.com/office/drawing/2014/main" id="{17183C52-B9EA-48BB-A2D6-C51EB97D7B75}"/>
              </a:ext>
            </a:extLst>
          </p:cNvPr>
          <p:cNvSpPr>
            <a:spLocks xmlns:a="http://schemas.openxmlformats.org/drawingml/2006/main" noGrp="1"/>
          </p:cNvSpPr>
          <p:nvPr/>
        </p:nvSpPr>
        <p:spPr>
          <a:xfrm xmlns:a="http://schemas.openxmlformats.org/drawingml/2006/main">
            <a:off x="4229100" y="6810375"/>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64748B"/>
                </a:solidFill>
                <a:latin typeface="Arial"/>
                <a:ea typeface="Arial"/>
                <a:cs typeface="Arial"/>
              </a:defRPr>
            </a:pPr>
            <a:r>
              <a:rPr sz="1275" b="1" i="0">
                <a:solidFill>
                  <a:srgbClr val="64748B"/>
                </a:solidFill>
                <a:latin typeface="Arial"/>
                <a:ea typeface="Arial"/>
                <a:cs typeface="Arial"/>
              </a:rPr>
              <a:t>150 qualified leads  •  60 assessments booked  •  20 plans started  •  RM100k direction</a:t>
            </a:r>
          </a:p>
        </p:txBody>
      </p:sp>
    </p:spTree>
    <p:extLst>
      <p:ext uri="{BB962C8B-B14F-4D97-AF65-F5344CB8AC3E}">
        <p14:creationId xmlns:p14="http://schemas.microsoft.com/office/powerpoint/2010/main" val="1788139078"/>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adf00582a7344d71"/>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CFF331-F444-4FA5-ACB9-B2B9852AD6F7}"/>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8732C18B-5A4A-4407-9D63-7B881F9B1592}"/>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2FFD037C-857B-4511-A14E-245DC5C827DD}"/>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660853-4536-49F2-A4F2-8570B6C3D4C2}"/>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3BDBB3F-DFD3-44DE-B5AA-319569224F4E}"/>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003C76EA-7CCF-4AD4-B608-0B8233914B71}"/>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F8DFBAF3-5E44-4D4C-8D79-0193A76FA38A}"/>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12</a:t>
            </a:r>
          </a:p>
        </p:txBody>
      </p:sp>
      <p:sp>
        <p:nvSpPr>
          <p:cNvPr id="9" name="">
            <a:extLst xmlns:a="http://schemas.openxmlformats.org/drawingml/2006/main">
              <a:ext uri="{FF2B5EF4-FFF2-40B4-BE49-F238E27FC236}">
                <a16:creationId xmlns:a16="http://schemas.microsoft.com/office/drawing/2014/main" id="{973F95D4-7E46-453F-8E00-756FDEEECF7E}"/>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FUNNEL AND REVENUE TARGETS</a:t>
            </a:r>
          </a:p>
        </p:txBody>
      </p:sp>
      <p:sp>
        <p:nvSpPr>
          <p:cNvPr id="10" name="">
            <a:extLst xmlns:a="http://schemas.openxmlformats.org/drawingml/2006/main">
              <a:ext uri="{FF2B5EF4-FFF2-40B4-BE49-F238E27FC236}">
                <a16:creationId xmlns:a16="http://schemas.microsoft.com/office/drawing/2014/main" id="{86E4A76E-DCF8-401C-9A53-98F7DC14F930}"/>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Stretch targets create a measurable conversion funnel</a:t>
            </a:r>
          </a:p>
        </p:txBody>
      </p:sp>
      <p:graphicFrame>
        <p:nvGraphicFramePr>
          <p:cNvPr id="39" name="Chart"/>
          <p:cNvGraphicFramePr/>
          <p:nvPr/>
        </p:nvGraphicFramePr>
        <p:xfrm>
          <a:off xmlns:a="http://schemas.openxmlformats.org/drawingml/2006/main" x="857250" y="2333625"/>
          <a:ext xmlns:a="http://schemas.openxmlformats.org/drawingml/2006/main" cx="9191625" cy="4667250"/>
        </p:xfrm>
        <a:graphic xmlns:a="http://schemas.openxmlformats.org/drawingml/2006/main">
          <a:graphicData uri="http://schemas.openxmlformats.org/drawingml/2006/chart">
            <c:chart xmlns:r="http://schemas.openxmlformats.org/officeDocument/2006/relationships" xmlns:c="http://schemas.openxmlformats.org/drawingml/2006/chart" r:id="R922d69487e1d4184"/>
          </a:graphicData>
        </a:graphic>
      </p:graphicFrame>
      <p:sp>
        <p:nvSpPr>
          <p:cNvPr id="12" name="">
            <a:extLst xmlns:a="http://schemas.openxmlformats.org/drawingml/2006/main">
              <a:ext uri="{FF2B5EF4-FFF2-40B4-BE49-F238E27FC236}">
                <a16:creationId xmlns:a16="http://schemas.microsoft.com/office/drawing/2014/main" id="{92C4572F-C1FB-48D5-B2A0-90E86DDAAE42}"/>
              </a:ext>
            </a:extLst>
          </p:cNvPr>
          <p:cNvSpPr>
            <a:spLocks xmlns:a="http://schemas.openxmlformats.org/drawingml/2006/main" noGrp="1"/>
          </p:cNvSpPr>
          <p:nvPr/>
        </p:nvSpPr>
        <p:spPr>
          <a:xfrm xmlns:a="http://schemas.openxmlformats.org/drawingml/2006/main">
            <a:off x="10572750" y="2381250"/>
            <a:ext cx="3810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F"/>
            </a:solidFill>
            <a:prstDash val="solid"/>
          </a:ln>
        </p:spPr>
      </p:sp>
      <p:sp>
        <p:nvSpPr>
          <p:cNvPr id="13" name="">
            <a:extLst xmlns:a="http://schemas.openxmlformats.org/drawingml/2006/main">
              <a:ext uri="{FF2B5EF4-FFF2-40B4-BE49-F238E27FC236}">
                <a16:creationId xmlns:a16="http://schemas.microsoft.com/office/drawing/2014/main" id="{A3C63F7F-E2FD-4624-8148-D31339779AA3}"/>
              </a:ext>
            </a:extLst>
          </p:cNvPr>
          <p:cNvSpPr>
            <a:spLocks xmlns:a="http://schemas.openxmlformats.org/drawingml/2006/main" noGrp="1"/>
          </p:cNvSpPr>
          <p:nvPr/>
        </p:nvSpPr>
        <p:spPr>
          <a:xfrm xmlns:a="http://schemas.openxmlformats.org/drawingml/2006/main">
            <a:off x="10934700" y="2714625"/>
            <a:ext cx="3095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64748B"/>
                </a:solidFill>
                <a:latin typeface="Arial"/>
                <a:ea typeface="Arial"/>
                <a:cs typeface="Arial"/>
              </a:defRPr>
            </a:pPr>
            <a:r>
              <a:rPr sz="1125" b="1" i="0">
                <a:solidFill>
                  <a:srgbClr val="64748B"/>
                </a:solidFill>
                <a:latin typeface="Arial"/>
                <a:ea typeface="Arial"/>
                <a:cs typeface="Arial"/>
              </a:rPr>
              <a:t>ACTIVE REFERRAL PARTNERS</a:t>
            </a:r>
          </a:p>
        </p:txBody>
      </p:sp>
      <p:sp>
        <p:nvSpPr>
          <p:cNvPr id="14" name="">
            <a:extLst xmlns:a="http://schemas.openxmlformats.org/drawingml/2006/main">
              <a:ext uri="{FF2B5EF4-FFF2-40B4-BE49-F238E27FC236}">
                <a16:creationId xmlns:a16="http://schemas.microsoft.com/office/drawing/2014/main" id="{89EF9F51-3D2B-41C4-BE37-14AA1A55A6A5}"/>
              </a:ext>
            </a:extLst>
          </p:cNvPr>
          <p:cNvSpPr>
            <a:spLocks xmlns:a="http://schemas.openxmlformats.org/drawingml/2006/main" noGrp="1"/>
          </p:cNvSpPr>
          <p:nvPr/>
        </p:nvSpPr>
        <p:spPr>
          <a:xfrm xmlns:a="http://schemas.openxmlformats.org/drawingml/2006/main">
            <a:off x="10953750" y="32099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AUG</a:t>
            </a:r>
          </a:p>
        </p:txBody>
      </p:sp>
      <p:sp>
        <p:nvSpPr>
          <p:cNvPr id="15" name="">
            <a:extLst xmlns:a="http://schemas.openxmlformats.org/drawingml/2006/main">
              <a:ext uri="{FF2B5EF4-FFF2-40B4-BE49-F238E27FC236}">
                <a16:creationId xmlns:a16="http://schemas.microsoft.com/office/drawing/2014/main" id="{524454DE-513D-4364-9989-77129A1F30AB}"/>
              </a:ext>
            </a:extLst>
          </p:cNvPr>
          <p:cNvSpPr>
            <a:spLocks xmlns:a="http://schemas.openxmlformats.org/drawingml/2006/main" noGrp="1"/>
          </p:cNvSpPr>
          <p:nvPr/>
        </p:nvSpPr>
        <p:spPr>
          <a:xfrm xmlns:a="http://schemas.openxmlformats.org/drawingml/2006/main">
            <a:off x="12763500" y="31718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725" b="1" i="0">
                <a:solidFill>
                  <a:srgbClr val="234173"/>
                </a:solidFill>
                <a:latin typeface="Arial"/>
                <a:ea typeface="Arial"/>
                <a:cs typeface="Arial"/>
              </a:defRPr>
            </a:pPr>
            <a:r>
              <a:rPr sz="1725" b="1" i="0">
                <a:solidFill>
                  <a:srgbClr val="234173"/>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4A384CA3-486C-4307-8A72-80E34DC7D7B9}"/>
              </a:ext>
            </a:extLst>
          </p:cNvPr>
          <p:cNvSpPr>
            <a:spLocks xmlns:a="http://schemas.openxmlformats.org/drawingml/2006/main" noGrp="1"/>
          </p:cNvSpPr>
          <p:nvPr/>
        </p:nvSpPr>
        <p:spPr>
          <a:xfrm xmlns:a="http://schemas.openxmlformats.org/drawingml/2006/main">
            <a:off x="10934700" y="3571875"/>
            <a:ext cx="30861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F608D13-58B5-487F-8F57-C0AF5A13BB6D}"/>
              </a:ext>
            </a:extLst>
          </p:cNvPr>
          <p:cNvSpPr>
            <a:spLocks xmlns:a="http://schemas.openxmlformats.org/drawingml/2006/main" noGrp="1"/>
          </p:cNvSpPr>
          <p:nvPr/>
        </p:nvSpPr>
        <p:spPr>
          <a:xfrm xmlns:a="http://schemas.openxmlformats.org/drawingml/2006/main">
            <a:off x="10953750" y="37909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SEP</a:t>
            </a:r>
          </a:p>
        </p:txBody>
      </p:sp>
      <p:sp>
        <p:nvSpPr>
          <p:cNvPr id="18" name="">
            <a:extLst xmlns:a="http://schemas.openxmlformats.org/drawingml/2006/main">
              <a:ext uri="{FF2B5EF4-FFF2-40B4-BE49-F238E27FC236}">
                <a16:creationId xmlns:a16="http://schemas.microsoft.com/office/drawing/2014/main" id="{49D945D3-9562-47EE-AEDC-BA2FB630B2CA}"/>
              </a:ext>
            </a:extLst>
          </p:cNvPr>
          <p:cNvSpPr>
            <a:spLocks xmlns:a="http://schemas.openxmlformats.org/drawingml/2006/main" noGrp="1"/>
          </p:cNvSpPr>
          <p:nvPr/>
        </p:nvSpPr>
        <p:spPr>
          <a:xfrm xmlns:a="http://schemas.openxmlformats.org/drawingml/2006/main">
            <a:off x="12763500" y="37528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725" b="1" i="0">
                <a:solidFill>
                  <a:srgbClr val="234173"/>
                </a:solidFill>
                <a:latin typeface="Arial"/>
                <a:ea typeface="Arial"/>
                <a:cs typeface="Arial"/>
              </a:defRPr>
            </a:pPr>
            <a:r>
              <a:rPr sz="1725" b="1" i="0">
                <a:solidFill>
                  <a:srgbClr val="234173"/>
                </a:solidFill>
                <a:latin typeface="Arial"/>
                <a:ea typeface="Arial"/>
                <a:cs typeface="Arial"/>
              </a:rPr>
              <a:t>5</a:t>
            </a:r>
          </a:p>
        </p:txBody>
      </p:sp>
      <p:sp>
        <p:nvSpPr>
          <p:cNvPr id="19" name="">
            <a:extLst xmlns:a="http://schemas.openxmlformats.org/drawingml/2006/main">
              <a:ext uri="{FF2B5EF4-FFF2-40B4-BE49-F238E27FC236}">
                <a16:creationId xmlns:a16="http://schemas.microsoft.com/office/drawing/2014/main" id="{0141B9DE-802F-4B17-B6CF-CFBB8BF616B0}"/>
              </a:ext>
            </a:extLst>
          </p:cNvPr>
          <p:cNvSpPr>
            <a:spLocks xmlns:a="http://schemas.openxmlformats.org/drawingml/2006/main" noGrp="1"/>
          </p:cNvSpPr>
          <p:nvPr/>
        </p:nvSpPr>
        <p:spPr>
          <a:xfrm xmlns:a="http://schemas.openxmlformats.org/drawingml/2006/main">
            <a:off x="10934700" y="4152900"/>
            <a:ext cx="30861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46E0206-1337-4B7E-8E4D-CA989BF63194}"/>
              </a:ext>
            </a:extLst>
          </p:cNvPr>
          <p:cNvSpPr>
            <a:spLocks xmlns:a="http://schemas.openxmlformats.org/drawingml/2006/main" noGrp="1"/>
          </p:cNvSpPr>
          <p:nvPr/>
        </p:nvSpPr>
        <p:spPr>
          <a:xfrm xmlns:a="http://schemas.openxmlformats.org/drawingml/2006/main">
            <a:off x="10953750" y="437197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OCT</a:t>
            </a:r>
          </a:p>
        </p:txBody>
      </p:sp>
      <p:sp>
        <p:nvSpPr>
          <p:cNvPr id="21" name="">
            <a:extLst xmlns:a="http://schemas.openxmlformats.org/drawingml/2006/main">
              <a:ext uri="{FF2B5EF4-FFF2-40B4-BE49-F238E27FC236}">
                <a16:creationId xmlns:a16="http://schemas.microsoft.com/office/drawing/2014/main" id="{ABA13E92-D497-4938-BC22-7BDD24BDF99D}"/>
              </a:ext>
            </a:extLst>
          </p:cNvPr>
          <p:cNvSpPr>
            <a:spLocks xmlns:a="http://schemas.openxmlformats.org/drawingml/2006/main" noGrp="1"/>
          </p:cNvSpPr>
          <p:nvPr/>
        </p:nvSpPr>
        <p:spPr>
          <a:xfrm xmlns:a="http://schemas.openxmlformats.org/drawingml/2006/main">
            <a:off x="12763500" y="433387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725" b="1" i="0">
                <a:solidFill>
                  <a:srgbClr val="234173"/>
                </a:solidFill>
                <a:latin typeface="Arial"/>
                <a:ea typeface="Arial"/>
                <a:cs typeface="Arial"/>
              </a:defRPr>
            </a:pPr>
            <a:r>
              <a:rPr sz="1725" b="1" i="0">
                <a:solidFill>
                  <a:srgbClr val="234173"/>
                </a:solidFill>
                <a:latin typeface="Arial"/>
                <a:ea typeface="Arial"/>
                <a:cs typeface="Arial"/>
              </a:rPr>
              <a:t>8</a:t>
            </a:r>
          </a:p>
        </p:txBody>
      </p:sp>
      <p:sp>
        <p:nvSpPr>
          <p:cNvPr id="22" name="">
            <a:extLst xmlns:a="http://schemas.openxmlformats.org/drawingml/2006/main">
              <a:ext uri="{FF2B5EF4-FFF2-40B4-BE49-F238E27FC236}">
                <a16:creationId xmlns:a16="http://schemas.microsoft.com/office/drawing/2014/main" id="{2952FDDD-70B1-4A1E-ACED-3C71782014B6}"/>
              </a:ext>
            </a:extLst>
          </p:cNvPr>
          <p:cNvSpPr>
            <a:spLocks xmlns:a="http://schemas.openxmlformats.org/drawingml/2006/main" noGrp="1"/>
          </p:cNvSpPr>
          <p:nvPr/>
        </p:nvSpPr>
        <p:spPr>
          <a:xfrm xmlns:a="http://schemas.openxmlformats.org/drawingml/2006/main">
            <a:off x="10934700" y="4733925"/>
            <a:ext cx="30861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7808E96-98E7-4B43-9A7C-486436A54505}"/>
              </a:ext>
            </a:extLst>
          </p:cNvPr>
          <p:cNvSpPr>
            <a:spLocks xmlns:a="http://schemas.openxmlformats.org/drawingml/2006/main" noGrp="1"/>
          </p:cNvSpPr>
          <p:nvPr/>
        </p:nvSpPr>
        <p:spPr>
          <a:xfrm xmlns:a="http://schemas.openxmlformats.org/drawingml/2006/main">
            <a:off x="10953750" y="49530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NOV</a:t>
            </a:r>
          </a:p>
        </p:txBody>
      </p:sp>
      <p:sp>
        <p:nvSpPr>
          <p:cNvPr id="24" name="">
            <a:extLst xmlns:a="http://schemas.openxmlformats.org/drawingml/2006/main">
              <a:ext uri="{FF2B5EF4-FFF2-40B4-BE49-F238E27FC236}">
                <a16:creationId xmlns:a16="http://schemas.microsoft.com/office/drawing/2014/main" id="{6A17CDB8-0F26-43AB-B699-894FBBE1966B}"/>
              </a:ext>
            </a:extLst>
          </p:cNvPr>
          <p:cNvSpPr>
            <a:spLocks xmlns:a="http://schemas.openxmlformats.org/drawingml/2006/main" noGrp="1"/>
          </p:cNvSpPr>
          <p:nvPr/>
        </p:nvSpPr>
        <p:spPr>
          <a:xfrm xmlns:a="http://schemas.openxmlformats.org/drawingml/2006/main">
            <a:off x="12763500" y="491490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725" b="1" i="0">
                <a:solidFill>
                  <a:srgbClr val="234173"/>
                </a:solidFill>
                <a:latin typeface="Arial"/>
                <a:ea typeface="Arial"/>
                <a:cs typeface="Arial"/>
              </a:defRPr>
            </a:pPr>
            <a:r>
              <a:rPr sz="1725" b="1" i="0">
                <a:solidFill>
                  <a:srgbClr val="234173"/>
                </a:solidFill>
                <a:latin typeface="Arial"/>
                <a:ea typeface="Arial"/>
                <a:cs typeface="Arial"/>
              </a:rPr>
              <a:t>12</a:t>
            </a:r>
          </a:p>
        </p:txBody>
      </p:sp>
      <p:sp>
        <p:nvSpPr>
          <p:cNvPr id="25" name="">
            <a:extLst xmlns:a="http://schemas.openxmlformats.org/drawingml/2006/main">
              <a:ext uri="{FF2B5EF4-FFF2-40B4-BE49-F238E27FC236}">
                <a16:creationId xmlns:a16="http://schemas.microsoft.com/office/drawing/2014/main" id="{44736948-CF6E-46BA-A7E1-1CC47C46A17F}"/>
              </a:ext>
            </a:extLst>
          </p:cNvPr>
          <p:cNvSpPr>
            <a:spLocks xmlns:a="http://schemas.openxmlformats.org/drawingml/2006/main" noGrp="1"/>
          </p:cNvSpPr>
          <p:nvPr/>
        </p:nvSpPr>
        <p:spPr>
          <a:xfrm xmlns:a="http://schemas.openxmlformats.org/drawingml/2006/main">
            <a:off x="10934700" y="5314950"/>
            <a:ext cx="30861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C9F674D-2DAF-4633-A4BA-1B87DB5B6753}"/>
              </a:ext>
            </a:extLst>
          </p:cNvPr>
          <p:cNvSpPr>
            <a:spLocks xmlns:a="http://schemas.openxmlformats.org/drawingml/2006/main" noGrp="1"/>
          </p:cNvSpPr>
          <p:nvPr/>
        </p:nvSpPr>
        <p:spPr>
          <a:xfrm xmlns:a="http://schemas.openxmlformats.org/drawingml/2006/main">
            <a:off x="10953750" y="5534025"/>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DEC</a:t>
            </a:r>
          </a:p>
        </p:txBody>
      </p:sp>
      <p:sp>
        <p:nvSpPr>
          <p:cNvPr id="27" name="">
            <a:extLst xmlns:a="http://schemas.openxmlformats.org/drawingml/2006/main">
              <a:ext uri="{FF2B5EF4-FFF2-40B4-BE49-F238E27FC236}">
                <a16:creationId xmlns:a16="http://schemas.microsoft.com/office/drawing/2014/main" id="{EFAFF9AF-6AE5-44BC-A730-C4A850708FF7}"/>
              </a:ext>
            </a:extLst>
          </p:cNvPr>
          <p:cNvSpPr>
            <a:spLocks xmlns:a="http://schemas.openxmlformats.org/drawingml/2006/main" noGrp="1"/>
          </p:cNvSpPr>
          <p:nvPr/>
        </p:nvSpPr>
        <p:spPr>
          <a:xfrm xmlns:a="http://schemas.openxmlformats.org/drawingml/2006/main">
            <a:off x="12763500" y="5495925"/>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725" b="1" i="0">
                <a:solidFill>
                  <a:srgbClr val="234173"/>
                </a:solidFill>
                <a:latin typeface="Arial"/>
                <a:ea typeface="Arial"/>
                <a:cs typeface="Arial"/>
              </a:defRPr>
            </a:pPr>
            <a:r>
              <a:rPr sz="1725" b="1" i="0">
                <a:solidFill>
                  <a:srgbClr val="234173"/>
                </a:solidFill>
                <a:latin typeface="Arial"/>
                <a:ea typeface="Arial"/>
                <a:cs typeface="Arial"/>
              </a:rPr>
              <a:t>15</a:t>
            </a:r>
          </a:p>
        </p:txBody>
      </p:sp>
      <p:sp>
        <p:nvSpPr>
          <p:cNvPr id="28" name="">
            <a:extLst xmlns:a="http://schemas.openxmlformats.org/drawingml/2006/main">
              <a:ext uri="{FF2B5EF4-FFF2-40B4-BE49-F238E27FC236}">
                <a16:creationId xmlns:a16="http://schemas.microsoft.com/office/drawing/2014/main" id="{621D6DBF-485F-4A44-A4F7-5DA3E7B60A5C}"/>
              </a:ext>
            </a:extLst>
          </p:cNvPr>
          <p:cNvSpPr>
            <a:spLocks xmlns:a="http://schemas.openxmlformats.org/drawingml/2006/main" noGrp="1"/>
          </p:cNvSpPr>
          <p:nvPr/>
        </p:nvSpPr>
        <p:spPr>
          <a:xfrm xmlns:a="http://schemas.openxmlformats.org/drawingml/2006/main">
            <a:off x="10572750" y="6705600"/>
            <a:ext cx="3810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275" b="1" i="0">
                <a:solidFill>
                  <a:srgbClr val="64748B"/>
                </a:solidFill>
                <a:latin typeface="Arial"/>
                <a:ea typeface="Arial"/>
                <a:cs typeface="Arial"/>
              </a:defRPr>
            </a:pPr>
            <a:r>
              <a:rPr sz="1275" b="1" i="0">
                <a:solidFill>
                  <a:srgbClr val="64748B"/>
                </a:solidFill>
                <a:latin typeface="Arial"/>
                <a:ea typeface="Arial"/>
                <a:cs typeface="Arial"/>
              </a:rPr>
              <a:t>These are initial stretch targets. Calibrate them against clinic capacity, package pricing, supply and the July baseline.</a:t>
            </a:r>
          </a:p>
        </p:txBody>
      </p:sp>
    </p:spTree>
    <p:extLst>
      <p:ext uri="{BB962C8B-B14F-4D97-AF65-F5344CB8AC3E}">
        <p14:creationId xmlns:p14="http://schemas.microsoft.com/office/powerpoint/2010/main" val="21137547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30f1596c155419b"/>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AC9653C-2E36-4084-9DF5-7BAE69F22A99}"/>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B4B35A53-C361-4EBD-84D3-6DEEF42B8B19}"/>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5AA1C6A5-C109-45F9-B7AA-F2C3117AFF53}"/>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6A14A2D-9AD4-4270-B14A-B8AE3C6BACDC}"/>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76AE69-7A65-405E-9827-0D9F9D681838}"/>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645B7AAB-D04F-425E-AF4D-369C7B098AF6}"/>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1984E11C-D487-4363-97C5-CEDB66080C2E}"/>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13</a:t>
            </a:r>
          </a:p>
        </p:txBody>
      </p:sp>
      <p:sp>
        <p:nvSpPr>
          <p:cNvPr id="9" name="">
            <a:extLst xmlns:a="http://schemas.openxmlformats.org/drawingml/2006/main">
              <a:ext uri="{FF2B5EF4-FFF2-40B4-BE49-F238E27FC236}">
                <a16:creationId xmlns:a16="http://schemas.microsoft.com/office/drawing/2014/main" id="{88084929-E8CF-4508-BB27-AB5F18F6D5FA}"/>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PROPOSED CLINIC REVENUE RAMP</a:t>
            </a:r>
          </a:p>
        </p:txBody>
      </p:sp>
      <p:sp>
        <p:nvSpPr>
          <p:cNvPr id="10" name="">
            <a:extLst xmlns:a="http://schemas.openxmlformats.org/drawingml/2006/main">
              <a:ext uri="{FF2B5EF4-FFF2-40B4-BE49-F238E27FC236}">
                <a16:creationId xmlns:a16="http://schemas.microsoft.com/office/drawing/2014/main" id="{8A6AD59A-94AB-48DB-96D4-EF35674194AB}"/>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Close the revenue gap in controlled stages</a:t>
            </a:r>
          </a:p>
        </p:txBody>
      </p:sp>
      <p:sp>
        <p:nvSpPr>
          <p:cNvPr id="11" name="">
            <a:extLst xmlns:a="http://schemas.openxmlformats.org/drawingml/2006/main">
              <a:ext uri="{FF2B5EF4-FFF2-40B4-BE49-F238E27FC236}">
                <a16:creationId xmlns:a16="http://schemas.microsoft.com/office/drawing/2014/main" id="{AF0F86EE-F17C-436C-BDA3-28740A3E817D}"/>
              </a:ext>
            </a:extLst>
          </p:cNvPr>
          <p:cNvSpPr>
            <a:spLocks xmlns:a="http://schemas.openxmlformats.org/drawingml/2006/main" noGrp="1"/>
          </p:cNvSpPr>
          <p:nvPr/>
        </p:nvSpPr>
        <p:spPr>
          <a:xfrm xmlns:a="http://schemas.openxmlformats.org/drawingml/2006/main">
            <a:off x="857250" y="2286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173"/>
                </a:solidFill>
                <a:latin typeface="Arial"/>
                <a:ea typeface="Arial"/>
                <a:cs typeface="Arial"/>
              </a:defRPr>
            </a:pPr>
            <a:r>
              <a:rPr sz="1425" b="1" i="0">
                <a:solidFill>
                  <a:srgbClr val="234173"/>
                </a:solidFill>
                <a:latin typeface="Arial"/>
                <a:ea typeface="Arial"/>
                <a:cs typeface="Arial"/>
              </a:rPr>
              <a:t>B = actual July revenue baseline</a:t>
            </a:r>
          </a:p>
        </p:txBody>
      </p:sp>
      <p:sp>
        <p:nvSpPr>
          <p:cNvPr id="12" name="">
            <a:extLst xmlns:a="http://schemas.openxmlformats.org/drawingml/2006/main">
              <a:ext uri="{FF2B5EF4-FFF2-40B4-BE49-F238E27FC236}">
                <a16:creationId xmlns:a16="http://schemas.microsoft.com/office/drawing/2014/main" id="{15BA375C-A886-4771-B990-B3FC84865671}"/>
              </a:ext>
            </a:extLst>
          </p:cNvPr>
          <p:cNvSpPr>
            <a:spLocks xmlns:a="http://schemas.openxmlformats.org/drawingml/2006/main" noGrp="1"/>
          </p:cNvSpPr>
          <p:nvPr/>
        </p:nvSpPr>
        <p:spPr>
          <a:xfrm xmlns:a="http://schemas.openxmlformats.org/drawingml/2006/main">
            <a:off x="857250" y="26289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538AC3"/>
                </a:solidFill>
                <a:latin typeface="Arial"/>
                <a:ea typeface="Arial"/>
                <a:cs typeface="Arial"/>
              </a:defRPr>
            </a:pPr>
            <a:r>
              <a:rPr sz="1425" b="1" i="0">
                <a:solidFill>
                  <a:srgbClr val="538AC3"/>
                </a:solidFill>
                <a:latin typeface="Arial"/>
                <a:ea typeface="Arial"/>
                <a:cs typeface="Arial"/>
              </a:rPr>
              <a:t>M = RM100,000 December target</a:t>
            </a:r>
          </a:p>
        </p:txBody>
      </p:sp>
      <p:graphicFrame>
        <p:nvGraphicFramePr>
          <p:cNvPr id="43" name="Chart"/>
          <p:cNvGraphicFramePr/>
          <p:nvPr/>
        </p:nvGraphicFramePr>
        <p:xfrm>
          <a:off xmlns:a="http://schemas.openxmlformats.org/drawingml/2006/main" x="857250" y="3143250"/>
          <a:ext xmlns:a="http://schemas.openxmlformats.org/drawingml/2006/main" cx="9096375" cy="3810000"/>
        </p:xfrm>
        <a:graphic xmlns:a="http://schemas.openxmlformats.org/drawingml/2006/main">
          <a:graphicData uri="http://schemas.openxmlformats.org/drawingml/2006/chart">
            <c:chart xmlns:r="http://schemas.openxmlformats.org/officeDocument/2006/relationships" xmlns:c="http://schemas.openxmlformats.org/drawingml/2006/chart" r:id="Rad4356c74ade45ef"/>
          </a:graphicData>
        </a:graphic>
      </p:graphicFrame>
      <p:sp>
        <p:nvSpPr>
          <p:cNvPr id="14" name="">
            <a:extLst xmlns:a="http://schemas.openxmlformats.org/drawingml/2006/main">
              <a:ext uri="{FF2B5EF4-FFF2-40B4-BE49-F238E27FC236}">
                <a16:creationId xmlns:a16="http://schemas.microsoft.com/office/drawing/2014/main" id="{6CBEBD84-C612-4B0D-9ED8-F6BFCC296704}"/>
              </a:ext>
            </a:extLst>
          </p:cNvPr>
          <p:cNvSpPr>
            <a:spLocks xmlns:a="http://schemas.openxmlformats.org/drawingml/2006/main" noGrp="1"/>
          </p:cNvSpPr>
          <p:nvPr/>
        </p:nvSpPr>
        <p:spPr>
          <a:xfrm xmlns:a="http://schemas.openxmlformats.org/drawingml/2006/main">
            <a:off x="10572750" y="2238375"/>
            <a:ext cx="3810000" cy="476250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820624E-6960-4AFC-B9C1-144009159C5D}"/>
              </a:ext>
            </a:extLst>
          </p:cNvPr>
          <p:cNvSpPr>
            <a:spLocks xmlns:a="http://schemas.openxmlformats.org/drawingml/2006/main" noGrp="1"/>
          </p:cNvSpPr>
          <p:nvPr/>
        </p:nvSpPr>
        <p:spPr>
          <a:xfrm xmlns:a="http://schemas.openxmlformats.org/drawingml/2006/main">
            <a:off x="10906125" y="26098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C9D8EB"/>
                </a:solidFill>
                <a:latin typeface="Arial"/>
                <a:ea typeface="Arial"/>
                <a:cs typeface="Arial"/>
              </a:defRPr>
            </a:pPr>
            <a:r>
              <a:rPr sz="1125" b="1" i="0">
                <a:solidFill>
                  <a:srgbClr val="C9D8EB"/>
                </a:solidFill>
                <a:latin typeface="Arial"/>
                <a:ea typeface="Arial"/>
                <a:cs typeface="Arial"/>
              </a:rPr>
              <a:t>SHARE OF GAP CLOSED</a:t>
            </a:r>
          </a:p>
        </p:txBody>
      </p:sp>
      <p:sp>
        <p:nvSpPr>
          <p:cNvPr id="16" name="">
            <a:extLst xmlns:a="http://schemas.openxmlformats.org/drawingml/2006/main">
              <a:ext uri="{FF2B5EF4-FFF2-40B4-BE49-F238E27FC236}">
                <a16:creationId xmlns:a16="http://schemas.microsoft.com/office/drawing/2014/main" id="{E1179C2E-64D1-49B2-92C4-EAB8A480CEDD}"/>
              </a:ext>
            </a:extLst>
          </p:cNvPr>
          <p:cNvSpPr>
            <a:spLocks xmlns:a="http://schemas.openxmlformats.org/drawingml/2006/main" noGrp="1"/>
          </p:cNvSpPr>
          <p:nvPr/>
        </p:nvSpPr>
        <p:spPr>
          <a:xfrm xmlns:a="http://schemas.openxmlformats.org/drawingml/2006/main">
            <a:off x="11001375" y="31623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AUG</a:t>
            </a:r>
          </a:p>
        </p:txBody>
      </p:sp>
      <p:sp>
        <p:nvSpPr>
          <p:cNvPr id="17" name="">
            <a:extLst xmlns:a="http://schemas.openxmlformats.org/drawingml/2006/main">
              <a:ext uri="{FF2B5EF4-FFF2-40B4-BE49-F238E27FC236}">
                <a16:creationId xmlns:a16="http://schemas.microsoft.com/office/drawing/2014/main" id="{D5186EA5-C57F-4B9B-BC09-B1A9F63F5E49}"/>
              </a:ext>
            </a:extLst>
          </p:cNvPr>
          <p:cNvSpPr>
            <a:spLocks xmlns:a="http://schemas.openxmlformats.org/drawingml/2006/main" noGrp="1"/>
          </p:cNvSpPr>
          <p:nvPr/>
        </p:nvSpPr>
        <p:spPr>
          <a:xfrm xmlns:a="http://schemas.openxmlformats.org/drawingml/2006/main">
            <a:off x="12525375" y="31242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800" b="1" i="0">
                <a:solidFill>
                  <a:srgbClr val="FFFFFF"/>
                </a:solidFill>
                <a:latin typeface="Arial"/>
                <a:ea typeface="Arial"/>
                <a:cs typeface="Arial"/>
              </a:defRPr>
            </a:pPr>
            <a:r>
              <a:rPr sz="1800" b="1" i="0">
                <a:solidFill>
                  <a:srgbClr val="FFFFFF"/>
                </a:solidFill>
                <a:latin typeface="Arial"/>
                <a:ea typeface="Arial"/>
                <a:cs typeface="Arial"/>
              </a:rPr>
              <a:t>20%</a:t>
            </a:r>
          </a:p>
        </p:txBody>
      </p:sp>
      <p:sp>
        <p:nvSpPr>
          <p:cNvPr id="18" name="">
            <a:extLst xmlns:a="http://schemas.openxmlformats.org/drawingml/2006/main">
              <a:ext uri="{FF2B5EF4-FFF2-40B4-BE49-F238E27FC236}">
                <a16:creationId xmlns:a16="http://schemas.microsoft.com/office/drawing/2014/main" id="{B58E1FEF-EAF8-4EBB-9E79-4FCE14FFBC6A}"/>
              </a:ext>
            </a:extLst>
          </p:cNvPr>
          <p:cNvSpPr>
            <a:spLocks xmlns:a="http://schemas.openxmlformats.org/drawingml/2006/main" noGrp="1"/>
          </p:cNvSpPr>
          <p:nvPr/>
        </p:nvSpPr>
        <p:spPr>
          <a:xfrm xmlns:a="http://schemas.openxmlformats.org/drawingml/2006/main">
            <a:off x="10953750" y="3533775"/>
            <a:ext cx="3000375"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B1C82DE-0EDC-44AC-B887-E511BA1FD614}"/>
              </a:ext>
            </a:extLst>
          </p:cNvPr>
          <p:cNvSpPr>
            <a:spLocks xmlns:a="http://schemas.openxmlformats.org/drawingml/2006/main" noGrp="1"/>
          </p:cNvSpPr>
          <p:nvPr/>
        </p:nvSpPr>
        <p:spPr>
          <a:xfrm xmlns:a="http://schemas.openxmlformats.org/drawingml/2006/main">
            <a:off x="11001375" y="37528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SEP</a:t>
            </a:r>
          </a:p>
        </p:txBody>
      </p:sp>
      <p:sp>
        <p:nvSpPr>
          <p:cNvPr id="20" name="">
            <a:extLst xmlns:a="http://schemas.openxmlformats.org/drawingml/2006/main">
              <a:ext uri="{FF2B5EF4-FFF2-40B4-BE49-F238E27FC236}">
                <a16:creationId xmlns:a16="http://schemas.microsoft.com/office/drawing/2014/main" id="{18134D43-3CEF-41CB-A637-DA2DCE2C3F2C}"/>
              </a:ext>
            </a:extLst>
          </p:cNvPr>
          <p:cNvSpPr>
            <a:spLocks xmlns:a="http://schemas.openxmlformats.org/drawingml/2006/main" noGrp="1"/>
          </p:cNvSpPr>
          <p:nvPr/>
        </p:nvSpPr>
        <p:spPr>
          <a:xfrm xmlns:a="http://schemas.openxmlformats.org/drawingml/2006/main">
            <a:off x="12525375" y="37147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800" b="1" i="0">
                <a:solidFill>
                  <a:srgbClr val="FFFFFF"/>
                </a:solidFill>
                <a:latin typeface="Arial"/>
                <a:ea typeface="Arial"/>
                <a:cs typeface="Arial"/>
              </a:defRPr>
            </a:pPr>
            <a:r>
              <a:rPr sz="1800" b="1" i="0">
                <a:solidFill>
                  <a:srgbClr val="FFFFFF"/>
                </a:solidFill>
                <a:latin typeface="Arial"/>
                <a:ea typeface="Arial"/>
                <a:cs typeface="Arial"/>
              </a:rPr>
              <a:t>40%</a:t>
            </a:r>
          </a:p>
        </p:txBody>
      </p:sp>
      <p:sp>
        <p:nvSpPr>
          <p:cNvPr id="21" name="">
            <a:extLst xmlns:a="http://schemas.openxmlformats.org/drawingml/2006/main">
              <a:ext uri="{FF2B5EF4-FFF2-40B4-BE49-F238E27FC236}">
                <a16:creationId xmlns:a16="http://schemas.microsoft.com/office/drawing/2014/main" id="{9C4BAFBE-4C0B-472E-B75A-A0DB577B34DC}"/>
              </a:ext>
            </a:extLst>
          </p:cNvPr>
          <p:cNvSpPr>
            <a:spLocks xmlns:a="http://schemas.openxmlformats.org/drawingml/2006/main" noGrp="1"/>
          </p:cNvSpPr>
          <p:nvPr/>
        </p:nvSpPr>
        <p:spPr>
          <a:xfrm xmlns:a="http://schemas.openxmlformats.org/drawingml/2006/main">
            <a:off x="10953750" y="4124325"/>
            <a:ext cx="3000375"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ED2D54-B7C8-45FD-B4E8-EEC2357224EA}"/>
              </a:ext>
            </a:extLst>
          </p:cNvPr>
          <p:cNvSpPr>
            <a:spLocks xmlns:a="http://schemas.openxmlformats.org/drawingml/2006/main" noGrp="1"/>
          </p:cNvSpPr>
          <p:nvPr/>
        </p:nvSpPr>
        <p:spPr>
          <a:xfrm xmlns:a="http://schemas.openxmlformats.org/drawingml/2006/main">
            <a:off x="11001375" y="43434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OCT</a:t>
            </a:r>
          </a:p>
        </p:txBody>
      </p:sp>
      <p:sp>
        <p:nvSpPr>
          <p:cNvPr id="23" name="">
            <a:extLst xmlns:a="http://schemas.openxmlformats.org/drawingml/2006/main">
              <a:ext uri="{FF2B5EF4-FFF2-40B4-BE49-F238E27FC236}">
                <a16:creationId xmlns:a16="http://schemas.microsoft.com/office/drawing/2014/main" id="{C154E150-DAE4-4672-BFDD-AD7D22615D49}"/>
              </a:ext>
            </a:extLst>
          </p:cNvPr>
          <p:cNvSpPr>
            <a:spLocks xmlns:a="http://schemas.openxmlformats.org/drawingml/2006/main" noGrp="1"/>
          </p:cNvSpPr>
          <p:nvPr/>
        </p:nvSpPr>
        <p:spPr>
          <a:xfrm xmlns:a="http://schemas.openxmlformats.org/drawingml/2006/main">
            <a:off x="12525375" y="43053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800" b="1" i="0">
                <a:solidFill>
                  <a:srgbClr val="FFFFFF"/>
                </a:solidFill>
                <a:latin typeface="Arial"/>
                <a:ea typeface="Arial"/>
                <a:cs typeface="Arial"/>
              </a:defRPr>
            </a:pPr>
            <a:r>
              <a:rPr sz="1800" b="1" i="0">
                <a:solidFill>
                  <a:srgbClr val="FFFFFF"/>
                </a:solidFill>
                <a:latin typeface="Arial"/>
                <a:ea typeface="Arial"/>
                <a:cs typeface="Arial"/>
              </a:rPr>
              <a:t>60%</a:t>
            </a:r>
          </a:p>
        </p:txBody>
      </p:sp>
      <p:sp>
        <p:nvSpPr>
          <p:cNvPr id="24" name="">
            <a:extLst xmlns:a="http://schemas.openxmlformats.org/drawingml/2006/main">
              <a:ext uri="{FF2B5EF4-FFF2-40B4-BE49-F238E27FC236}">
                <a16:creationId xmlns:a16="http://schemas.microsoft.com/office/drawing/2014/main" id="{C880D451-2B36-476B-929F-D21BB987E32F}"/>
              </a:ext>
            </a:extLst>
          </p:cNvPr>
          <p:cNvSpPr>
            <a:spLocks xmlns:a="http://schemas.openxmlformats.org/drawingml/2006/main" noGrp="1"/>
          </p:cNvSpPr>
          <p:nvPr/>
        </p:nvSpPr>
        <p:spPr>
          <a:xfrm xmlns:a="http://schemas.openxmlformats.org/drawingml/2006/main">
            <a:off x="10953750" y="4714875"/>
            <a:ext cx="3000375"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39E19C7-9B64-43DA-99C2-225C7CC12563}"/>
              </a:ext>
            </a:extLst>
          </p:cNvPr>
          <p:cNvSpPr>
            <a:spLocks xmlns:a="http://schemas.openxmlformats.org/drawingml/2006/main" noGrp="1"/>
          </p:cNvSpPr>
          <p:nvPr/>
        </p:nvSpPr>
        <p:spPr>
          <a:xfrm xmlns:a="http://schemas.openxmlformats.org/drawingml/2006/main">
            <a:off x="11001375" y="4933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NOV</a:t>
            </a:r>
          </a:p>
        </p:txBody>
      </p:sp>
      <p:sp>
        <p:nvSpPr>
          <p:cNvPr id="26" name="">
            <a:extLst xmlns:a="http://schemas.openxmlformats.org/drawingml/2006/main">
              <a:ext uri="{FF2B5EF4-FFF2-40B4-BE49-F238E27FC236}">
                <a16:creationId xmlns:a16="http://schemas.microsoft.com/office/drawing/2014/main" id="{CA94BAE6-3F67-43EA-BE4A-7E483DED1A16}"/>
              </a:ext>
            </a:extLst>
          </p:cNvPr>
          <p:cNvSpPr>
            <a:spLocks xmlns:a="http://schemas.openxmlformats.org/drawingml/2006/main" noGrp="1"/>
          </p:cNvSpPr>
          <p:nvPr/>
        </p:nvSpPr>
        <p:spPr>
          <a:xfrm xmlns:a="http://schemas.openxmlformats.org/drawingml/2006/main">
            <a:off x="12525375" y="489585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800" b="1" i="0">
                <a:solidFill>
                  <a:srgbClr val="FFFFFF"/>
                </a:solidFill>
                <a:latin typeface="Arial"/>
                <a:ea typeface="Arial"/>
                <a:cs typeface="Arial"/>
              </a:defRPr>
            </a:pPr>
            <a:r>
              <a:rPr sz="1800" b="1" i="0">
                <a:solidFill>
                  <a:srgbClr val="FFFFFF"/>
                </a:solidFill>
                <a:latin typeface="Arial"/>
                <a:ea typeface="Arial"/>
                <a:cs typeface="Arial"/>
              </a:rPr>
              <a:t>80%</a:t>
            </a:r>
          </a:p>
        </p:txBody>
      </p:sp>
      <p:sp>
        <p:nvSpPr>
          <p:cNvPr id="27" name="">
            <a:extLst xmlns:a="http://schemas.openxmlformats.org/drawingml/2006/main">
              <a:ext uri="{FF2B5EF4-FFF2-40B4-BE49-F238E27FC236}">
                <a16:creationId xmlns:a16="http://schemas.microsoft.com/office/drawing/2014/main" id="{422D1244-D3DE-4966-B1C2-0C50A12D909D}"/>
              </a:ext>
            </a:extLst>
          </p:cNvPr>
          <p:cNvSpPr>
            <a:spLocks xmlns:a="http://schemas.openxmlformats.org/drawingml/2006/main" noGrp="1"/>
          </p:cNvSpPr>
          <p:nvPr/>
        </p:nvSpPr>
        <p:spPr>
          <a:xfrm xmlns:a="http://schemas.openxmlformats.org/drawingml/2006/main">
            <a:off x="10953750" y="5305425"/>
            <a:ext cx="3000375"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DB2B489-6DDB-49D0-949E-2CBFEFAE52CC}"/>
              </a:ext>
            </a:extLst>
          </p:cNvPr>
          <p:cNvSpPr>
            <a:spLocks xmlns:a="http://schemas.openxmlformats.org/drawingml/2006/main" noGrp="1"/>
          </p:cNvSpPr>
          <p:nvPr/>
        </p:nvSpPr>
        <p:spPr>
          <a:xfrm xmlns:a="http://schemas.openxmlformats.org/drawingml/2006/main">
            <a:off x="11001375" y="55245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DEC</a:t>
            </a:r>
          </a:p>
        </p:txBody>
      </p:sp>
      <p:sp>
        <p:nvSpPr>
          <p:cNvPr id="29" name="">
            <a:extLst xmlns:a="http://schemas.openxmlformats.org/drawingml/2006/main">
              <a:ext uri="{FF2B5EF4-FFF2-40B4-BE49-F238E27FC236}">
                <a16:creationId xmlns:a16="http://schemas.microsoft.com/office/drawing/2014/main" id="{BFAFCA52-734C-4811-B00A-756AEEFAEE27}"/>
              </a:ext>
            </a:extLst>
          </p:cNvPr>
          <p:cNvSpPr>
            <a:spLocks xmlns:a="http://schemas.openxmlformats.org/drawingml/2006/main" noGrp="1"/>
          </p:cNvSpPr>
          <p:nvPr/>
        </p:nvSpPr>
        <p:spPr>
          <a:xfrm xmlns:a="http://schemas.openxmlformats.org/drawingml/2006/main">
            <a:off x="12525375" y="54864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800" b="1" i="0">
                <a:solidFill>
                  <a:srgbClr val="FFFFFF"/>
                </a:solidFill>
                <a:latin typeface="Arial"/>
                <a:ea typeface="Arial"/>
                <a:cs typeface="Arial"/>
              </a:defRPr>
            </a:pPr>
            <a:r>
              <a:rPr sz="1800" b="1" i="0">
                <a:solidFill>
                  <a:srgbClr val="FFFFFF"/>
                </a:solidFill>
                <a:latin typeface="Arial"/>
                <a:ea typeface="Arial"/>
                <a:cs typeface="Arial"/>
              </a:rPr>
              <a:t>100%</a:t>
            </a:r>
          </a:p>
        </p:txBody>
      </p:sp>
      <p:sp>
        <p:nvSpPr>
          <p:cNvPr id="30" name="">
            <a:extLst xmlns:a="http://schemas.openxmlformats.org/drawingml/2006/main">
              <a:ext uri="{FF2B5EF4-FFF2-40B4-BE49-F238E27FC236}">
                <a16:creationId xmlns:a16="http://schemas.microsoft.com/office/drawing/2014/main" id="{AABD819B-0440-4AAC-8480-131867BC732B}"/>
              </a:ext>
            </a:extLst>
          </p:cNvPr>
          <p:cNvSpPr>
            <a:spLocks xmlns:a="http://schemas.openxmlformats.org/drawingml/2006/main" noGrp="1"/>
          </p:cNvSpPr>
          <p:nvPr/>
        </p:nvSpPr>
        <p:spPr>
          <a:xfrm xmlns:a="http://schemas.openxmlformats.org/drawingml/2006/main">
            <a:off x="10934700" y="6305550"/>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Arial"/>
                <a:ea typeface="Arial"/>
                <a:cs typeface="Arial"/>
              </a:defRPr>
            </a:pPr>
            <a:r>
              <a:rPr sz="1350" b="1" i="0">
                <a:solidFill>
                  <a:srgbClr val="FFFFFF"/>
                </a:solidFill>
                <a:latin typeface="Arial"/>
                <a:ea typeface="Arial"/>
                <a:cs typeface="Arial"/>
              </a:rPr>
              <a:t>Target formula: B + share × (M − B)</a:t>
            </a:r>
          </a:p>
        </p:txBody>
      </p:sp>
    </p:spTree>
    <p:extLst>
      <p:ext uri="{BB962C8B-B14F-4D97-AF65-F5344CB8AC3E}">
        <p14:creationId xmlns:p14="http://schemas.microsoft.com/office/powerpoint/2010/main" val="1334925745"/>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89cc1ec48034a17"/>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85EE2C3-7430-4381-9BCC-8B37D6ADB5A4}"/>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D00F1DDB-AAD2-4C0E-93AA-32B7D130616B}"/>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C84987A6-2419-4D5A-BD4F-225E63D8F5EF}"/>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B5F7A7E-4876-4078-99EF-BFEDA6242070}"/>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69AE520-D3E2-4CA5-9F3B-9DF92AFF4B49}"/>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AD494AF6-A26B-4EA6-9891-2129F5B2B97E}"/>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FADE46A8-D850-4566-BF87-E897554DD128}"/>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14</a:t>
            </a:r>
          </a:p>
        </p:txBody>
      </p:sp>
      <p:sp>
        <p:nvSpPr>
          <p:cNvPr id="9" name="">
            <a:extLst xmlns:a="http://schemas.openxmlformats.org/drawingml/2006/main">
              <a:ext uri="{FF2B5EF4-FFF2-40B4-BE49-F238E27FC236}">
                <a16:creationId xmlns:a16="http://schemas.microsoft.com/office/drawing/2014/main" id="{6BAB1900-BAB9-40C0-B6B9-956C103F87C4}"/>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WEEKLY CONTROL KPIS</a:t>
            </a:r>
          </a:p>
        </p:txBody>
      </p:sp>
      <p:sp>
        <p:nvSpPr>
          <p:cNvPr id="10" name="">
            <a:extLst xmlns:a="http://schemas.openxmlformats.org/drawingml/2006/main">
              <a:ext uri="{FF2B5EF4-FFF2-40B4-BE49-F238E27FC236}">
                <a16:creationId xmlns:a16="http://schemas.microsoft.com/office/drawing/2014/main" id="{27C66484-49F9-443D-983A-CF0EA139BB45}"/>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The weekly meeting should answer six questions</a:t>
            </a:r>
          </a:p>
        </p:txBody>
      </p:sp>
      <p:sp>
        <p:nvSpPr>
          <p:cNvPr id="11" name="">
            <a:extLst xmlns:a="http://schemas.openxmlformats.org/drawingml/2006/main">
              <a:ext uri="{FF2B5EF4-FFF2-40B4-BE49-F238E27FC236}">
                <a16:creationId xmlns:a16="http://schemas.microsoft.com/office/drawing/2014/main" id="{AB5232C8-142F-4D21-8188-C433CAA9F28E}"/>
              </a:ext>
            </a:extLst>
          </p:cNvPr>
          <p:cNvSpPr>
            <a:spLocks xmlns:a="http://schemas.openxmlformats.org/drawingml/2006/main" noGrp="1"/>
          </p:cNvSpPr>
          <p:nvPr/>
        </p:nvSpPr>
        <p:spPr>
          <a:xfrm xmlns:a="http://schemas.openxmlformats.org/drawingml/2006/main">
            <a:off x="857250" y="25717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4.1</a:t>
            </a:r>
          </a:p>
        </p:txBody>
      </p:sp>
      <p:sp>
        <p:nvSpPr>
          <p:cNvPr id="12" name="">
            <a:extLst xmlns:a="http://schemas.openxmlformats.org/drawingml/2006/main">
              <a:ext uri="{FF2B5EF4-FFF2-40B4-BE49-F238E27FC236}">
                <a16:creationId xmlns:a16="http://schemas.microsoft.com/office/drawing/2014/main" id="{2DA1DE58-2E91-44C3-A7DA-EBB5ADF1141D}"/>
              </a:ext>
            </a:extLst>
          </p:cNvPr>
          <p:cNvSpPr>
            <a:spLocks xmlns:a="http://schemas.openxmlformats.org/drawingml/2006/main" noGrp="1"/>
          </p:cNvSpPr>
          <p:nvPr/>
        </p:nvSpPr>
        <p:spPr>
          <a:xfrm xmlns:a="http://schemas.openxmlformats.org/drawingml/2006/main">
            <a:off x="857250" y="2952750"/>
            <a:ext cx="4000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234173"/>
                </a:solidFill>
                <a:latin typeface="Arial"/>
                <a:ea typeface="Arial"/>
                <a:cs typeface="Arial"/>
              </a:defRPr>
            </a:pPr>
            <a:r>
              <a:rPr sz="2175" b="1" i="0">
                <a:solidFill>
                  <a:srgbClr val="234173"/>
                </a:solidFill>
                <a:latin typeface="Arial"/>
                <a:ea typeface="Arial"/>
                <a:cs typeface="Arial"/>
              </a:rPr>
              <a:t>Demand</a:t>
            </a:r>
          </a:p>
        </p:txBody>
      </p:sp>
      <p:sp>
        <p:nvSpPr>
          <p:cNvPr id="13" name="">
            <a:extLst xmlns:a="http://schemas.openxmlformats.org/drawingml/2006/main">
              <a:ext uri="{FF2B5EF4-FFF2-40B4-BE49-F238E27FC236}">
                <a16:creationId xmlns:a16="http://schemas.microsoft.com/office/drawing/2014/main" id="{6FB93B16-63FA-4354-83F3-910860C82CC8}"/>
              </a:ext>
            </a:extLst>
          </p:cNvPr>
          <p:cNvSpPr>
            <a:spLocks xmlns:a="http://schemas.openxmlformats.org/drawingml/2006/main" noGrp="1"/>
          </p:cNvSpPr>
          <p:nvPr/>
        </p:nvSpPr>
        <p:spPr>
          <a:xfrm xmlns:a="http://schemas.openxmlformats.org/drawingml/2006/main">
            <a:off x="857250" y="34671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4748B"/>
                </a:solidFill>
                <a:latin typeface="Arial"/>
                <a:ea typeface="Arial"/>
                <a:cs typeface="Arial"/>
              </a:defRPr>
            </a:pPr>
            <a:r>
              <a:rPr sz="1500" b="0" i="0">
                <a:solidFill>
                  <a:srgbClr val="64748B"/>
                </a:solidFill>
                <a:latin typeface="Arial"/>
                <a:ea typeface="Arial"/>
                <a:cs typeface="Arial"/>
              </a:rPr>
              <a:t>How many qualified leads arrived, and from which sources?</a:t>
            </a:r>
          </a:p>
        </p:txBody>
      </p:sp>
      <p:sp>
        <p:nvSpPr>
          <p:cNvPr id="14" name="">
            <a:extLst xmlns:a="http://schemas.openxmlformats.org/drawingml/2006/main">
              <a:ext uri="{FF2B5EF4-FFF2-40B4-BE49-F238E27FC236}">
                <a16:creationId xmlns:a16="http://schemas.microsoft.com/office/drawing/2014/main" id="{FE84B6B1-B22C-4F7E-8AAE-48ED253F58FB}"/>
              </a:ext>
            </a:extLst>
          </p:cNvPr>
          <p:cNvSpPr>
            <a:spLocks xmlns:a="http://schemas.openxmlformats.org/drawingml/2006/main" noGrp="1"/>
          </p:cNvSpPr>
          <p:nvPr/>
        </p:nvSpPr>
        <p:spPr>
          <a:xfrm xmlns:a="http://schemas.openxmlformats.org/drawingml/2006/main">
            <a:off x="5086350" y="2571750"/>
            <a:ext cx="19050" cy="1743075"/>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596CE4F-A3CB-4ADA-A794-AD287B1B230B}"/>
              </a:ext>
            </a:extLst>
          </p:cNvPr>
          <p:cNvSpPr>
            <a:spLocks xmlns:a="http://schemas.openxmlformats.org/drawingml/2006/main" noGrp="1"/>
          </p:cNvSpPr>
          <p:nvPr/>
        </p:nvSpPr>
        <p:spPr>
          <a:xfrm xmlns:a="http://schemas.openxmlformats.org/drawingml/2006/main">
            <a:off x="857250" y="4476750"/>
            <a:ext cx="40005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BB4B7EB-7BD7-4F0C-A4BE-7DBEF1B3E7CD}"/>
              </a:ext>
            </a:extLst>
          </p:cNvPr>
          <p:cNvSpPr>
            <a:spLocks xmlns:a="http://schemas.openxmlformats.org/drawingml/2006/main" noGrp="1"/>
          </p:cNvSpPr>
          <p:nvPr/>
        </p:nvSpPr>
        <p:spPr>
          <a:xfrm xmlns:a="http://schemas.openxmlformats.org/drawingml/2006/main">
            <a:off x="5476875" y="25717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4.2</a:t>
            </a:r>
          </a:p>
        </p:txBody>
      </p:sp>
      <p:sp>
        <p:nvSpPr>
          <p:cNvPr id="17" name="">
            <a:extLst xmlns:a="http://schemas.openxmlformats.org/drawingml/2006/main">
              <a:ext uri="{FF2B5EF4-FFF2-40B4-BE49-F238E27FC236}">
                <a16:creationId xmlns:a16="http://schemas.microsoft.com/office/drawing/2014/main" id="{284C54C5-913B-4AEE-94F3-5F399FD837AD}"/>
              </a:ext>
            </a:extLst>
          </p:cNvPr>
          <p:cNvSpPr>
            <a:spLocks xmlns:a="http://schemas.openxmlformats.org/drawingml/2006/main" noGrp="1"/>
          </p:cNvSpPr>
          <p:nvPr/>
        </p:nvSpPr>
        <p:spPr>
          <a:xfrm xmlns:a="http://schemas.openxmlformats.org/drawingml/2006/main">
            <a:off x="5476875" y="2952750"/>
            <a:ext cx="4000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234173"/>
                </a:solidFill>
                <a:latin typeface="Arial"/>
                <a:ea typeface="Arial"/>
                <a:cs typeface="Arial"/>
              </a:defRPr>
            </a:pPr>
            <a:r>
              <a:rPr sz="2175" b="1" i="0">
                <a:solidFill>
                  <a:srgbClr val="234173"/>
                </a:solidFill>
                <a:latin typeface="Arial"/>
                <a:ea typeface="Arial"/>
                <a:cs typeface="Arial"/>
              </a:rPr>
              <a:t>Efficiency</a:t>
            </a:r>
          </a:p>
        </p:txBody>
      </p:sp>
      <p:sp>
        <p:nvSpPr>
          <p:cNvPr id="18" name="">
            <a:extLst xmlns:a="http://schemas.openxmlformats.org/drawingml/2006/main">
              <a:ext uri="{FF2B5EF4-FFF2-40B4-BE49-F238E27FC236}">
                <a16:creationId xmlns:a16="http://schemas.microsoft.com/office/drawing/2014/main" id="{9FC8474A-A747-4CB6-8E60-FAC6065BEC96}"/>
              </a:ext>
            </a:extLst>
          </p:cNvPr>
          <p:cNvSpPr>
            <a:spLocks xmlns:a="http://schemas.openxmlformats.org/drawingml/2006/main" noGrp="1"/>
          </p:cNvSpPr>
          <p:nvPr/>
        </p:nvSpPr>
        <p:spPr>
          <a:xfrm xmlns:a="http://schemas.openxmlformats.org/drawingml/2006/main">
            <a:off x="5476875" y="34671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4748B"/>
                </a:solidFill>
                <a:latin typeface="Arial"/>
                <a:ea typeface="Arial"/>
                <a:cs typeface="Arial"/>
              </a:defRPr>
            </a:pPr>
            <a:r>
              <a:rPr sz="1500" b="0" i="0">
                <a:solidFill>
                  <a:srgbClr val="64748B"/>
                </a:solidFill>
                <a:latin typeface="Arial"/>
                <a:ea typeface="Arial"/>
                <a:cs typeface="Arial"/>
              </a:rPr>
              <a:t>What are cost per lead, appointment and acquired patient?</a:t>
            </a:r>
          </a:p>
        </p:txBody>
      </p:sp>
      <p:sp>
        <p:nvSpPr>
          <p:cNvPr id="19" name="">
            <a:extLst xmlns:a="http://schemas.openxmlformats.org/drawingml/2006/main">
              <a:ext uri="{FF2B5EF4-FFF2-40B4-BE49-F238E27FC236}">
                <a16:creationId xmlns:a16="http://schemas.microsoft.com/office/drawing/2014/main" id="{D254C4F9-54D2-4E6F-9000-5829386C2D0B}"/>
              </a:ext>
            </a:extLst>
          </p:cNvPr>
          <p:cNvSpPr>
            <a:spLocks xmlns:a="http://schemas.openxmlformats.org/drawingml/2006/main" noGrp="1"/>
          </p:cNvSpPr>
          <p:nvPr/>
        </p:nvSpPr>
        <p:spPr>
          <a:xfrm xmlns:a="http://schemas.openxmlformats.org/drawingml/2006/main">
            <a:off x="9705975" y="2571750"/>
            <a:ext cx="19050" cy="1743075"/>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B45FFA2-4651-4BC7-A16D-BC0940E71CAE}"/>
              </a:ext>
            </a:extLst>
          </p:cNvPr>
          <p:cNvSpPr>
            <a:spLocks xmlns:a="http://schemas.openxmlformats.org/drawingml/2006/main" noGrp="1"/>
          </p:cNvSpPr>
          <p:nvPr/>
        </p:nvSpPr>
        <p:spPr>
          <a:xfrm xmlns:a="http://schemas.openxmlformats.org/drawingml/2006/main">
            <a:off x="5476875" y="4476750"/>
            <a:ext cx="40005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419B500-D3E1-4141-9093-7CE06D0A9500}"/>
              </a:ext>
            </a:extLst>
          </p:cNvPr>
          <p:cNvSpPr>
            <a:spLocks xmlns:a="http://schemas.openxmlformats.org/drawingml/2006/main" noGrp="1"/>
          </p:cNvSpPr>
          <p:nvPr/>
        </p:nvSpPr>
        <p:spPr>
          <a:xfrm xmlns:a="http://schemas.openxmlformats.org/drawingml/2006/main">
            <a:off x="10096500" y="257175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4.3</a:t>
            </a:r>
          </a:p>
        </p:txBody>
      </p:sp>
      <p:sp>
        <p:nvSpPr>
          <p:cNvPr id="22" name="">
            <a:extLst xmlns:a="http://schemas.openxmlformats.org/drawingml/2006/main">
              <a:ext uri="{FF2B5EF4-FFF2-40B4-BE49-F238E27FC236}">
                <a16:creationId xmlns:a16="http://schemas.microsoft.com/office/drawing/2014/main" id="{B4536801-1BA0-4F29-99DD-D86D66D78ABC}"/>
              </a:ext>
            </a:extLst>
          </p:cNvPr>
          <p:cNvSpPr>
            <a:spLocks xmlns:a="http://schemas.openxmlformats.org/drawingml/2006/main" noGrp="1"/>
          </p:cNvSpPr>
          <p:nvPr/>
        </p:nvSpPr>
        <p:spPr>
          <a:xfrm xmlns:a="http://schemas.openxmlformats.org/drawingml/2006/main">
            <a:off x="10096500" y="2952750"/>
            <a:ext cx="4000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234173"/>
                </a:solidFill>
                <a:latin typeface="Arial"/>
                <a:ea typeface="Arial"/>
                <a:cs typeface="Arial"/>
              </a:defRPr>
            </a:pPr>
            <a:r>
              <a:rPr sz="2175" b="1" i="0">
                <a:solidFill>
                  <a:srgbClr val="234173"/>
                </a:solidFill>
                <a:latin typeface="Arial"/>
                <a:ea typeface="Arial"/>
                <a:cs typeface="Arial"/>
              </a:rPr>
              <a:t>Conversion</a:t>
            </a:r>
          </a:p>
        </p:txBody>
      </p:sp>
      <p:sp>
        <p:nvSpPr>
          <p:cNvPr id="23" name="">
            <a:extLst xmlns:a="http://schemas.openxmlformats.org/drawingml/2006/main">
              <a:ext uri="{FF2B5EF4-FFF2-40B4-BE49-F238E27FC236}">
                <a16:creationId xmlns:a16="http://schemas.microsoft.com/office/drawing/2014/main" id="{25065DD1-75DF-4929-B5FC-E042E76071F6}"/>
              </a:ext>
            </a:extLst>
          </p:cNvPr>
          <p:cNvSpPr>
            <a:spLocks xmlns:a="http://schemas.openxmlformats.org/drawingml/2006/main" noGrp="1"/>
          </p:cNvSpPr>
          <p:nvPr/>
        </p:nvSpPr>
        <p:spPr>
          <a:xfrm xmlns:a="http://schemas.openxmlformats.org/drawingml/2006/main">
            <a:off x="10096500" y="34671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4748B"/>
                </a:solidFill>
                <a:latin typeface="Arial"/>
                <a:ea typeface="Arial"/>
                <a:cs typeface="Arial"/>
              </a:defRPr>
            </a:pPr>
            <a:r>
              <a:rPr sz="1500" b="0" i="0">
                <a:solidFill>
                  <a:srgbClr val="64748B"/>
                </a:solidFill>
                <a:latin typeface="Arial"/>
                <a:ea typeface="Arial"/>
                <a:cs typeface="Arial"/>
              </a:rPr>
              <a:t>How are booking, show-up and assessment-to-treatment rates moving?</a:t>
            </a:r>
          </a:p>
        </p:txBody>
      </p:sp>
      <p:sp>
        <p:nvSpPr>
          <p:cNvPr id="24" name="">
            <a:extLst xmlns:a="http://schemas.openxmlformats.org/drawingml/2006/main">
              <a:ext uri="{FF2B5EF4-FFF2-40B4-BE49-F238E27FC236}">
                <a16:creationId xmlns:a16="http://schemas.microsoft.com/office/drawing/2014/main" id="{3A21E8E7-4079-4F83-BC07-8AA21C512B34}"/>
              </a:ext>
            </a:extLst>
          </p:cNvPr>
          <p:cNvSpPr>
            <a:spLocks xmlns:a="http://schemas.openxmlformats.org/drawingml/2006/main" noGrp="1"/>
          </p:cNvSpPr>
          <p:nvPr/>
        </p:nvSpPr>
        <p:spPr>
          <a:xfrm xmlns:a="http://schemas.openxmlformats.org/drawingml/2006/main">
            <a:off x="10096500" y="4476750"/>
            <a:ext cx="40005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FBF90A8-5BEA-4B5B-8485-45D86BA30499}"/>
              </a:ext>
            </a:extLst>
          </p:cNvPr>
          <p:cNvSpPr>
            <a:spLocks xmlns:a="http://schemas.openxmlformats.org/drawingml/2006/main" noGrp="1"/>
          </p:cNvSpPr>
          <p:nvPr/>
        </p:nvSpPr>
        <p:spPr>
          <a:xfrm xmlns:a="http://schemas.openxmlformats.org/drawingml/2006/main">
            <a:off x="857250" y="47625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4.4</a:t>
            </a:r>
          </a:p>
        </p:txBody>
      </p:sp>
      <p:sp>
        <p:nvSpPr>
          <p:cNvPr id="26" name="">
            <a:extLst xmlns:a="http://schemas.openxmlformats.org/drawingml/2006/main">
              <a:ext uri="{FF2B5EF4-FFF2-40B4-BE49-F238E27FC236}">
                <a16:creationId xmlns:a16="http://schemas.microsoft.com/office/drawing/2014/main" id="{D31C38C8-7B74-420E-A258-9188889C3E82}"/>
              </a:ext>
            </a:extLst>
          </p:cNvPr>
          <p:cNvSpPr>
            <a:spLocks xmlns:a="http://schemas.openxmlformats.org/drawingml/2006/main" noGrp="1"/>
          </p:cNvSpPr>
          <p:nvPr/>
        </p:nvSpPr>
        <p:spPr>
          <a:xfrm xmlns:a="http://schemas.openxmlformats.org/drawingml/2006/main">
            <a:off x="857250" y="5143500"/>
            <a:ext cx="4000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234173"/>
                </a:solidFill>
                <a:latin typeface="Arial"/>
                <a:ea typeface="Arial"/>
                <a:cs typeface="Arial"/>
              </a:defRPr>
            </a:pPr>
            <a:r>
              <a:rPr sz="2175" b="1" i="0">
                <a:solidFill>
                  <a:srgbClr val="234173"/>
                </a:solidFill>
                <a:latin typeface="Arial"/>
                <a:ea typeface="Arial"/>
                <a:cs typeface="Arial"/>
              </a:rPr>
              <a:t>Revenue</a:t>
            </a:r>
          </a:p>
        </p:txBody>
      </p:sp>
      <p:sp>
        <p:nvSpPr>
          <p:cNvPr id="27" name="">
            <a:extLst xmlns:a="http://schemas.openxmlformats.org/drawingml/2006/main">
              <a:ext uri="{FF2B5EF4-FFF2-40B4-BE49-F238E27FC236}">
                <a16:creationId xmlns:a16="http://schemas.microsoft.com/office/drawing/2014/main" id="{F9B10387-2629-445D-BE75-415E53B041A0}"/>
              </a:ext>
            </a:extLst>
          </p:cNvPr>
          <p:cNvSpPr>
            <a:spLocks xmlns:a="http://schemas.openxmlformats.org/drawingml/2006/main" noGrp="1"/>
          </p:cNvSpPr>
          <p:nvPr/>
        </p:nvSpPr>
        <p:spPr>
          <a:xfrm xmlns:a="http://schemas.openxmlformats.org/drawingml/2006/main">
            <a:off x="857250" y="565785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4748B"/>
                </a:solidFill>
                <a:latin typeface="Arial"/>
                <a:ea typeface="Arial"/>
                <a:cs typeface="Arial"/>
              </a:defRPr>
            </a:pPr>
            <a:r>
              <a:rPr sz="1500" b="0" i="0">
                <a:solidFill>
                  <a:srgbClr val="64748B"/>
                </a:solidFill>
                <a:latin typeface="Arial"/>
                <a:ea typeface="Arial"/>
                <a:cs typeface="Arial"/>
              </a:rPr>
              <a:t>Which source, service and campaign is producing revenue?</a:t>
            </a:r>
          </a:p>
        </p:txBody>
      </p:sp>
      <p:sp>
        <p:nvSpPr>
          <p:cNvPr id="28" name="">
            <a:extLst xmlns:a="http://schemas.openxmlformats.org/drawingml/2006/main">
              <a:ext uri="{FF2B5EF4-FFF2-40B4-BE49-F238E27FC236}">
                <a16:creationId xmlns:a16="http://schemas.microsoft.com/office/drawing/2014/main" id="{506A8560-BD0A-4336-A744-76E4EC31F470}"/>
              </a:ext>
            </a:extLst>
          </p:cNvPr>
          <p:cNvSpPr>
            <a:spLocks xmlns:a="http://schemas.openxmlformats.org/drawingml/2006/main" noGrp="1"/>
          </p:cNvSpPr>
          <p:nvPr/>
        </p:nvSpPr>
        <p:spPr>
          <a:xfrm xmlns:a="http://schemas.openxmlformats.org/drawingml/2006/main">
            <a:off x="5086350" y="4762500"/>
            <a:ext cx="19050" cy="1743075"/>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CCF6F63-3B31-4B90-94EA-C3E36D7CAEEC}"/>
              </a:ext>
            </a:extLst>
          </p:cNvPr>
          <p:cNvSpPr>
            <a:spLocks xmlns:a="http://schemas.openxmlformats.org/drawingml/2006/main" noGrp="1"/>
          </p:cNvSpPr>
          <p:nvPr/>
        </p:nvSpPr>
        <p:spPr>
          <a:xfrm xmlns:a="http://schemas.openxmlformats.org/drawingml/2006/main">
            <a:off x="5476875" y="47625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4.5</a:t>
            </a:r>
          </a:p>
        </p:txBody>
      </p:sp>
      <p:sp>
        <p:nvSpPr>
          <p:cNvPr id="30" name="">
            <a:extLst xmlns:a="http://schemas.openxmlformats.org/drawingml/2006/main">
              <a:ext uri="{FF2B5EF4-FFF2-40B4-BE49-F238E27FC236}">
                <a16:creationId xmlns:a16="http://schemas.microsoft.com/office/drawing/2014/main" id="{E71A7E6E-1DFD-4E81-AF47-888CE3501D1E}"/>
              </a:ext>
            </a:extLst>
          </p:cNvPr>
          <p:cNvSpPr>
            <a:spLocks xmlns:a="http://schemas.openxmlformats.org/drawingml/2006/main" noGrp="1"/>
          </p:cNvSpPr>
          <p:nvPr/>
        </p:nvSpPr>
        <p:spPr>
          <a:xfrm xmlns:a="http://schemas.openxmlformats.org/drawingml/2006/main">
            <a:off x="5476875" y="5143500"/>
            <a:ext cx="4000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234173"/>
                </a:solidFill>
                <a:latin typeface="Arial"/>
                <a:ea typeface="Arial"/>
                <a:cs typeface="Arial"/>
              </a:defRPr>
            </a:pPr>
            <a:r>
              <a:rPr sz="2175" b="1" i="0">
                <a:solidFill>
                  <a:srgbClr val="234173"/>
                </a:solidFill>
                <a:latin typeface="Arial"/>
                <a:ea typeface="Arial"/>
                <a:cs typeface="Arial"/>
              </a:rPr>
              <a:t>Responsiveness</a:t>
            </a:r>
          </a:p>
        </p:txBody>
      </p:sp>
      <p:sp>
        <p:nvSpPr>
          <p:cNvPr id="31" name="">
            <a:extLst xmlns:a="http://schemas.openxmlformats.org/drawingml/2006/main">
              <a:ext uri="{FF2B5EF4-FFF2-40B4-BE49-F238E27FC236}">
                <a16:creationId xmlns:a16="http://schemas.microsoft.com/office/drawing/2014/main" id="{22F9BD48-4CEB-4C0D-BBE4-DFD852E27979}"/>
              </a:ext>
            </a:extLst>
          </p:cNvPr>
          <p:cNvSpPr>
            <a:spLocks xmlns:a="http://schemas.openxmlformats.org/drawingml/2006/main" noGrp="1"/>
          </p:cNvSpPr>
          <p:nvPr/>
        </p:nvSpPr>
        <p:spPr>
          <a:xfrm xmlns:a="http://schemas.openxmlformats.org/drawingml/2006/main">
            <a:off x="5476875" y="565785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4748B"/>
                </a:solidFill>
                <a:latin typeface="Arial"/>
                <a:ea typeface="Arial"/>
                <a:cs typeface="Arial"/>
              </a:defRPr>
            </a:pPr>
            <a:r>
              <a:rPr sz="1500" b="0" i="0">
                <a:solidFill>
                  <a:srgbClr val="64748B"/>
                </a:solidFill>
                <a:latin typeface="Arial"/>
                <a:ea typeface="Arial"/>
                <a:cs typeface="Arial"/>
              </a:rPr>
              <a:t>How quickly is WhatsApp answered, and is follow-up completed?</a:t>
            </a:r>
          </a:p>
        </p:txBody>
      </p:sp>
      <p:sp>
        <p:nvSpPr>
          <p:cNvPr id="32" name="">
            <a:extLst xmlns:a="http://schemas.openxmlformats.org/drawingml/2006/main">
              <a:ext uri="{FF2B5EF4-FFF2-40B4-BE49-F238E27FC236}">
                <a16:creationId xmlns:a16="http://schemas.microsoft.com/office/drawing/2014/main" id="{2D7EDA90-1808-4131-A5BC-59DD633496F1}"/>
              </a:ext>
            </a:extLst>
          </p:cNvPr>
          <p:cNvSpPr>
            <a:spLocks xmlns:a="http://schemas.openxmlformats.org/drawingml/2006/main" noGrp="1"/>
          </p:cNvSpPr>
          <p:nvPr/>
        </p:nvSpPr>
        <p:spPr>
          <a:xfrm xmlns:a="http://schemas.openxmlformats.org/drawingml/2006/main">
            <a:off x="9705975" y="4762500"/>
            <a:ext cx="19050" cy="1743075"/>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DA461C0-AF97-46E7-8303-8D962E4BBF86}"/>
              </a:ext>
            </a:extLst>
          </p:cNvPr>
          <p:cNvSpPr>
            <a:spLocks xmlns:a="http://schemas.openxmlformats.org/drawingml/2006/main" noGrp="1"/>
          </p:cNvSpPr>
          <p:nvPr/>
        </p:nvSpPr>
        <p:spPr>
          <a:xfrm xmlns:a="http://schemas.openxmlformats.org/drawingml/2006/main">
            <a:off x="10096500" y="47625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4.6</a:t>
            </a:r>
          </a:p>
        </p:txBody>
      </p:sp>
      <p:sp>
        <p:nvSpPr>
          <p:cNvPr id="34" name="">
            <a:extLst xmlns:a="http://schemas.openxmlformats.org/drawingml/2006/main">
              <a:ext uri="{FF2B5EF4-FFF2-40B4-BE49-F238E27FC236}">
                <a16:creationId xmlns:a16="http://schemas.microsoft.com/office/drawing/2014/main" id="{221B327C-C23C-4DFD-81F7-B8169E75F937}"/>
              </a:ext>
            </a:extLst>
          </p:cNvPr>
          <p:cNvSpPr>
            <a:spLocks xmlns:a="http://schemas.openxmlformats.org/drawingml/2006/main" noGrp="1"/>
          </p:cNvSpPr>
          <p:nvPr/>
        </p:nvSpPr>
        <p:spPr>
          <a:xfrm xmlns:a="http://schemas.openxmlformats.org/drawingml/2006/main">
            <a:off x="10096500" y="5143500"/>
            <a:ext cx="4000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234173"/>
                </a:solidFill>
                <a:latin typeface="Arial"/>
                <a:ea typeface="Arial"/>
                <a:cs typeface="Arial"/>
              </a:defRPr>
            </a:pPr>
            <a:r>
              <a:rPr sz="2175" b="1" i="0">
                <a:solidFill>
                  <a:srgbClr val="234173"/>
                </a:solidFill>
                <a:latin typeface="Arial"/>
                <a:ea typeface="Arial"/>
                <a:cs typeface="Arial"/>
              </a:rPr>
              <a:t>Referrals</a:t>
            </a:r>
          </a:p>
        </p:txBody>
      </p:sp>
      <p:sp>
        <p:nvSpPr>
          <p:cNvPr id="35" name="">
            <a:extLst xmlns:a="http://schemas.openxmlformats.org/drawingml/2006/main">
              <a:ext uri="{FF2B5EF4-FFF2-40B4-BE49-F238E27FC236}">
                <a16:creationId xmlns:a16="http://schemas.microsoft.com/office/drawing/2014/main" id="{BA0D19DC-B9A2-4E50-92F3-E01EE8CD994F}"/>
              </a:ext>
            </a:extLst>
          </p:cNvPr>
          <p:cNvSpPr>
            <a:spLocks xmlns:a="http://schemas.openxmlformats.org/drawingml/2006/main" noGrp="1"/>
          </p:cNvSpPr>
          <p:nvPr/>
        </p:nvSpPr>
        <p:spPr>
          <a:xfrm xmlns:a="http://schemas.openxmlformats.org/drawingml/2006/main">
            <a:off x="10096500" y="565785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4748B"/>
                </a:solidFill>
                <a:latin typeface="Arial"/>
                <a:ea typeface="Arial"/>
                <a:cs typeface="Arial"/>
              </a:defRPr>
            </a:pPr>
            <a:r>
              <a:rPr sz="1500" b="0" i="0">
                <a:solidFill>
                  <a:srgbClr val="64748B"/>
                </a:solidFill>
                <a:latin typeface="Arial"/>
                <a:ea typeface="Arial"/>
                <a:cs typeface="Arial"/>
              </a:rPr>
              <a:t>How many active partners and referred patients are being generated?</a:t>
            </a:r>
          </a:p>
        </p:txBody>
      </p:sp>
      <p:sp>
        <p:nvSpPr>
          <p:cNvPr id="36" name="">
            <a:extLst xmlns:a="http://schemas.openxmlformats.org/drawingml/2006/main">
              <a:ext uri="{FF2B5EF4-FFF2-40B4-BE49-F238E27FC236}">
                <a16:creationId xmlns:a16="http://schemas.microsoft.com/office/drawing/2014/main" id="{830B76F0-E214-48A5-A015-40E0BE0088E4}"/>
              </a:ext>
            </a:extLst>
          </p:cNvPr>
          <p:cNvSpPr>
            <a:spLocks xmlns:a="http://schemas.openxmlformats.org/drawingml/2006/main" noGrp="1"/>
          </p:cNvSpPr>
          <p:nvPr/>
        </p:nvSpPr>
        <p:spPr>
          <a:xfrm xmlns:a="http://schemas.openxmlformats.org/drawingml/2006/main">
            <a:off x="857250" y="6896100"/>
            <a:ext cx="13287375"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7E2EF"/>
            </a:solidFill>
            <a:prstDash val="solid"/>
          </a:ln>
        </p:spPr>
      </p:sp>
      <p:sp>
        <p:nvSpPr>
          <p:cNvPr id="37" name="">
            <a:extLst xmlns:a="http://schemas.openxmlformats.org/drawingml/2006/main">
              <a:ext uri="{FF2B5EF4-FFF2-40B4-BE49-F238E27FC236}">
                <a16:creationId xmlns:a16="http://schemas.microsoft.com/office/drawing/2014/main" id="{21219693-C0F7-471D-ACBE-30E360F00EE0}"/>
              </a:ext>
            </a:extLst>
          </p:cNvPr>
          <p:cNvSpPr>
            <a:spLocks xmlns:a="http://schemas.openxmlformats.org/drawingml/2006/main" noGrp="1"/>
          </p:cNvSpPr>
          <p:nvPr/>
        </p:nvSpPr>
        <p:spPr>
          <a:xfrm xmlns:a="http://schemas.openxmlformats.org/drawingml/2006/main">
            <a:off x="1143000" y="7067550"/>
            <a:ext cx="12715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92"/>
          </a:bodyPr>
          <a:lstStyle xmlns:a="http://schemas.openxmlformats.org/drawingml/2006/main"/>
          <a:p xmlns:a="http://schemas.openxmlformats.org/drawingml/2006/main">
            <a:pPr algn="ctr">
              <a:lnSpc>
                <a:spcPct val="108000"/>
              </a:lnSpc>
              <a:buNone/>
              <a:defRPr sz="1350" b="1" i="0">
                <a:solidFill>
                  <a:srgbClr val="234173"/>
                </a:solidFill>
                <a:latin typeface="Arial"/>
                <a:ea typeface="Arial"/>
                <a:cs typeface="Arial"/>
              </a:defRPr>
            </a:pPr>
            <a:r>
              <a:rPr sz="1350" b="1" i="0">
                <a:solidFill>
                  <a:srgbClr val="234173"/>
                </a:solidFill>
                <a:latin typeface="Arial"/>
                <a:ea typeface="Arial"/>
                <a:cs typeface="Arial"/>
              </a:rPr>
              <a:t>Initial operating targets: human response within 10 minutes during operating hours; ≥75% show-up rate; every prospect has a recorded source and follow-up status.</a:t>
            </a:r>
          </a:p>
        </p:txBody>
      </p:sp>
    </p:spTree>
    <p:extLst>
      <p:ext uri="{BB962C8B-B14F-4D97-AF65-F5344CB8AC3E}">
        <p14:creationId xmlns:p14="http://schemas.microsoft.com/office/powerpoint/2010/main" val="20898415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815709d3f5b84746"/>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2BE106-F1CB-46C2-9CDA-8FA9AA6BAC90}"/>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24BFC57C-BE7F-4378-A434-46003CA01CCF}"/>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F2F655C7-5F6E-49DA-9E18-384B865A3E36}"/>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E1FDF7B-529D-4A9E-B5B1-AA35218F3FB2}"/>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85B6B0-581B-4C2A-8849-C7C6DF1DA129}"/>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7EDE8BA9-4560-4ACF-BE93-CE40910BBE54}"/>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12BF33A6-036A-4E58-98BB-D7468503E0FA}"/>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15</a:t>
            </a:r>
          </a:p>
        </p:txBody>
      </p:sp>
      <p:sp>
        <p:nvSpPr>
          <p:cNvPr id="9" name="">
            <a:extLst xmlns:a="http://schemas.openxmlformats.org/drawingml/2006/main">
              <a:ext uri="{FF2B5EF4-FFF2-40B4-BE49-F238E27FC236}">
                <a16:creationId xmlns:a16="http://schemas.microsoft.com/office/drawing/2014/main" id="{D12D6A71-C971-4293-859D-F0150C4DB519}"/>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CONTENT AND CHANNEL STRATEGY</a:t>
            </a:r>
          </a:p>
        </p:txBody>
      </p:sp>
      <p:sp>
        <p:nvSpPr>
          <p:cNvPr id="10" name="">
            <a:extLst xmlns:a="http://schemas.openxmlformats.org/drawingml/2006/main">
              <a:ext uri="{FF2B5EF4-FFF2-40B4-BE49-F238E27FC236}">
                <a16:creationId xmlns:a16="http://schemas.microsoft.com/office/drawing/2014/main" id="{1286DB7F-4316-49CB-B56B-BADBB06AFF3D}"/>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Education earns attention; trust and follow-up convert it</a:t>
            </a:r>
          </a:p>
        </p:txBody>
      </p:sp>
      <p:graphicFrame>
        <p:nvGraphicFramePr>
          <p:cNvPr id="44" name="Chart"/>
          <p:cNvGraphicFramePr/>
          <p:nvPr/>
        </p:nvGraphicFramePr>
        <p:xfrm>
          <a:off xmlns:a="http://schemas.openxmlformats.org/drawingml/2006/main" x="714375" y="2143125"/>
          <a:ext xmlns:a="http://schemas.openxmlformats.org/drawingml/2006/main" cx="6191250" cy="4667250"/>
        </p:xfrm>
        <a:graphic xmlns:a="http://schemas.openxmlformats.org/drawingml/2006/main">
          <a:graphicData uri="http://schemas.openxmlformats.org/drawingml/2006/chart">
            <c:chart xmlns:r="http://schemas.openxmlformats.org/officeDocument/2006/relationships" xmlns:c="http://schemas.openxmlformats.org/drawingml/2006/chart" r:id="Rf4522b04303c4797"/>
          </a:graphicData>
        </a:graphic>
      </p:graphicFrame>
      <p:sp>
        <p:nvSpPr>
          <p:cNvPr id="12" name="">
            <a:extLst xmlns:a="http://schemas.openxmlformats.org/drawingml/2006/main">
              <a:ext uri="{FF2B5EF4-FFF2-40B4-BE49-F238E27FC236}">
                <a16:creationId xmlns:a16="http://schemas.microsoft.com/office/drawing/2014/main" id="{D492DC19-90D1-4169-934D-7C9610726C9B}"/>
              </a:ext>
            </a:extLst>
          </p:cNvPr>
          <p:cNvSpPr>
            <a:spLocks xmlns:a="http://schemas.openxmlformats.org/drawingml/2006/main" noGrp="1"/>
          </p:cNvSpPr>
          <p:nvPr/>
        </p:nvSpPr>
        <p:spPr>
          <a:xfrm xmlns:a="http://schemas.openxmlformats.org/drawingml/2006/main">
            <a:off x="7667625" y="22860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234173"/>
                </a:solidFill>
                <a:latin typeface="Arial"/>
                <a:ea typeface="Arial"/>
                <a:cs typeface="Arial"/>
              </a:defRPr>
            </a:pPr>
            <a:r>
              <a:rPr sz="2175" b="1" i="0">
                <a:solidFill>
                  <a:srgbClr val="234173"/>
                </a:solidFill>
                <a:latin typeface="Arial"/>
                <a:ea typeface="Arial"/>
                <a:cs typeface="Arial"/>
              </a:rPr>
              <a:t>Primary channels</a:t>
            </a:r>
          </a:p>
        </p:txBody>
      </p:sp>
      <p:sp>
        <p:nvSpPr>
          <p:cNvPr id="13" name="">
            <a:extLst xmlns:a="http://schemas.openxmlformats.org/drawingml/2006/main">
              <a:ext uri="{FF2B5EF4-FFF2-40B4-BE49-F238E27FC236}">
                <a16:creationId xmlns:a16="http://schemas.microsoft.com/office/drawing/2014/main" id="{BB74119E-CA91-461D-BCEF-CBAE128E9038}"/>
              </a:ext>
            </a:extLst>
          </p:cNvPr>
          <p:cNvSpPr>
            <a:spLocks xmlns:a="http://schemas.openxmlformats.org/drawingml/2006/main" noGrp="1"/>
          </p:cNvSpPr>
          <p:nvPr/>
        </p:nvSpPr>
        <p:spPr>
          <a:xfrm xmlns:a="http://schemas.openxmlformats.org/drawingml/2006/main">
            <a:off x="7667625" y="29241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5.6</a:t>
            </a:r>
          </a:p>
        </p:txBody>
      </p:sp>
      <p:sp>
        <p:nvSpPr>
          <p:cNvPr id="14" name="">
            <a:extLst xmlns:a="http://schemas.openxmlformats.org/drawingml/2006/main">
              <a:ext uri="{FF2B5EF4-FFF2-40B4-BE49-F238E27FC236}">
                <a16:creationId xmlns:a16="http://schemas.microsoft.com/office/drawing/2014/main" id="{CF74BB9B-C27E-46BE-AF3B-CC9CB3A50228}"/>
              </a:ext>
            </a:extLst>
          </p:cNvPr>
          <p:cNvSpPr>
            <a:spLocks xmlns:a="http://schemas.openxmlformats.org/drawingml/2006/main" noGrp="1"/>
          </p:cNvSpPr>
          <p:nvPr/>
        </p:nvSpPr>
        <p:spPr>
          <a:xfrm xmlns:a="http://schemas.openxmlformats.org/drawingml/2006/main">
            <a:off x="8334375" y="28956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E293B"/>
                </a:solidFill>
                <a:latin typeface="Arial"/>
                <a:ea typeface="Arial"/>
                <a:cs typeface="Arial"/>
              </a:defRPr>
            </a:pPr>
            <a:r>
              <a:rPr sz="1575" b="1" i="0">
                <a:solidFill>
                  <a:srgbClr val="1E293B"/>
                </a:solidFill>
                <a:latin typeface="Arial"/>
                <a:ea typeface="Arial"/>
                <a:cs typeface="Arial"/>
              </a:rPr>
              <a:t>Facebook &amp; Instagram</a:t>
            </a:r>
          </a:p>
        </p:txBody>
      </p:sp>
      <p:sp>
        <p:nvSpPr>
          <p:cNvPr id="15" name="">
            <a:extLst xmlns:a="http://schemas.openxmlformats.org/drawingml/2006/main">
              <a:ext uri="{FF2B5EF4-FFF2-40B4-BE49-F238E27FC236}">
                <a16:creationId xmlns:a16="http://schemas.microsoft.com/office/drawing/2014/main" id="{54A2D6F5-8BDB-4097-8EFB-447C39BE77AB}"/>
              </a:ext>
            </a:extLst>
          </p:cNvPr>
          <p:cNvSpPr>
            <a:spLocks xmlns:a="http://schemas.openxmlformats.org/drawingml/2006/main" noGrp="1"/>
          </p:cNvSpPr>
          <p:nvPr/>
        </p:nvSpPr>
        <p:spPr>
          <a:xfrm xmlns:a="http://schemas.openxmlformats.org/drawingml/2006/main">
            <a:off x="11144250" y="2914650"/>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64748B"/>
                </a:solidFill>
                <a:latin typeface="Arial"/>
                <a:ea typeface="Arial"/>
                <a:cs typeface="Arial"/>
              </a:defRPr>
            </a:pPr>
            <a:r>
              <a:rPr sz="1275" b="0" i="0">
                <a:solidFill>
                  <a:srgbClr val="64748B"/>
                </a:solidFill>
                <a:latin typeface="Arial"/>
                <a:ea typeface="Arial"/>
                <a:cs typeface="Arial"/>
              </a:rPr>
              <a:t>Families, caregivers and retargeting</a:t>
            </a:r>
          </a:p>
        </p:txBody>
      </p:sp>
      <p:sp>
        <p:nvSpPr>
          <p:cNvPr id="16" name="">
            <a:extLst xmlns:a="http://schemas.openxmlformats.org/drawingml/2006/main">
              <a:ext uri="{FF2B5EF4-FFF2-40B4-BE49-F238E27FC236}">
                <a16:creationId xmlns:a16="http://schemas.microsoft.com/office/drawing/2014/main" id="{CC4B8E21-FF7F-4192-B18A-B8E341D99966}"/>
              </a:ext>
            </a:extLst>
          </p:cNvPr>
          <p:cNvSpPr>
            <a:spLocks xmlns:a="http://schemas.openxmlformats.org/drawingml/2006/main" noGrp="1"/>
          </p:cNvSpPr>
          <p:nvPr/>
        </p:nvSpPr>
        <p:spPr>
          <a:xfrm xmlns:a="http://schemas.openxmlformats.org/drawingml/2006/main">
            <a:off x="7667625" y="3419475"/>
            <a:ext cx="6429375"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87D23CD-0DCF-49B7-98A0-F493F55BC8F3}"/>
              </a:ext>
            </a:extLst>
          </p:cNvPr>
          <p:cNvSpPr>
            <a:spLocks xmlns:a="http://schemas.openxmlformats.org/drawingml/2006/main" noGrp="1"/>
          </p:cNvSpPr>
          <p:nvPr/>
        </p:nvSpPr>
        <p:spPr>
          <a:xfrm xmlns:a="http://schemas.openxmlformats.org/drawingml/2006/main">
            <a:off x="7667625" y="36671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5.7</a:t>
            </a:r>
          </a:p>
        </p:txBody>
      </p:sp>
      <p:sp>
        <p:nvSpPr>
          <p:cNvPr id="18" name="">
            <a:extLst xmlns:a="http://schemas.openxmlformats.org/drawingml/2006/main">
              <a:ext uri="{FF2B5EF4-FFF2-40B4-BE49-F238E27FC236}">
                <a16:creationId xmlns:a16="http://schemas.microsoft.com/office/drawing/2014/main" id="{AAD5B30A-A93C-4D6A-B6DC-E6F6E669DE20}"/>
              </a:ext>
            </a:extLst>
          </p:cNvPr>
          <p:cNvSpPr>
            <a:spLocks xmlns:a="http://schemas.openxmlformats.org/drawingml/2006/main" noGrp="1"/>
          </p:cNvSpPr>
          <p:nvPr/>
        </p:nvSpPr>
        <p:spPr>
          <a:xfrm xmlns:a="http://schemas.openxmlformats.org/drawingml/2006/main">
            <a:off x="8334375" y="36385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E293B"/>
                </a:solidFill>
                <a:latin typeface="Arial"/>
                <a:ea typeface="Arial"/>
                <a:cs typeface="Arial"/>
              </a:defRPr>
            </a:pPr>
            <a:r>
              <a:rPr sz="1575" b="1" i="0">
                <a:solidFill>
                  <a:srgbClr val="1E293B"/>
                </a:solidFill>
                <a:latin typeface="Arial"/>
                <a:ea typeface="Arial"/>
                <a:cs typeface="Arial"/>
              </a:rPr>
              <a:t>TikTok</a:t>
            </a:r>
          </a:p>
        </p:txBody>
      </p:sp>
      <p:sp>
        <p:nvSpPr>
          <p:cNvPr id="19" name="">
            <a:extLst xmlns:a="http://schemas.openxmlformats.org/drawingml/2006/main">
              <a:ext uri="{FF2B5EF4-FFF2-40B4-BE49-F238E27FC236}">
                <a16:creationId xmlns:a16="http://schemas.microsoft.com/office/drawing/2014/main" id="{00B03174-6845-492C-9074-D14F36FDDB40}"/>
              </a:ext>
            </a:extLst>
          </p:cNvPr>
          <p:cNvSpPr>
            <a:spLocks xmlns:a="http://schemas.openxmlformats.org/drawingml/2006/main" noGrp="1"/>
          </p:cNvSpPr>
          <p:nvPr/>
        </p:nvSpPr>
        <p:spPr>
          <a:xfrm xmlns:a="http://schemas.openxmlformats.org/drawingml/2006/main">
            <a:off x="11144250" y="3657600"/>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64748B"/>
                </a:solidFill>
                <a:latin typeface="Arial"/>
                <a:ea typeface="Arial"/>
                <a:cs typeface="Arial"/>
              </a:defRPr>
            </a:pPr>
            <a:r>
              <a:rPr sz="1275" b="0" i="0">
                <a:solidFill>
                  <a:srgbClr val="64748B"/>
                </a:solidFill>
                <a:latin typeface="Arial"/>
                <a:ea typeface="Arial"/>
                <a:cs typeface="Arial"/>
              </a:rPr>
              <a:t>Short-form education and organic reach</a:t>
            </a:r>
          </a:p>
        </p:txBody>
      </p:sp>
      <p:sp>
        <p:nvSpPr>
          <p:cNvPr id="20" name="">
            <a:extLst xmlns:a="http://schemas.openxmlformats.org/drawingml/2006/main">
              <a:ext uri="{FF2B5EF4-FFF2-40B4-BE49-F238E27FC236}">
                <a16:creationId xmlns:a16="http://schemas.microsoft.com/office/drawing/2014/main" id="{44078CF5-06BD-44F3-8E88-1A493CF1A4E1}"/>
              </a:ext>
            </a:extLst>
          </p:cNvPr>
          <p:cNvSpPr>
            <a:spLocks xmlns:a="http://schemas.openxmlformats.org/drawingml/2006/main" noGrp="1"/>
          </p:cNvSpPr>
          <p:nvPr/>
        </p:nvSpPr>
        <p:spPr>
          <a:xfrm xmlns:a="http://schemas.openxmlformats.org/drawingml/2006/main">
            <a:off x="7667625" y="4162425"/>
            <a:ext cx="6429375"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BD19A3D-AEDF-4A94-B25E-009E0F3FB8D0}"/>
              </a:ext>
            </a:extLst>
          </p:cNvPr>
          <p:cNvSpPr>
            <a:spLocks xmlns:a="http://schemas.openxmlformats.org/drawingml/2006/main" noGrp="1"/>
          </p:cNvSpPr>
          <p:nvPr/>
        </p:nvSpPr>
        <p:spPr>
          <a:xfrm xmlns:a="http://schemas.openxmlformats.org/drawingml/2006/main">
            <a:off x="7667625" y="44100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5.8</a:t>
            </a:r>
          </a:p>
        </p:txBody>
      </p:sp>
      <p:sp>
        <p:nvSpPr>
          <p:cNvPr id="22" name="">
            <a:extLst xmlns:a="http://schemas.openxmlformats.org/drawingml/2006/main">
              <a:ext uri="{FF2B5EF4-FFF2-40B4-BE49-F238E27FC236}">
                <a16:creationId xmlns:a16="http://schemas.microsoft.com/office/drawing/2014/main" id="{89E7FBBB-287A-4E64-8049-ED38CC784909}"/>
              </a:ext>
            </a:extLst>
          </p:cNvPr>
          <p:cNvSpPr>
            <a:spLocks xmlns:a="http://schemas.openxmlformats.org/drawingml/2006/main" noGrp="1"/>
          </p:cNvSpPr>
          <p:nvPr/>
        </p:nvSpPr>
        <p:spPr>
          <a:xfrm xmlns:a="http://schemas.openxmlformats.org/drawingml/2006/main">
            <a:off x="8334375" y="4381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E293B"/>
                </a:solidFill>
                <a:latin typeface="Arial"/>
                <a:ea typeface="Arial"/>
                <a:cs typeface="Arial"/>
              </a:defRPr>
            </a:pPr>
            <a:r>
              <a:rPr sz="1575" b="1" i="0">
                <a:solidFill>
                  <a:srgbClr val="1E293B"/>
                </a:solidFill>
                <a:latin typeface="Arial"/>
                <a:ea typeface="Arial"/>
                <a:cs typeface="Arial"/>
              </a:rPr>
              <a:t>Google</a:t>
            </a:r>
          </a:p>
        </p:txBody>
      </p:sp>
      <p:sp>
        <p:nvSpPr>
          <p:cNvPr id="23" name="">
            <a:extLst xmlns:a="http://schemas.openxmlformats.org/drawingml/2006/main">
              <a:ext uri="{FF2B5EF4-FFF2-40B4-BE49-F238E27FC236}">
                <a16:creationId xmlns:a16="http://schemas.microsoft.com/office/drawing/2014/main" id="{186B6D4F-BF19-4C50-9DD6-3F8D4FBBF318}"/>
              </a:ext>
            </a:extLst>
          </p:cNvPr>
          <p:cNvSpPr>
            <a:spLocks xmlns:a="http://schemas.openxmlformats.org/drawingml/2006/main" noGrp="1"/>
          </p:cNvSpPr>
          <p:nvPr/>
        </p:nvSpPr>
        <p:spPr>
          <a:xfrm xmlns:a="http://schemas.openxmlformats.org/drawingml/2006/main">
            <a:off x="11144250" y="4400550"/>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64748B"/>
                </a:solidFill>
                <a:latin typeface="Arial"/>
                <a:ea typeface="Arial"/>
                <a:cs typeface="Arial"/>
              </a:defRPr>
            </a:pPr>
            <a:r>
              <a:rPr sz="1275" b="0" i="0">
                <a:solidFill>
                  <a:srgbClr val="64748B"/>
                </a:solidFill>
                <a:latin typeface="Arial"/>
                <a:ea typeface="Arial"/>
                <a:cs typeface="Arial"/>
              </a:rPr>
              <a:t>Business Profile, Search and high-intent landing-page demand</a:t>
            </a:r>
          </a:p>
        </p:txBody>
      </p:sp>
      <p:sp>
        <p:nvSpPr>
          <p:cNvPr id="24" name="">
            <a:extLst xmlns:a="http://schemas.openxmlformats.org/drawingml/2006/main">
              <a:ext uri="{FF2B5EF4-FFF2-40B4-BE49-F238E27FC236}">
                <a16:creationId xmlns:a16="http://schemas.microsoft.com/office/drawing/2014/main" id="{7A427363-5FA0-4E9B-A5B1-304C6A000FF3}"/>
              </a:ext>
            </a:extLst>
          </p:cNvPr>
          <p:cNvSpPr>
            <a:spLocks xmlns:a="http://schemas.openxmlformats.org/drawingml/2006/main" noGrp="1"/>
          </p:cNvSpPr>
          <p:nvPr/>
        </p:nvSpPr>
        <p:spPr>
          <a:xfrm xmlns:a="http://schemas.openxmlformats.org/drawingml/2006/main">
            <a:off x="7667625" y="4905375"/>
            <a:ext cx="6429375"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B28A130-DC85-4851-8A88-0A21155E9370}"/>
              </a:ext>
            </a:extLst>
          </p:cNvPr>
          <p:cNvSpPr>
            <a:spLocks xmlns:a="http://schemas.openxmlformats.org/drawingml/2006/main" noGrp="1"/>
          </p:cNvSpPr>
          <p:nvPr/>
        </p:nvSpPr>
        <p:spPr>
          <a:xfrm xmlns:a="http://schemas.openxmlformats.org/drawingml/2006/main">
            <a:off x="7667625" y="515302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5.9</a:t>
            </a:r>
          </a:p>
        </p:txBody>
      </p:sp>
      <p:sp>
        <p:nvSpPr>
          <p:cNvPr id="26" name="">
            <a:extLst xmlns:a="http://schemas.openxmlformats.org/drawingml/2006/main">
              <a:ext uri="{FF2B5EF4-FFF2-40B4-BE49-F238E27FC236}">
                <a16:creationId xmlns:a16="http://schemas.microsoft.com/office/drawing/2014/main" id="{77C96405-1D26-416B-8181-70901DC99FD7}"/>
              </a:ext>
            </a:extLst>
          </p:cNvPr>
          <p:cNvSpPr>
            <a:spLocks xmlns:a="http://schemas.openxmlformats.org/drawingml/2006/main" noGrp="1"/>
          </p:cNvSpPr>
          <p:nvPr/>
        </p:nvSpPr>
        <p:spPr>
          <a:xfrm xmlns:a="http://schemas.openxmlformats.org/drawingml/2006/main">
            <a:off x="8334375" y="5124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E293B"/>
                </a:solidFill>
                <a:latin typeface="Arial"/>
                <a:ea typeface="Arial"/>
                <a:cs typeface="Arial"/>
              </a:defRPr>
            </a:pPr>
            <a:r>
              <a:rPr sz="1575" b="1" i="0">
                <a:solidFill>
                  <a:srgbClr val="1E293B"/>
                </a:solidFill>
                <a:latin typeface="Arial"/>
                <a:ea typeface="Arial"/>
                <a:cs typeface="Arial"/>
              </a:rPr>
              <a:t>WhatsApp</a:t>
            </a:r>
          </a:p>
        </p:txBody>
      </p:sp>
      <p:sp>
        <p:nvSpPr>
          <p:cNvPr id="27" name="">
            <a:extLst xmlns:a="http://schemas.openxmlformats.org/drawingml/2006/main">
              <a:ext uri="{FF2B5EF4-FFF2-40B4-BE49-F238E27FC236}">
                <a16:creationId xmlns:a16="http://schemas.microsoft.com/office/drawing/2014/main" id="{62109D90-2D8B-4F5B-B2A0-AB8CFAAB3AC9}"/>
              </a:ext>
            </a:extLst>
          </p:cNvPr>
          <p:cNvSpPr>
            <a:spLocks xmlns:a="http://schemas.openxmlformats.org/drawingml/2006/main" noGrp="1"/>
          </p:cNvSpPr>
          <p:nvPr/>
        </p:nvSpPr>
        <p:spPr>
          <a:xfrm xmlns:a="http://schemas.openxmlformats.org/drawingml/2006/main">
            <a:off x="11144250" y="5143500"/>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64748B"/>
                </a:solidFill>
                <a:latin typeface="Arial"/>
                <a:ea typeface="Arial"/>
                <a:cs typeface="Arial"/>
              </a:defRPr>
            </a:pPr>
            <a:r>
              <a:rPr sz="1275" b="0" i="0">
                <a:solidFill>
                  <a:srgbClr val="64748B"/>
                </a:solidFill>
                <a:latin typeface="Arial"/>
                <a:ea typeface="Arial"/>
                <a:cs typeface="Arial"/>
              </a:rPr>
              <a:t>Conversion, appointments and follow-up</a:t>
            </a:r>
          </a:p>
        </p:txBody>
      </p:sp>
      <p:sp>
        <p:nvSpPr>
          <p:cNvPr id="28" name="">
            <a:extLst xmlns:a="http://schemas.openxmlformats.org/drawingml/2006/main">
              <a:ext uri="{FF2B5EF4-FFF2-40B4-BE49-F238E27FC236}">
                <a16:creationId xmlns:a16="http://schemas.microsoft.com/office/drawing/2014/main" id="{47CF7B12-F85B-44D5-9856-12FEBD0A2094}"/>
              </a:ext>
            </a:extLst>
          </p:cNvPr>
          <p:cNvSpPr>
            <a:spLocks xmlns:a="http://schemas.openxmlformats.org/drawingml/2006/main" noGrp="1"/>
          </p:cNvSpPr>
          <p:nvPr/>
        </p:nvSpPr>
        <p:spPr>
          <a:xfrm xmlns:a="http://schemas.openxmlformats.org/drawingml/2006/main">
            <a:off x="7667625" y="5648325"/>
            <a:ext cx="6429375"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9E4CF1C-2F6B-4E00-AF4F-1101192F55B3}"/>
              </a:ext>
            </a:extLst>
          </p:cNvPr>
          <p:cNvSpPr>
            <a:spLocks xmlns:a="http://schemas.openxmlformats.org/drawingml/2006/main" noGrp="1"/>
          </p:cNvSpPr>
          <p:nvPr/>
        </p:nvSpPr>
        <p:spPr>
          <a:xfrm xmlns:a="http://schemas.openxmlformats.org/drawingml/2006/main">
            <a:off x="7667625" y="5895975"/>
            <a:ext cx="57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5.10</a:t>
            </a:r>
          </a:p>
        </p:txBody>
      </p:sp>
      <p:sp>
        <p:nvSpPr>
          <p:cNvPr id="30" name="">
            <a:extLst xmlns:a="http://schemas.openxmlformats.org/drawingml/2006/main">
              <a:ext uri="{FF2B5EF4-FFF2-40B4-BE49-F238E27FC236}">
                <a16:creationId xmlns:a16="http://schemas.microsoft.com/office/drawing/2014/main" id="{35F2DB71-9D35-42DD-BB5C-291F729D7336}"/>
              </a:ext>
            </a:extLst>
          </p:cNvPr>
          <p:cNvSpPr>
            <a:spLocks xmlns:a="http://schemas.openxmlformats.org/drawingml/2006/main" noGrp="1"/>
          </p:cNvSpPr>
          <p:nvPr/>
        </p:nvSpPr>
        <p:spPr>
          <a:xfrm xmlns:a="http://schemas.openxmlformats.org/drawingml/2006/main">
            <a:off x="8334375" y="58674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E293B"/>
                </a:solidFill>
                <a:latin typeface="Arial"/>
                <a:ea typeface="Arial"/>
                <a:cs typeface="Arial"/>
              </a:defRPr>
            </a:pPr>
            <a:r>
              <a:rPr sz="1575" b="1" i="0">
                <a:solidFill>
                  <a:srgbClr val="1E293B"/>
                </a:solidFill>
                <a:latin typeface="Arial"/>
                <a:ea typeface="Arial"/>
                <a:cs typeface="Arial"/>
              </a:rPr>
              <a:t>Outreach &amp; referrals</a:t>
            </a:r>
          </a:p>
        </p:txBody>
      </p:sp>
      <p:sp>
        <p:nvSpPr>
          <p:cNvPr id="31" name="">
            <a:extLst xmlns:a="http://schemas.openxmlformats.org/drawingml/2006/main">
              <a:ext uri="{FF2B5EF4-FFF2-40B4-BE49-F238E27FC236}">
                <a16:creationId xmlns:a16="http://schemas.microsoft.com/office/drawing/2014/main" id="{D2207FCB-A1EB-48BF-96FC-5E6CD9A77ED7}"/>
              </a:ext>
            </a:extLst>
          </p:cNvPr>
          <p:cNvSpPr>
            <a:spLocks xmlns:a="http://schemas.openxmlformats.org/drawingml/2006/main" noGrp="1"/>
          </p:cNvSpPr>
          <p:nvPr/>
        </p:nvSpPr>
        <p:spPr>
          <a:xfrm xmlns:a="http://schemas.openxmlformats.org/drawingml/2006/main">
            <a:off x="11144250" y="5886450"/>
            <a:ext cx="295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0" i="0">
                <a:solidFill>
                  <a:srgbClr val="64748B"/>
                </a:solidFill>
                <a:latin typeface="Arial"/>
                <a:ea typeface="Arial"/>
                <a:cs typeface="Arial"/>
              </a:defRPr>
            </a:pPr>
            <a:r>
              <a:rPr sz="1275" b="0" i="0">
                <a:solidFill>
                  <a:srgbClr val="64748B"/>
                </a:solidFill>
                <a:latin typeface="Arial"/>
                <a:ea typeface="Arial"/>
                <a:cs typeface="Arial"/>
              </a:rPr>
              <a:t>Demand beyond social media</a:t>
            </a:r>
          </a:p>
        </p:txBody>
      </p:sp>
      <p:sp>
        <p:nvSpPr>
          <p:cNvPr id="32" name="">
            <a:extLst xmlns:a="http://schemas.openxmlformats.org/drawingml/2006/main">
              <a:ext uri="{FF2B5EF4-FFF2-40B4-BE49-F238E27FC236}">
                <a16:creationId xmlns:a16="http://schemas.microsoft.com/office/drawing/2014/main" id="{600EAA45-B21D-4E74-A40B-2B44691C7365}"/>
              </a:ext>
            </a:extLst>
          </p:cNvPr>
          <p:cNvSpPr>
            <a:spLocks xmlns:a="http://schemas.openxmlformats.org/drawingml/2006/main" noGrp="1"/>
          </p:cNvSpPr>
          <p:nvPr/>
        </p:nvSpPr>
        <p:spPr>
          <a:xfrm xmlns:a="http://schemas.openxmlformats.org/drawingml/2006/main">
            <a:off x="7667625" y="6838950"/>
            <a:ext cx="6429375" cy="619125"/>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00ECF28-D877-4A91-9D01-105304CD9113}"/>
              </a:ext>
            </a:extLst>
          </p:cNvPr>
          <p:cNvSpPr>
            <a:spLocks xmlns:a="http://schemas.openxmlformats.org/drawingml/2006/main" noGrp="1"/>
          </p:cNvSpPr>
          <p:nvPr/>
        </p:nvSpPr>
        <p:spPr>
          <a:xfrm xmlns:a="http://schemas.openxmlformats.org/drawingml/2006/main">
            <a:off x="7905750" y="6991350"/>
            <a:ext cx="5953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77"/>
          </a:bodyPr>
          <a:lstStyle xmlns:a="http://schemas.openxmlformats.org/drawingml/2006/main"/>
          <a:p xmlns:a="http://schemas.openxmlformats.org/drawingml/2006/main">
            <a:pPr algn="ctr">
              <a:lnSpc>
                <a:spcPct val="108000"/>
              </a:lnSpc>
              <a:buNone/>
              <a:defRPr sz="1275" b="1" i="0">
                <a:solidFill>
                  <a:srgbClr val="234173"/>
                </a:solidFill>
                <a:latin typeface="Arial"/>
                <a:ea typeface="Arial"/>
                <a:cs typeface="Arial"/>
              </a:defRPr>
            </a:pPr>
            <a:r>
              <a:rPr sz="1275" b="1" i="0">
                <a:solidFill>
                  <a:srgbClr val="234173"/>
                </a:solidFill>
                <a:latin typeface="Arial"/>
                <a:ea typeface="Arial"/>
                <a:cs typeface="Arial"/>
              </a:rPr>
              <a:t>Minimum cadence: 3 short videos + 1 carousel weekly, near-daily Stories, and one batch-recording session every two weeks.</a:t>
            </a:r>
          </a:p>
        </p:txBody>
      </p:sp>
    </p:spTree>
    <p:extLst>
      <p:ext uri="{BB962C8B-B14F-4D97-AF65-F5344CB8AC3E}">
        <p14:creationId xmlns:p14="http://schemas.microsoft.com/office/powerpoint/2010/main" val="264849017"/>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fc33b335a99b41fd"/>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17BBC2-D372-4009-903A-D3D71E53D5D8}"/>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BCA4D5B5-E072-417A-AB3A-17BFCEA0FE74}"/>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FE10DD03-3798-4323-8225-64686D726FCB}"/>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DDDE41-5539-47F3-8D32-A6717246260E}"/>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2A3D0C-EC19-4B62-A9BA-6FE71BBE422D}"/>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6E634F0B-3286-4D1D-BAE0-6E74B1CE8A9D}"/>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AC918F9F-C2FB-4A22-88C6-5AD5A8A1ED52}"/>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16</a:t>
            </a:r>
          </a:p>
        </p:txBody>
      </p:sp>
      <p:sp>
        <p:nvSpPr>
          <p:cNvPr id="9" name="">
            <a:extLst xmlns:a="http://schemas.openxmlformats.org/drawingml/2006/main">
              <a:ext uri="{FF2B5EF4-FFF2-40B4-BE49-F238E27FC236}">
                <a16:creationId xmlns:a16="http://schemas.microsoft.com/office/drawing/2014/main" id="{56C8AE89-3ABE-4D27-BC53-44DD0C3233D5}"/>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SALES OPERATING SYSTEM</a:t>
            </a:r>
          </a:p>
        </p:txBody>
      </p:sp>
      <p:sp>
        <p:nvSpPr>
          <p:cNvPr id="10" name="">
            <a:extLst xmlns:a="http://schemas.openxmlformats.org/drawingml/2006/main">
              <a:ext uri="{FF2B5EF4-FFF2-40B4-BE49-F238E27FC236}">
                <a16:creationId xmlns:a16="http://schemas.microsoft.com/office/drawing/2014/main" id="{673AFED8-D86D-4FED-B578-BF880E0E3636}"/>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Every lead follows the same six-step service pathway</a:t>
            </a:r>
          </a:p>
        </p:txBody>
      </p:sp>
      <p:sp>
        <p:nvSpPr>
          <p:cNvPr id="11" name="">
            <a:extLst xmlns:a="http://schemas.openxmlformats.org/drawingml/2006/main">
              <a:ext uri="{FF2B5EF4-FFF2-40B4-BE49-F238E27FC236}">
                <a16:creationId xmlns:a16="http://schemas.microsoft.com/office/drawing/2014/main" id="{5FD40864-885F-4CD1-9683-91C51E3699DE}"/>
              </a:ext>
            </a:extLst>
          </p:cNvPr>
          <p:cNvSpPr>
            <a:spLocks xmlns:a="http://schemas.openxmlformats.org/drawingml/2006/main" noGrp="1"/>
          </p:cNvSpPr>
          <p:nvPr/>
        </p:nvSpPr>
        <p:spPr>
          <a:xfrm xmlns:a="http://schemas.openxmlformats.org/drawingml/2006/main">
            <a:off x="1152525" y="2466975"/>
            <a:ext cx="38100" cy="41719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7F4C41-8285-444D-A3F3-67F685950C99}"/>
              </a:ext>
            </a:extLst>
          </p:cNvPr>
          <p:cNvSpPr>
            <a:spLocks xmlns:a="http://schemas.openxmlformats.org/drawingml/2006/main" noGrp="1"/>
          </p:cNvSpPr>
          <p:nvPr/>
        </p:nvSpPr>
        <p:spPr>
          <a:xfrm xmlns:a="http://schemas.openxmlformats.org/drawingml/2006/main">
            <a:off x="962025" y="2333625"/>
            <a:ext cx="428625" cy="428625"/>
          </a:xfrm>
          <a:prstGeom xmlns:a="http://schemas.openxmlformats.org/drawingml/2006/main" prst="ellipse">
            <a:avLst/>
          </a:prstGeom>
          <a:solidFill xmlns:a="http://schemas.openxmlformats.org/drawingml/2006/main">
            <a:srgbClr val="2341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BEBFB8F-56A2-4CEF-9956-1A2482AEA97F}"/>
              </a:ext>
            </a:extLst>
          </p:cNvPr>
          <p:cNvSpPr>
            <a:spLocks xmlns:a="http://schemas.openxmlformats.org/drawingml/2006/main" noGrp="1"/>
          </p:cNvSpPr>
          <p:nvPr/>
        </p:nvSpPr>
        <p:spPr>
          <a:xfrm xmlns:a="http://schemas.openxmlformats.org/drawingml/2006/main">
            <a:off x="962025" y="240982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879E6AFB-D4D7-4964-9980-058C411991EB}"/>
              </a:ext>
            </a:extLst>
          </p:cNvPr>
          <p:cNvSpPr>
            <a:spLocks xmlns:a="http://schemas.openxmlformats.org/drawingml/2006/main" noGrp="1"/>
          </p:cNvSpPr>
          <p:nvPr/>
        </p:nvSpPr>
        <p:spPr>
          <a:xfrm xmlns:a="http://schemas.openxmlformats.org/drawingml/2006/main">
            <a:off x="1714500" y="228600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6.1</a:t>
            </a:r>
          </a:p>
        </p:txBody>
      </p:sp>
      <p:sp>
        <p:nvSpPr>
          <p:cNvPr id="15" name="">
            <a:extLst xmlns:a="http://schemas.openxmlformats.org/drawingml/2006/main">
              <a:ext uri="{FF2B5EF4-FFF2-40B4-BE49-F238E27FC236}">
                <a16:creationId xmlns:a16="http://schemas.microsoft.com/office/drawing/2014/main" id="{85755C9C-D36F-49A2-98F7-C009CCF1D0C0}"/>
              </a:ext>
            </a:extLst>
          </p:cNvPr>
          <p:cNvSpPr>
            <a:spLocks xmlns:a="http://schemas.openxmlformats.org/drawingml/2006/main" noGrp="1"/>
          </p:cNvSpPr>
          <p:nvPr/>
        </p:nvSpPr>
        <p:spPr>
          <a:xfrm xmlns:a="http://schemas.openxmlformats.org/drawingml/2006/main">
            <a:off x="2381250" y="2238375"/>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Record</a:t>
            </a:r>
          </a:p>
        </p:txBody>
      </p:sp>
      <p:sp>
        <p:nvSpPr>
          <p:cNvPr id="16" name="">
            <a:extLst xmlns:a="http://schemas.openxmlformats.org/drawingml/2006/main">
              <a:ext uri="{FF2B5EF4-FFF2-40B4-BE49-F238E27FC236}">
                <a16:creationId xmlns:a16="http://schemas.microsoft.com/office/drawing/2014/main" id="{FDFB11B1-506E-4A6F-82B8-48D219B87A21}"/>
              </a:ext>
            </a:extLst>
          </p:cNvPr>
          <p:cNvSpPr>
            <a:spLocks xmlns:a="http://schemas.openxmlformats.org/drawingml/2006/main" noGrp="1"/>
          </p:cNvSpPr>
          <p:nvPr/>
        </p:nvSpPr>
        <p:spPr>
          <a:xfrm xmlns:a="http://schemas.openxmlformats.org/drawingml/2006/main">
            <a:off x="4619625" y="225742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Name, location, wound type, duration, contact details and source.</a:t>
            </a:r>
          </a:p>
        </p:txBody>
      </p:sp>
      <p:sp>
        <p:nvSpPr>
          <p:cNvPr id="17" name="">
            <a:extLst xmlns:a="http://schemas.openxmlformats.org/drawingml/2006/main">
              <a:ext uri="{FF2B5EF4-FFF2-40B4-BE49-F238E27FC236}">
                <a16:creationId xmlns:a16="http://schemas.microsoft.com/office/drawing/2014/main" id="{9FFD0EF5-174B-48FD-B0B5-8854A4F7FE62}"/>
              </a:ext>
            </a:extLst>
          </p:cNvPr>
          <p:cNvSpPr>
            <a:spLocks xmlns:a="http://schemas.openxmlformats.org/drawingml/2006/main" noGrp="1"/>
          </p:cNvSpPr>
          <p:nvPr/>
        </p:nvSpPr>
        <p:spPr>
          <a:xfrm xmlns:a="http://schemas.openxmlformats.org/drawingml/2006/main">
            <a:off x="1714500" y="2847975"/>
            <a:ext cx="1171575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E64B1A1-4C46-42B3-B688-693A5DFDFBAA}"/>
              </a:ext>
            </a:extLst>
          </p:cNvPr>
          <p:cNvSpPr>
            <a:spLocks xmlns:a="http://schemas.openxmlformats.org/drawingml/2006/main" noGrp="1"/>
          </p:cNvSpPr>
          <p:nvPr/>
        </p:nvSpPr>
        <p:spPr>
          <a:xfrm xmlns:a="http://schemas.openxmlformats.org/drawingml/2006/main">
            <a:off x="962025" y="3086100"/>
            <a:ext cx="428625" cy="428625"/>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0A35A24-E59B-4A2A-88E0-59135788CE7D}"/>
              </a:ext>
            </a:extLst>
          </p:cNvPr>
          <p:cNvSpPr>
            <a:spLocks xmlns:a="http://schemas.openxmlformats.org/drawingml/2006/main" noGrp="1"/>
          </p:cNvSpPr>
          <p:nvPr/>
        </p:nvSpPr>
        <p:spPr>
          <a:xfrm xmlns:a="http://schemas.openxmlformats.org/drawingml/2006/main">
            <a:off x="962025" y="31623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2ACFE367-141E-470A-9B0D-3B1620A89523}"/>
              </a:ext>
            </a:extLst>
          </p:cNvPr>
          <p:cNvSpPr>
            <a:spLocks xmlns:a="http://schemas.openxmlformats.org/drawingml/2006/main" noGrp="1"/>
          </p:cNvSpPr>
          <p:nvPr/>
        </p:nvSpPr>
        <p:spPr>
          <a:xfrm xmlns:a="http://schemas.openxmlformats.org/drawingml/2006/main">
            <a:off x="1714500" y="303847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6.2</a:t>
            </a:r>
          </a:p>
        </p:txBody>
      </p:sp>
      <p:sp>
        <p:nvSpPr>
          <p:cNvPr id="21" name="">
            <a:extLst xmlns:a="http://schemas.openxmlformats.org/drawingml/2006/main">
              <a:ext uri="{FF2B5EF4-FFF2-40B4-BE49-F238E27FC236}">
                <a16:creationId xmlns:a16="http://schemas.microsoft.com/office/drawing/2014/main" id="{50B99279-AA70-4371-A71E-138FEDD7B664}"/>
              </a:ext>
            </a:extLst>
          </p:cNvPr>
          <p:cNvSpPr>
            <a:spLocks xmlns:a="http://schemas.openxmlformats.org/drawingml/2006/main" noGrp="1"/>
          </p:cNvSpPr>
          <p:nvPr/>
        </p:nvSpPr>
        <p:spPr>
          <a:xfrm xmlns:a="http://schemas.openxmlformats.org/drawingml/2006/main">
            <a:off x="2381250" y="2990850"/>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Respond</a:t>
            </a:r>
          </a:p>
        </p:txBody>
      </p:sp>
      <p:sp>
        <p:nvSpPr>
          <p:cNvPr id="22" name="">
            <a:extLst xmlns:a="http://schemas.openxmlformats.org/drawingml/2006/main">
              <a:ext uri="{FF2B5EF4-FFF2-40B4-BE49-F238E27FC236}">
                <a16:creationId xmlns:a16="http://schemas.microsoft.com/office/drawing/2014/main" id="{FCF84EE1-6423-4367-9496-9E6446B2EFA8}"/>
              </a:ext>
            </a:extLst>
          </p:cNvPr>
          <p:cNvSpPr>
            <a:spLocks xmlns:a="http://schemas.openxmlformats.org/drawingml/2006/main" noGrp="1"/>
          </p:cNvSpPr>
          <p:nvPr/>
        </p:nvSpPr>
        <p:spPr>
          <a:xfrm xmlns:a="http://schemas.openxmlformats.org/drawingml/2006/main">
            <a:off x="4619625" y="30099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Explain image-assessment limits and conduct basic screening.</a:t>
            </a:r>
          </a:p>
        </p:txBody>
      </p:sp>
      <p:sp>
        <p:nvSpPr>
          <p:cNvPr id="23" name="">
            <a:extLst xmlns:a="http://schemas.openxmlformats.org/drawingml/2006/main">
              <a:ext uri="{FF2B5EF4-FFF2-40B4-BE49-F238E27FC236}">
                <a16:creationId xmlns:a16="http://schemas.microsoft.com/office/drawing/2014/main" id="{1FA58C0E-6329-403E-A719-926DE44146E1}"/>
              </a:ext>
            </a:extLst>
          </p:cNvPr>
          <p:cNvSpPr>
            <a:spLocks xmlns:a="http://schemas.openxmlformats.org/drawingml/2006/main" noGrp="1"/>
          </p:cNvSpPr>
          <p:nvPr/>
        </p:nvSpPr>
        <p:spPr>
          <a:xfrm xmlns:a="http://schemas.openxmlformats.org/drawingml/2006/main">
            <a:off x="1714500" y="3600450"/>
            <a:ext cx="1171575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9B50536-BD48-466D-AE97-1EB53660CD73}"/>
              </a:ext>
            </a:extLst>
          </p:cNvPr>
          <p:cNvSpPr>
            <a:spLocks xmlns:a="http://schemas.openxmlformats.org/drawingml/2006/main" noGrp="1"/>
          </p:cNvSpPr>
          <p:nvPr/>
        </p:nvSpPr>
        <p:spPr>
          <a:xfrm xmlns:a="http://schemas.openxmlformats.org/drawingml/2006/main">
            <a:off x="962025" y="3838575"/>
            <a:ext cx="428625" cy="428625"/>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F415807-1C33-47B1-A3E8-A0B0281F6A2C}"/>
              </a:ext>
            </a:extLst>
          </p:cNvPr>
          <p:cNvSpPr>
            <a:spLocks xmlns:a="http://schemas.openxmlformats.org/drawingml/2006/main" noGrp="1"/>
          </p:cNvSpPr>
          <p:nvPr/>
        </p:nvSpPr>
        <p:spPr>
          <a:xfrm xmlns:a="http://schemas.openxmlformats.org/drawingml/2006/main">
            <a:off x="962025" y="39147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57EC56E6-2822-477E-A058-14EF528CB4B3}"/>
              </a:ext>
            </a:extLst>
          </p:cNvPr>
          <p:cNvSpPr>
            <a:spLocks xmlns:a="http://schemas.openxmlformats.org/drawingml/2006/main" noGrp="1"/>
          </p:cNvSpPr>
          <p:nvPr/>
        </p:nvSpPr>
        <p:spPr>
          <a:xfrm xmlns:a="http://schemas.openxmlformats.org/drawingml/2006/main">
            <a:off x="1714500" y="379095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6.3</a:t>
            </a:r>
          </a:p>
        </p:txBody>
      </p:sp>
      <p:sp>
        <p:nvSpPr>
          <p:cNvPr id="27" name="">
            <a:extLst xmlns:a="http://schemas.openxmlformats.org/drawingml/2006/main">
              <a:ext uri="{FF2B5EF4-FFF2-40B4-BE49-F238E27FC236}">
                <a16:creationId xmlns:a16="http://schemas.microsoft.com/office/drawing/2014/main" id="{7E01C3FA-8DBF-42C5-8E6B-DD2001CD756B}"/>
              </a:ext>
            </a:extLst>
          </p:cNvPr>
          <p:cNvSpPr>
            <a:spLocks xmlns:a="http://schemas.openxmlformats.org/drawingml/2006/main" noGrp="1"/>
          </p:cNvSpPr>
          <p:nvPr/>
        </p:nvSpPr>
        <p:spPr>
          <a:xfrm xmlns:a="http://schemas.openxmlformats.org/drawingml/2006/main">
            <a:off x="2381250" y="3743325"/>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Book</a:t>
            </a:r>
          </a:p>
        </p:txBody>
      </p:sp>
      <p:sp>
        <p:nvSpPr>
          <p:cNvPr id="28" name="">
            <a:extLst xmlns:a="http://schemas.openxmlformats.org/drawingml/2006/main">
              <a:ext uri="{FF2B5EF4-FFF2-40B4-BE49-F238E27FC236}">
                <a16:creationId xmlns:a16="http://schemas.microsoft.com/office/drawing/2014/main" id="{37791773-5A2D-4E2F-85B0-FD037306A963}"/>
              </a:ext>
            </a:extLst>
          </p:cNvPr>
          <p:cNvSpPr>
            <a:spLocks xmlns:a="http://schemas.openxmlformats.org/drawingml/2006/main" noGrp="1"/>
          </p:cNvSpPr>
          <p:nvPr/>
        </p:nvSpPr>
        <p:spPr>
          <a:xfrm xmlns:a="http://schemas.openxmlformats.org/drawingml/2006/main">
            <a:off x="4619625" y="376237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Offer an appointment within 24-48 hours and send a reminder.</a:t>
            </a:r>
          </a:p>
        </p:txBody>
      </p:sp>
      <p:sp>
        <p:nvSpPr>
          <p:cNvPr id="29" name="">
            <a:extLst xmlns:a="http://schemas.openxmlformats.org/drawingml/2006/main">
              <a:ext uri="{FF2B5EF4-FFF2-40B4-BE49-F238E27FC236}">
                <a16:creationId xmlns:a16="http://schemas.microsoft.com/office/drawing/2014/main" id="{0419C62C-3547-4494-B52B-2E30D6E0F389}"/>
              </a:ext>
            </a:extLst>
          </p:cNvPr>
          <p:cNvSpPr>
            <a:spLocks xmlns:a="http://schemas.openxmlformats.org/drawingml/2006/main" noGrp="1"/>
          </p:cNvSpPr>
          <p:nvPr/>
        </p:nvSpPr>
        <p:spPr>
          <a:xfrm xmlns:a="http://schemas.openxmlformats.org/drawingml/2006/main">
            <a:off x="1714500" y="4352925"/>
            <a:ext cx="1171575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E67004B-CA88-4AD4-988C-DC67816B5117}"/>
              </a:ext>
            </a:extLst>
          </p:cNvPr>
          <p:cNvSpPr>
            <a:spLocks xmlns:a="http://schemas.openxmlformats.org/drawingml/2006/main" noGrp="1"/>
          </p:cNvSpPr>
          <p:nvPr/>
        </p:nvSpPr>
        <p:spPr>
          <a:xfrm xmlns:a="http://schemas.openxmlformats.org/drawingml/2006/main">
            <a:off x="962025" y="4591050"/>
            <a:ext cx="428625" cy="428625"/>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40A55A2-8258-4A2C-A3E6-5FFFA19A7FE9}"/>
              </a:ext>
            </a:extLst>
          </p:cNvPr>
          <p:cNvSpPr>
            <a:spLocks xmlns:a="http://schemas.openxmlformats.org/drawingml/2006/main" noGrp="1"/>
          </p:cNvSpPr>
          <p:nvPr/>
        </p:nvSpPr>
        <p:spPr>
          <a:xfrm xmlns:a="http://schemas.openxmlformats.org/drawingml/2006/main">
            <a:off x="962025" y="466725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4</a:t>
            </a:r>
          </a:p>
        </p:txBody>
      </p:sp>
      <p:sp>
        <p:nvSpPr>
          <p:cNvPr id="32" name="">
            <a:extLst xmlns:a="http://schemas.openxmlformats.org/drawingml/2006/main">
              <a:ext uri="{FF2B5EF4-FFF2-40B4-BE49-F238E27FC236}">
                <a16:creationId xmlns:a16="http://schemas.microsoft.com/office/drawing/2014/main" id="{6F468CE7-D15C-42F5-9B95-CC071C6FE81E}"/>
              </a:ext>
            </a:extLst>
          </p:cNvPr>
          <p:cNvSpPr>
            <a:spLocks xmlns:a="http://schemas.openxmlformats.org/drawingml/2006/main" noGrp="1"/>
          </p:cNvSpPr>
          <p:nvPr/>
        </p:nvSpPr>
        <p:spPr>
          <a:xfrm xmlns:a="http://schemas.openxmlformats.org/drawingml/2006/main">
            <a:off x="1714500" y="454342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6.4</a:t>
            </a:r>
          </a:p>
        </p:txBody>
      </p:sp>
      <p:sp>
        <p:nvSpPr>
          <p:cNvPr id="33" name="">
            <a:extLst xmlns:a="http://schemas.openxmlformats.org/drawingml/2006/main">
              <a:ext uri="{FF2B5EF4-FFF2-40B4-BE49-F238E27FC236}">
                <a16:creationId xmlns:a16="http://schemas.microsoft.com/office/drawing/2014/main" id="{8E1C7CC4-E78C-4A5E-B991-67D944AB8672}"/>
              </a:ext>
            </a:extLst>
          </p:cNvPr>
          <p:cNvSpPr>
            <a:spLocks xmlns:a="http://schemas.openxmlformats.org/drawingml/2006/main" noGrp="1"/>
          </p:cNvSpPr>
          <p:nvPr/>
        </p:nvSpPr>
        <p:spPr>
          <a:xfrm xmlns:a="http://schemas.openxmlformats.org/drawingml/2006/main">
            <a:off x="2381250" y="4495800"/>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Explain</a:t>
            </a:r>
          </a:p>
        </p:txBody>
      </p:sp>
      <p:sp>
        <p:nvSpPr>
          <p:cNvPr id="34" name="">
            <a:extLst xmlns:a="http://schemas.openxmlformats.org/drawingml/2006/main">
              <a:ext uri="{FF2B5EF4-FFF2-40B4-BE49-F238E27FC236}">
                <a16:creationId xmlns:a16="http://schemas.microsoft.com/office/drawing/2014/main" id="{7317C2EF-6902-497C-9C55-1FF773A0B47B}"/>
              </a:ext>
            </a:extLst>
          </p:cNvPr>
          <p:cNvSpPr>
            <a:spLocks xmlns:a="http://schemas.openxmlformats.org/drawingml/2006/main" noGrp="1"/>
          </p:cNvSpPr>
          <p:nvPr/>
        </p:nvSpPr>
        <p:spPr>
          <a:xfrm xmlns:a="http://schemas.openxmlformats.org/drawingml/2006/main">
            <a:off x="4619625" y="45148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After assessment, clarify plan, price, duration, alternatives and expectations.</a:t>
            </a:r>
          </a:p>
        </p:txBody>
      </p:sp>
      <p:sp>
        <p:nvSpPr>
          <p:cNvPr id="35" name="">
            <a:extLst xmlns:a="http://schemas.openxmlformats.org/drawingml/2006/main">
              <a:ext uri="{FF2B5EF4-FFF2-40B4-BE49-F238E27FC236}">
                <a16:creationId xmlns:a16="http://schemas.microsoft.com/office/drawing/2014/main" id="{AD3AA926-B132-4545-9B6D-7752EDAEEEE9}"/>
              </a:ext>
            </a:extLst>
          </p:cNvPr>
          <p:cNvSpPr>
            <a:spLocks xmlns:a="http://schemas.openxmlformats.org/drawingml/2006/main" noGrp="1"/>
          </p:cNvSpPr>
          <p:nvPr/>
        </p:nvSpPr>
        <p:spPr>
          <a:xfrm xmlns:a="http://schemas.openxmlformats.org/drawingml/2006/main">
            <a:off x="1714500" y="5105400"/>
            <a:ext cx="1171575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33C09DF-CFA8-4A6F-BD3E-C9D25FFAD761}"/>
              </a:ext>
            </a:extLst>
          </p:cNvPr>
          <p:cNvSpPr>
            <a:spLocks xmlns:a="http://schemas.openxmlformats.org/drawingml/2006/main" noGrp="1"/>
          </p:cNvSpPr>
          <p:nvPr/>
        </p:nvSpPr>
        <p:spPr>
          <a:xfrm xmlns:a="http://schemas.openxmlformats.org/drawingml/2006/main">
            <a:off x="962025" y="5343525"/>
            <a:ext cx="428625" cy="428625"/>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58FBF4FF-C943-4314-8213-D98E13503C9D}"/>
              </a:ext>
            </a:extLst>
          </p:cNvPr>
          <p:cNvSpPr>
            <a:spLocks xmlns:a="http://schemas.openxmlformats.org/drawingml/2006/main" noGrp="1"/>
          </p:cNvSpPr>
          <p:nvPr/>
        </p:nvSpPr>
        <p:spPr>
          <a:xfrm xmlns:a="http://schemas.openxmlformats.org/drawingml/2006/main">
            <a:off x="962025" y="541972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5</a:t>
            </a:r>
          </a:p>
        </p:txBody>
      </p:sp>
      <p:sp>
        <p:nvSpPr>
          <p:cNvPr id="38" name="">
            <a:extLst xmlns:a="http://schemas.openxmlformats.org/drawingml/2006/main">
              <a:ext uri="{FF2B5EF4-FFF2-40B4-BE49-F238E27FC236}">
                <a16:creationId xmlns:a16="http://schemas.microsoft.com/office/drawing/2014/main" id="{112AF5E0-0356-4CEE-8916-A39AC534512B}"/>
              </a:ext>
            </a:extLst>
          </p:cNvPr>
          <p:cNvSpPr>
            <a:spLocks xmlns:a="http://schemas.openxmlformats.org/drawingml/2006/main" noGrp="1"/>
          </p:cNvSpPr>
          <p:nvPr/>
        </p:nvSpPr>
        <p:spPr>
          <a:xfrm xmlns:a="http://schemas.openxmlformats.org/drawingml/2006/main">
            <a:off x="1714500" y="529590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6.5</a:t>
            </a:r>
          </a:p>
        </p:txBody>
      </p:sp>
      <p:sp>
        <p:nvSpPr>
          <p:cNvPr id="39" name="">
            <a:extLst xmlns:a="http://schemas.openxmlformats.org/drawingml/2006/main">
              <a:ext uri="{FF2B5EF4-FFF2-40B4-BE49-F238E27FC236}">
                <a16:creationId xmlns:a16="http://schemas.microsoft.com/office/drawing/2014/main" id="{7AF3DE6F-7444-4932-AE8F-8956CC2B012D}"/>
              </a:ext>
            </a:extLst>
          </p:cNvPr>
          <p:cNvSpPr>
            <a:spLocks xmlns:a="http://schemas.openxmlformats.org/drawingml/2006/main" noGrp="1"/>
          </p:cNvSpPr>
          <p:nvPr/>
        </p:nvSpPr>
        <p:spPr>
          <a:xfrm xmlns:a="http://schemas.openxmlformats.org/drawingml/2006/main">
            <a:off x="2381250" y="5248275"/>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Follow up</a:t>
            </a:r>
          </a:p>
        </p:txBody>
      </p:sp>
      <p:sp>
        <p:nvSpPr>
          <p:cNvPr id="40" name="">
            <a:extLst xmlns:a="http://schemas.openxmlformats.org/drawingml/2006/main">
              <a:ext uri="{FF2B5EF4-FFF2-40B4-BE49-F238E27FC236}">
                <a16:creationId xmlns:a16="http://schemas.microsoft.com/office/drawing/2014/main" id="{327E1BD1-9BD6-43DB-B558-7D5303CBF83C}"/>
              </a:ext>
            </a:extLst>
          </p:cNvPr>
          <p:cNvSpPr>
            <a:spLocks xmlns:a="http://schemas.openxmlformats.org/drawingml/2006/main" noGrp="1"/>
          </p:cNvSpPr>
          <p:nvPr/>
        </p:nvSpPr>
        <p:spPr>
          <a:xfrm xmlns:a="http://schemas.openxmlformats.org/drawingml/2006/main">
            <a:off x="4619625" y="5267325"/>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Contact undecided prospects on Days 1, 3 and 7 without inappropriate pressure.</a:t>
            </a:r>
          </a:p>
        </p:txBody>
      </p:sp>
      <p:sp>
        <p:nvSpPr>
          <p:cNvPr id="41" name="">
            <a:extLst xmlns:a="http://schemas.openxmlformats.org/drawingml/2006/main">
              <a:ext uri="{FF2B5EF4-FFF2-40B4-BE49-F238E27FC236}">
                <a16:creationId xmlns:a16="http://schemas.microsoft.com/office/drawing/2014/main" id="{E1A0C513-E29D-44DB-9809-792727F9EC58}"/>
              </a:ext>
            </a:extLst>
          </p:cNvPr>
          <p:cNvSpPr>
            <a:spLocks xmlns:a="http://schemas.openxmlformats.org/drawingml/2006/main" noGrp="1"/>
          </p:cNvSpPr>
          <p:nvPr/>
        </p:nvSpPr>
        <p:spPr>
          <a:xfrm xmlns:a="http://schemas.openxmlformats.org/drawingml/2006/main">
            <a:off x="1714500" y="5857875"/>
            <a:ext cx="1171575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8DF7011-9F78-4277-8C4F-43A44810EBE3}"/>
              </a:ext>
            </a:extLst>
          </p:cNvPr>
          <p:cNvSpPr>
            <a:spLocks xmlns:a="http://schemas.openxmlformats.org/drawingml/2006/main" noGrp="1"/>
          </p:cNvSpPr>
          <p:nvPr/>
        </p:nvSpPr>
        <p:spPr>
          <a:xfrm xmlns:a="http://schemas.openxmlformats.org/drawingml/2006/main">
            <a:off x="962025" y="6096000"/>
            <a:ext cx="428625" cy="428625"/>
          </a:xfrm>
          <a:prstGeom xmlns:a="http://schemas.openxmlformats.org/drawingml/2006/main" prst="ellipse">
            <a:avLst/>
          </a:prstGeom>
          <a:solidFill xmlns:a="http://schemas.openxmlformats.org/drawingml/2006/main">
            <a:srgbClr val="538AC3"/>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8F3EFA4B-DCE8-46BB-81D9-FC472B0B3B89}"/>
              </a:ext>
            </a:extLst>
          </p:cNvPr>
          <p:cNvSpPr>
            <a:spLocks xmlns:a="http://schemas.openxmlformats.org/drawingml/2006/main" noGrp="1"/>
          </p:cNvSpPr>
          <p:nvPr/>
        </p:nvSpPr>
        <p:spPr>
          <a:xfrm xmlns:a="http://schemas.openxmlformats.org/drawingml/2006/main">
            <a:off x="962025" y="61722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6</a:t>
            </a:r>
          </a:p>
        </p:txBody>
      </p:sp>
      <p:sp>
        <p:nvSpPr>
          <p:cNvPr id="44" name="">
            <a:extLst xmlns:a="http://schemas.openxmlformats.org/drawingml/2006/main">
              <a:ext uri="{FF2B5EF4-FFF2-40B4-BE49-F238E27FC236}">
                <a16:creationId xmlns:a16="http://schemas.microsoft.com/office/drawing/2014/main" id="{1EE5DDA5-D720-440F-8373-5425B0DF9BA9}"/>
              </a:ext>
            </a:extLst>
          </p:cNvPr>
          <p:cNvSpPr>
            <a:spLocks xmlns:a="http://schemas.openxmlformats.org/drawingml/2006/main" noGrp="1"/>
          </p:cNvSpPr>
          <p:nvPr/>
        </p:nvSpPr>
        <p:spPr>
          <a:xfrm xmlns:a="http://schemas.openxmlformats.org/drawingml/2006/main">
            <a:off x="1714500" y="6048375"/>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6.6</a:t>
            </a:r>
          </a:p>
        </p:txBody>
      </p:sp>
      <p:sp>
        <p:nvSpPr>
          <p:cNvPr id="45" name="">
            <a:extLst xmlns:a="http://schemas.openxmlformats.org/drawingml/2006/main">
              <a:ext uri="{FF2B5EF4-FFF2-40B4-BE49-F238E27FC236}">
                <a16:creationId xmlns:a16="http://schemas.microsoft.com/office/drawing/2014/main" id="{E29CF334-811C-4C4D-BB9D-7DD9DBF1C9E4}"/>
              </a:ext>
            </a:extLst>
          </p:cNvPr>
          <p:cNvSpPr>
            <a:spLocks xmlns:a="http://schemas.openxmlformats.org/drawingml/2006/main" noGrp="1"/>
          </p:cNvSpPr>
          <p:nvPr/>
        </p:nvSpPr>
        <p:spPr>
          <a:xfrm xmlns:a="http://schemas.openxmlformats.org/drawingml/2006/main">
            <a:off x="2381250" y="6000750"/>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Monitor</a:t>
            </a:r>
          </a:p>
        </p:txBody>
      </p:sp>
      <p:sp>
        <p:nvSpPr>
          <p:cNvPr id="46" name="">
            <a:extLst xmlns:a="http://schemas.openxmlformats.org/drawingml/2006/main">
              <a:ext uri="{FF2B5EF4-FFF2-40B4-BE49-F238E27FC236}">
                <a16:creationId xmlns:a16="http://schemas.microsoft.com/office/drawing/2014/main" id="{1CE0A4F9-3645-4BF7-B726-737FBE8E5F0E}"/>
              </a:ext>
            </a:extLst>
          </p:cNvPr>
          <p:cNvSpPr>
            <a:spLocks xmlns:a="http://schemas.openxmlformats.org/drawingml/2006/main" noGrp="1"/>
          </p:cNvSpPr>
          <p:nvPr/>
        </p:nvSpPr>
        <p:spPr>
          <a:xfrm xmlns:a="http://schemas.openxmlformats.org/drawingml/2006/main">
            <a:off x="4619625" y="60198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Track care, adherence, service experience and clinical outcomes.</a:t>
            </a:r>
          </a:p>
        </p:txBody>
      </p:sp>
      <p:sp>
        <p:nvSpPr>
          <p:cNvPr id="47" name="">
            <a:extLst xmlns:a="http://schemas.openxmlformats.org/drawingml/2006/main">
              <a:ext uri="{FF2B5EF4-FFF2-40B4-BE49-F238E27FC236}">
                <a16:creationId xmlns:a16="http://schemas.microsoft.com/office/drawing/2014/main" id="{50D4E27E-7024-405A-904C-FA068790D7BC}"/>
              </a:ext>
            </a:extLst>
          </p:cNvPr>
          <p:cNvSpPr>
            <a:spLocks xmlns:a="http://schemas.openxmlformats.org/drawingml/2006/main" noGrp="1"/>
          </p:cNvSpPr>
          <p:nvPr/>
        </p:nvSpPr>
        <p:spPr>
          <a:xfrm xmlns:a="http://schemas.openxmlformats.org/drawingml/2006/main">
            <a:off x="10382250" y="6610350"/>
            <a:ext cx="3429000" cy="7810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3E8404F-B55D-4C30-A561-86E278F79764}"/>
              </a:ext>
            </a:extLst>
          </p:cNvPr>
          <p:cNvSpPr>
            <a:spLocks xmlns:a="http://schemas.openxmlformats.org/drawingml/2006/main" noGrp="1"/>
          </p:cNvSpPr>
          <p:nvPr/>
        </p:nvSpPr>
        <p:spPr>
          <a:xfrm xmlns:a="http://schemas.openxmlformats.org/drawingml/2006/main">
            <a:off x="10668000" y="68199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018"/>
          </a:bodyPr>
          <a:lstStyle xmlns:a="http://schemas.openxmlformats.org/drawingml/2006/main"/>
          <a:p xmlns:a="http://schemas.openxmlformats.org/drawingml/2006/main">
            <a:pPr algn="ctr">
              <a:lnSpc>
                <a:spcPct val="108000"/>
              </a:lnSpc>
              <a:buNone/>
              <a:defRPr sz="1500" b="1" i="0">
                <a:solidFill>
                  <a:srgbClr val="FFFFFF"/>
                </a:solidFill>
                <a:latin typeface="Arial"/>
                <a:ea typeface="Arial"/>
                <a:cs typeface="Arial"/>
              </a:defRPr>
            </a:pPr>
            <a:r>
              <a:rPr sz="1500" b="1" i="0">
                <a:solidFill>
                  <a:srgbClr val="FFFFFF"/>
                </a:solidFill>
                <a:latin typeface="Arial"/>
                <a:ea typeface="Arial"/>
                <a:cs typeface="Arial"/>
              </a:rPr>
              <a:t>Conversion is a process, not a single reply.</a:t>
            </a:r>
          </a:p>
        </p:txBody>
      </p:sp>
    </p:spTree>
    <p:extLst>
      <p:ext uri="{BB962C8B-B14F-4D97-AF65-F5344CB8AC3E}">
        <p14:creationId xmlns:p14="http://schemas.microsoft.com/office/powerpoint/2010/main" val="20265482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454ae2be86e4c60"/>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B68680E-0908-4805-93DC-18F881DF06FF}"/>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EF45D92C-CB4D-47EA-B19B-604B04FFB3F5}"/>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D3941EFC-7D3F-411A-BD29-66CA8DBC09BB}"/>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BC8D942-43CD-4410-B3DA-0DDC13D11124}"/>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B53A5E4-9494-4634-B36A-38C59AF1CC1F}"/>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C305C519-8524-4101-B156-118F4BF874F4}"/>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7A2357D0-845A-494A-8395-5319D5A9B6BD}"/>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17</a:t>
            </a:r>
          </a:p>
        </p:txBody>
      </p:sp>
      <p:sp>
        <p:nvSpPr>
          <p:cNvPr id="9" name="">
            <a:extLst xmlns:a="http://schemas.openxmlformats.org/drawingml/2006/main">
              <a:ext uri="{FF2B5EF4-FFF2-40B4-BE49-F238E27FC236}">
                <a16:creationId xmlns:a16="http://schemas.microsoft.com/office/drawing/2014/main" id="{D74BB7F3-A74D-4067-862F-3AA9BA21D1E3}"/>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INDICATIVE PAID-MEDIA BUDGET</a:t>
            </a:r>
          </a:p>
        </p:txBody>
      </p:sp>
      <p:sp>
        <p:nvSpPr>
          <p:cNvPr id="10" name="">
            <a:extLst xmlns:a="http://schemas.openxmlformats.org/drawingml/2006/main">
              <a:ext uri="{FF2B5EF4-FFF2-40B4-BE49-F238E27FC236}">
                <a16:creationId xmlns:a16="http://schemas.microsoft.com/office/drawing/2014/main" id="{3A0F4DF1-4B32-48E2-BD5D-3ED399EF152A}"/>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Increase paid media only after lead quality is proven</a:t>
            </a:r>
          </a:p>
        </p:txBody>
      </p:sp>
      <p:graphicFrame>
        <p:nvGraphicFramePr>
          <p:cNvPr id="29" name="Chart"/>
          <p:cNvGraphicFramePr/>
          <p:nvPr/>
        </p:nvGraphicFramePr>
        <p:xfrm>
          <a:off xmlns:a="http://schemas.openxmlformats.org/drawingml/2006/main" x="809625" y="2333625"/>
          <a:ext xmlns:a="http://schemas.openxmlformats.org/drawingml/2006/main" cx="9144000" cy="4476750"/>
        </p:xfrm>
        <a:graphic xmlns:a="http://schemas.openxmlformats.org/drawingml/2006/main">
          <a:graphicData uri="http://schemas.openxmlformats.org/drawingml/2006/chart">
            <c:chart xmlns:r="http://schemas.openxmlformats.org/officeDocument/2006/relationships" xmlns:c="http://schemas.openxmlformats.org/drawingml/2006/chart" r:id="R9b3b1d8a98154bf0"/>
          </a:graphicData>
        </a:graphic>
      </p:graphicFrame>
      <p:sp>
        <p:nvSpPr>
          <p:cNvPr id="12" name="">
            <a:extLst xmlns:a="http://schemas.openxmlformats.org/drawingml/2006/main">
              <a:ext uri="{FF2B5EF4-FFF2-40B4-BE49-F238E27FC236}">
                <a16:creationId xmlns:a16="http://schemas.microsoft.com/office/drawing/2014/main" id="{951B30CF-877D-479F-BB5F-5D9E36FAA87A}"/>
              </a:ext>
            </a:extLst>
          </p:cNvPr>
          <p:cNvSpPr>
            <a:spLocks xmlns:a="http://schemas.openxmlformats.org/drawingml/2006/main" noGrp="1"/>
          </p:cNvSpPr>
          <p:nvPr/>
        </p:nvSpPr>
        <p:spPr>
          <a:xfrm xmlns:a="http://schemas.openxmlformats.org/drawingml/2006/main">
            <a:off x="10477500" y="2381250"/>
            <a:ext cx="3905250" cy="2238375"/>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F698186-C2A9-46F3-BEC9-CACF47DBE464}"/>
              </a:ext>
            </a:extLst>
          </p:cNvPr>
          <p:cNvSpPr>
            <a:spLocks xmlns:a="http://schemas.openxmlformats.org/drawingml/2006/main" noGrp="1"/>
          </p:cNvSpPr>
          <p:nvPr/>
        </p:nvSpPr>
        <p:spPr>
          <a:xfrm xmlns:a="http://schemas.openxmlformats.org/drawingml/2006/main">
            <a:off x="10858500" y="27527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C9D8EB"/>
                </a:solidFill>
                <a:latin typeface="Arial"/>
                <a:ea typeface="Arial"/>
                <a:cs typeface="Arial"/>
              </a:defRPr>
            </a:pPr>
            <a:r>
              <a:rPr sz="1125" b="1" i="0">
                <a:solidFill>
                  <a:srgbClr val="C9D8EB"/>
                </a:solidFill>
                <a:latin typeface="Arial"/>
                <a:ea typeface="Arial"/>
                <a:cs typeface="Arial"/>
              </a:rPr>
              <a:t>TOTAL RANGE</a:t>
            </a:r>
          </a:p>
        </p:txBody>
      </p:sp>
      <p:sp>
        <p:nvSpPr>
          <p:cNvPr id="14" name="">
            <a:extLst xmlns:a="http://schemas.openxmlformats.org/drawingml/2006/main">
              <a:ext uri="{FF2B5EF4-FFF2-40B4-BE49-F238E27FC236}">
                <a16:creationId xmlns:a16="http://schemas.microsoft.com/office/drawing/2014/main" id="{DC40874F-2790-42CA-9A61-366C39487B1B}"/>
              </a:ext>
            </a:extLst>
          </p:cNvPr>
          <p:cNvSpPr>
            <a:spLocks xmlns:a="http://schemas.openxmlformats.org/drawingml/2006/main" noGrp="1"/>
          </p:cNvSpPr>
          <p:nvPr/>
        </p:nvSpPr>
        <p:spPr>
          <a:xfrm xmlns:a="http://schemas.openxmlformats.org/drawingml/2006/main">
            <a:off x="10858500" y="3171825"/>
            <a:ext cx="3143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074"/>
          </a:bodyPr>
          <a:lstStyle xmlns:a="http://schemas.openxmlformats.org/drawingml/2006/main"/>
          <a:p xmlns:a="http://schemas.openxmlformats.org/drawingml/2006/main">
            <a:pPr algn="ctr">
              <a:lnSpc>
                <a:spcPct val="95000"/>
              </a:lnSpc>
              <a:buNone/>
              <a:defRPr sz="3150" b="1" i="0">
                <a:solidFill>
                  <a:srgbClr val="FFFFFF"/>
                </a:solidFill>
                <a:latin typeface="Arial"/>
                <a:ea typeface="Arial"/>
                <a:cs typeface="Arial"/>
              </a:defRPr>
            </a:pPr>
            <a:r>
              <a:rPr sz="3150" b="1" i="0">
                <a:solidFill>
                  <a:srgbClr val="FFFFFF"/>
                </a:solidFill>
                <a:latin typeface="Arial"/>
                <a:ea typeface="Arial"/>
                <a:cs typeface="Arial"/>
              </a:rPr>
              <a:t>RM18,500-</a:t>
            </a:r>
          </a:p>
          <a:p xmlns:a="http://schemas.openxmlformats.org/drawingml/2006/main">
            <a:pPr algn="ctr">
              <a:lnSpc>
                <a:spcPct val="95000"/>
              </a:lnSpc>
              <a:buNone/>
              <a:defRPr sz="3150" b="1" i="0">
                <a:solidFill>
                  <a:srgbClr val="FFFFFF"/>
                </a:solidFill>
                <a:latin typeface="Arial"/>
                <a:ea typeface="Arial"/>
                <a:cs typeface="Arial"/>
              </a:defRPr>
            </a:pPr>
            <a:r>
              <a:rPr sz="3150" b="1" i="0">
                <a:solidFill>
                  <a:srgbClr val="FFFFFF"/>
                </a:solidFill>
                <a:latin typeface="Arial"/>
                <a:ea typeface="Arial"/>
                <a:cs typeface="Arial"/>
              </a:rPr>
              <a:t>RM23,000</a:t>
            </a:r>
          </a:p>
        </p:txBody>
      </p:sp>
      <p:sp>
        <p:nvSpPr>
          <p:cNvPr id="15" name="">
            <a:extLst xmlns:a="http://schemas.openxmlformats.org/drawingml/2006/main">
              <a:ext uri="{FF2B5EF4-FFF2-40B4-BE49-F238E27FC236}">
                <a16:creationId xmlns:a16="http://schemas.microsoft.com/office/drawing/2014/main" id="{BE7713C7-8784-4AB2-A41B-3CEC9224FF47}"/>
              </a:ext>
            </a:extLst>
          </p:cNvPr>
          <p:cNvSpPr>
            <a:spLocks xmlns:a="http://schemas.openxmlformats.org/drawingml/2006/main" noGrp="1"/>
          </p:cNvSpPr>
          <p:nvPr/>
        </p:nvSpPr>
        <p:spPr>
          <a:xfrm xmlns:a="http://schemas.openxmlformats.org/drawingml/2006/main">
            <a:off x="10858500" y="417195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Paid media only</a:t>
            </a:r>
          </a:p>
        </p:txBody>
      </p:sp>
      <p:sp>
        <p:nvSpPr>
          <p:cNvPr id="16" name="">
            <a:extLst xmlns:a="http://schemas.openxmlformats.org/drawingml/2006/main">
              <a:ext uri="{FF2B5EF4-FFF2-40B4-BE49-F238E27FC236}">
                <a16:creationId xmlns:a16="http://schemas.microsoft.com/office/drawing/2014/main" id="{923658BB-8465-4E4B-B843-CC36D35CF5BA}"/>
              </a:ext>
            </a:extLst>
          </p:cNvPr>
          <p:cNvSpPr>
            <a:spLocks xmlns:a="http://schemas.openxmlformats.org/drawingml/2006/main" noGrp="1"/>
          </p:cNvSpPr>
          <p:nvPr/>
        </p:nvSpPr>
        <p:spPr>
          <a:xfrm xmlns:a="http://schemas.openxmlformats.org/drawingml/2006/main">
            <a:off x="10477500" y="50958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51"/>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Scaling rule</a:t>
            </a:r>
          </a:p>
        </p:txBody>
      </p:sp>
      <p:sp>
        <p:nvSpPr>
          <p:cNvPr id="17" name="">
            <a:extLst xmlns:a="http://schemas.openxmlformats.org/drawingml/2006/main">
              <a:ext uri="{FF2B5EF4-FFF2-40B4-BE49-F238E27FC236}">
                <a16:creationId xmlns:a16="http://schemas.microsoft.com/office/drawing/2014/main" id="{A0976DD7-E09F-4D38-A752-25DD490822F3}"/>
              </a:ext>
            </a:extLst>
          </p:cNvPr>
          <p:cNvSpPr>
            <a:spLocks xmlns:a="http://schemas.openxmlformats.org/drawingml/2006/main" noGrp="1"/>
          </p:cNvSpPr>
          <p:nvPr/>
        </p:nvSpPr>
        <p:spPr>
          <a:xfrm xmlns:a="http://schemas.openxmlformats.org/drawingml/2006/main">
            <a:off x="10477500" y="5524500"/>
            <a:ext cx="38576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1E293B"/>
                </a:solidFill>
                <a:latin typeface="Arial"/>
                <a:ea typeface="Arial"/>
                <a:cs typeface="Arial"/>
              </a:defRPr>
            </a:pPr>
            <a:r>
              <a:rPr sz="1575" b="0" i="0">
                <a:solidFill>
                  <a:srgbClr val="1E293B"/>
                </a:solidFill>
                <a:latin typeface="Arial"/>
                <a:ea typeface="Arial"/>
                <a:cs typeface="Arial"/>
              </a:rPr>
              <a:t>Increase spend gradually only when qualified-lead quality, appointment cost and conversion are acceptable.</a:t>
            </a:r>
          </a:p>
        </p:txBody>
      </p:sp>
      <p:sp>
        <p:nvSpPr>
          <p:cNvPr id="18" name="">
            <a:extLst xmlns:a="http://schemas.openxmlformats.org/drawingml/2006/main">
              <a:ext uri="{FF2B5EF4-FFF2-40B4-BE49-F238E27FC236}">
                <a16:creationId xmlns:a16="http://schemas.microsoft.com/office/drawing/2014/main" id="{39F2E672-37BC-4162-AF24-303974A8A82E}"/>
              </a:ext>
            </a:extLst>
          </p:cNvPr>
          <p:cNvSpPr>
            <a:spLocks xmlns:a="http://schemas.openxmlformats.org/drawingml/2006/main" noGrp="1"/>
          </p:cNvSpPr>
          <p:nvPr/>
        </p:nvSpPr>
        <p:spPr>
          <a:xfrm xmlns:a="http://schemas.openxmlformats.org/drawingml/2006/main">
            <a:off x="10477500" y="6810375"/>
            <a:ext cx="3857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64748B"/>
                </a:solidFill>
                <a:latin typeface="Arial"/>
                <a:ea typeface="Arial"/>
                <a:cs typeface="Arial"/>
              </a:defRPr>
            </a:pPr>
            <a:r>
              <a:rPr sz="1200" b="1" i="0">
                <a:solidFill>
                  <a:srgbClr val="64748B"/>
                </a:solidFill>
                <a:latin typeface="Arial"/>
                <a:ea typeface="Arial"/>
                <a:cs typeface="Arial"/>
              </a:rPr>
              <a:t>Production, outreach, printing and event-management costs require separate approval.</a:t>
            </a:r>
          </a:p>
        </p:txBody>
      </p:sp>
    </p:spTree>
    <p:extLst>
      <p:ext uri="{BB962C8B-B14F-4D97-AF65-F5344CB8AC3E}">
        <p14:creationId xmlns:p14="http://schemas.microsoft.com/office/powerpoint/2010/main" val="1992868170"/>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b9522a5925d4e7b"/>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C8544F-4BB7-4D92-BFA7-88FE88A38639}"/>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C9E4C3D4-6573-459F-9FF8-72BFFB2BB740}"/>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553FC8C5-F44E-4663-83C4-BDD78B69769E}"/>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A93793-F2AD-4B00-B3EF-5F1DA10D0D23}"/>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57E1C6-0E0C-4604-ADC6-46366BFFC9CF}"/>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24A5C9F8-23EC-48C7-8BA7-91135D521619}"/>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FA64A3B7-3A5D-4056-9879-113886B70E0C}"/>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18</a:t>
            </a:r>
          </a:p>
        </p:txBody>
      </p:sp>
      <p:sp>
        <p:nvSpPr>
          <p:cNvPr id="9" name="">
            <a:extLst xmlns:a="http://schemas.openxmlformats.org/drawingml/2006/main">
              <a:ext uri="{FF2B5EF4-FFF2-40B4-BE49-F238E27FC236}">
                <a16:creationId xmlns:a16="http://schemas.microsoft.com/office/drawing/2014/main" id="{B3885FDA-EF31-454B-A3FA-0E37805B95C3}"/>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ROLES AND ACCOUNTABILITY</a:t>
            </a:r>
          </a:p>
        </p:txBody>
      </p:sp>
      <p:sp>
        <p:nvSpPr>
          <p:cNvPr id="10" name="">
            <a:extLst xmlns:a="http://schemas.openxmlformats.org/drawingml/2006/main">
              <a:ext uri="{FF2B5EF4-FFF2-40B4-BE49-F238E27FC236}">
                <a16:creationId xmlns:a16="http://schemas.microsoft.com/office/drawing/2014/main" id="{0D216AAB-2600-4E51-A637-C4ACC5CFBA3B}"/>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Clear ownership keeps the plan moving every week</a:t>
            </a:r>
          </a:p>
        </p:txBody>
      </p:sp>
      <p:sp>
        <p:nvSpPr>
          <p:cNvPr id="11" name="">
            <a:extLst xmlns:a="http://schemas.openxmlformats.org/drawingml/2006/main">
              <a:ext uri="{FF2B5EF4-FFF2-40B4-BE49-F238E27FC236}">
                <a16:creationId xmlns:a16="http://schemas.microsoft.com/office/drawing/2014/main" id="{C8A91E88-20C8-48E5-9F19-DCAC2AAE9E6E}"/>
              </a:ext>
            </a:extLst>
          </p:cNvPr>
          <p:cNvSpPr>
            <a:spLocks xmlns:a="http://schemas.openxmlformats.org/drawingml/2006/main" noGrp="1"/>
          </p:cNvSpPr>
          <p:nvPr/>
        </p:nvSpPr>
        <p:spPr>
          <a:xfrm xmlns:a="http://schemas.openxmlformats.org/drawingml/2006/main">
            <a:off x="952500" y="2428875"/>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E75A6C75-5EAA-4FFA-9EBD-DD9E5562A495}"/>
              </a:ext>
            </a:extLst>
          </p:cNvPr>
          <p:cNvSpPr>
            <a:spLocks xmlns:a="http://schemas.openxmlformats.org/drawingml/2006/main" noGrp="1"/>
          </p:cNvSpPr>
          <p:nvPr/>
        </p:nvSpPr>
        <p:spPr>
          <a:xfrm xmlns:a="http://schemas.openxmlformats.org/drawingml/2006/main">
            <a:off x="1571625" y="24003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Director / Clinical Lead</a:t>
            </a:r>
          </a:p>
        </p:txBody>
      </p:sp>
      <p:sp>
        <p:nvSpPr>
          <p:cNvPr id="13" name="">
            <a:extLst xmlns:a="http://schemas.openxmlformats.org/drawingml/2006/main">
              <a:ext uri="{FF2B5EF4-FFF2-40B4-BE49-F238E27FC236}">
                <a16:creationId xmlns:a16="http://schemas.microsoft.com/office/drawing/2014/main" id="{D459C457-93D9-4577-B583-ABF1D4D0277C}"/>
              </a:ext>
            </a:extLst>
          </p:cNvPr>
          <p:cNvSpPr>
            <a:spLocks xmlns:a="http://schemas.openxmlformats.org/drawingml/2006/main" noGrp="1"/>
          </p:cNvSpPr>
          <p:nvPr/>
        </p:nvSpPr>
        <p:spPr>
          <a:xfrm xmlns:a="http://schemas.openxmlformats.org/drawingml/2006/main">
            <a:off x="5476875" y="24193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Approve clinical claims, medical content and treatment protocols.</a:t>
            </a:r>
          </a:p>
        </p:txBody>
      </p:sp>
      <p:sp>
        <p:nvSpPr>
          <p:cNvPr id="14" name="">
            <a:extLst xmlns:a="http://schemas.openxmlformats.org/drawingml/2006/main">
              <a:ext uri="{FF2B5EF4-FFF2-40B4-BE49-F238E27FC236}">
                <a16:creationId xmlns:a16="http://schemas.microsoft.com/office/drawing/2014/main" id="{E006B9B6-8A28-4921-A2DF-BE4328934F3A}"/>
              </a:ext>
            </a:extLst>
          </p:cNvPr>
          <p:cNvSpPr>
            <a:spLocks xmlns:a="http://schemas.openxmlformats.org/drawingml/2006/main" noGrp="1"/>
          </p:cNvSpPr>
          <p:nvPr/>
        </p:nvSpPr>
        <p:spPr>
          <a:xfrm xmlns:a="http://schemas.openxmlformats.org/drawingml/2006/main">
            <a:off x="1571625" y="3009900"/>
            <a:ext cx="12001500" cy="9525"/>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97F1D9B-074C-494A-B0C6-A6879D721FB3}"/>
              </a:ext>
            </a:extLst>
          </p:cNvPr>
          <p:cNvSpPr>
            <a:spLocks xmlns:a="http://schemas.openxmlformats.org/drawingml/2006/main" noGrp="1"/>
          </p:cNvSpPr>
          <p:nvPr/>
        </p:nvSpPr>
        <p:spPr>
          <a:xfrm xmlns:a="http://schemas.openxmlformats.org/drawingml/2006/main">
            <a:off x="952500" y="3267075"/>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CB74AA89-6D79-4F86-A720-65D3D07942EE}"/>
              </a:ext>
            </a:extLst>
          </p:cNvPr>
          <p:cNvSpPr>
            <a:spLocks xmlns:a="http://schemas.openxmlformats.org/drawingml/2006/main" noGrp="1"/>
          </p:cNvSpPr>
          <p:nvPr/>
        </p:nvSpPr>
        <p:spPr>
          <a:xfrm xmlns:a="http://schemas.openxmlformats.org/drawingml/2006/main">
            <a:off x="1571625" y="32385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Dr Johan</a:t>
            </a:r>
          </a:p>
        </p:txBody>
      </p:sp>
      <p:sp>
        <p:nvSpPr>
          <p:cNvPr id="17" name="">
            <a:extLst xmlns:a="http://schemas.openxmlformats.org/drawingml/2006/main">
              <a:ext uri="{FF2B5EF4-FFF2-40B4-BE49-F238E27FC236}">
                <a16:creationId xmlns:a16="http://schemas.microsoft.com/office/drawing/2014/main" id="{EA7EC2A9-2692-4D06-A815-3A79A9F797A0}"/>
              </a:ext>
            </a:extLst>
          </p:cNvPr>
          <p:cNvSpPr>
            <a:spLocks xmlns:a="http://schemas.openxmlformats.org/drawingml/2006/main" noGrp="1"/>
          </p:cNvSpPr>
          <p:nvPr/>
        </p:nvSpPr>
        <p:spPr>
          <a:xfrm xmlns:a="http://schemas.openxmlformats.org/drawingml/2006/main">
            <a:off x="5476875" y="32575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Coordinate campaigns, the performance dashboard, partnerships and management reporting.</a:t>
            </a:r>
          </a:p>
        </p:txBody>
      </p:sp>
      <p:sp>
        <p:nvSpPr>
          <p:cNvPr id="18" name="">
            <a:extLst xmlns:a="http://schemas.openxmlformats.org/drawingml/2006/main">
              <a:ext uri="{FF2B5EF4-FFF2-40B4-BE49-F238E27FC236}">
                <a16:creationId xmlns:a16="http://schemas.microsoft.com/office/drawing/2014/main" id="{841D4EF4-16A1-4484-BFED-E1FB1AE2CCB2}"/>
              </a:ext>
            </a:extLst>
          </p:cNvPr>
          <p:cNvSpPr>
            <a:spLocks xmlns:a="http://schemas.openxmlformats.org/drawingml/2006/main" noGrp="1"/>
          </p:cNvSpPr>
          <p:nvPr/>
        </p:nvSpPr>
        <p:spPr>
          <a:xfrm xmlns:a="http://schemas.openxmlformats.org/drawingml/2006/main">
            <a:off x="1571625" y="3848100"/>
            <a:ext cx="12001500" cy="9525"/>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3BD9DF-9105-4AFD-8F33-5D123D5273C2}"/>
              </a:ext>
            </a:extLst>
          </p:cNvPr>
          <p:cNvSpPr>
            <a:spLocks xmlns:a="http://schemas.openxmlformats.org/drawingml/2006/main" noGrp="1"/>
          </p:cNvSpPr>
          <p:nvPr/>
        </p:nvSpPr>
        <p:spPr>
          <a:xfrm xmlns:a="http://schemas.openxmlformats.org/drawingml/2006/main">
            <a:off x="952500" y="4105275"/>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B39464BB-D708-4B93-84C4-E42B5CE9D225}"/>
              </a:ext>
            </a:extLst>
          </p:cNvPr>
          <p:cNvSpPr>
            <a:spLocks xmlns:a="http://schemas.openxmlformats.org/drawingml/2006/main" noGrp="1"/>
          </p:cNvSpPr>
          <p:nvPr/>
        </p:nvSpPr>
        <p:spPr>
          <a:xfrm xmlns:a="http://schemas.openxmlformats.org/drawingml/2006/main">
            <a:off x="1571625" y="40767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Clinic Assistant</a:t>
            </a:r>
          </a:p>
        </p:txBody>
      </p:sp>
      <p:sp>
        <p:nvSpPr>
          <p:cNvPr id="21" name="">
            <a:extLst xmlns:a="http://schemas.openxmlformats.org/drawingml/2006/main">
              <a:ext uri="{FF2B5EF4-FFF2-40B4-BE49-F238E27FC236}">
                <a16:creationId xmlns:a16="http://schemas.microsoft.com/office/drawing/2014/main" id="{C629FA0F-D350-45FA-838B-0AA8A6A72A1C}"/>
              </a:ext>
            </a:extLst>
          </p:cNvPr>
          <p:cNvSpPr>
            <a:spLocks xmlns:a="http://schemas.openxmlformats.org/drawingml/2006/main" noGrp="1"/>
          </p:cNvSpPr>
          <p:nvPr/>
        </p:nvSpPr>
        <p:spPr>
          <a:xfrm xmlns:a="http://schemas.openxmlformats.org/drawingml/2006/main">
            <a:off x="5476875" y="40957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Manage WhatsApp, appointments, reminders, follow-up and lead-status updates.</a:t>
            </a:r>
          </a:p>
        </p:txBody>
      </p:sp>
      <p:sp>
        <p:nvSpPr>
          <p:cNvPr id="22" name="">
            <a:extLst xmlns:a="http://schemas.openxmlformats.org/drawingml/2006/main">
              <a:ext uri="{FF2B5EF4-FFF2-40B4-BE49-F238E27FC236}">
                <a16:creationId xmlns:a16="http://schemas.microsoft.com/office/drawing/2014/main" id="{9FCE8771-9B76-4B2B-B953-C3853D659EC2}"/>
              </a:ext>
            </a:extLst>
          </p:cNvPr>
          <p:cNvSpPr>
            <a:spLocks xmlns:a="http://schemas.openxmlformats.org/drawingml/2006/main" noGrp="1"/>
          </p:cNvSpPr>
          <p:nvPr/>
        </p:nvSpPr>
        <p:spPr>
          <a:xfrm xmlns:a="http://schemas.openxmlformats.org/drawingml/2006/main">
            <a:off x="1571625" y="4686300"/>
            <a:ext cx="12001500" cy="9525"/>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A55D660-F62D-495C-8AC9-E8A802FC8A35}"/>
              </a:ext>
            </a:extLst>
          </p:cNvPr>
          <p:cNvSpPr>
            <a:spLocks xmlns:a="http://schemas.openxmlformats.org/drawingml/2006/main" noGrp="1"/>
          </p:cNvSpPr>
          <p:nvPr/>
        </p:nvSpPr>
        <p:spPr>
          <a:xfrm xmlns:a="http://schemas.openxmlformats.org/drawingml/2006/main">
            <a:off x="952500" y="4943475"/>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04</a:t>
            </a:r>
          </a:p>
        </p:txBody>
      </p:sp>
      <p:sp>
        <p:nvSpPr>
          <p:cNvPr id="24" name="">
            <a:extLst xmlns:a="http://schemas.openxmlformats.org/drawingml/2006/main">
              <a:ext uri="{FF2B5EF4-FFF2-40B4-BE49-F238E27FC236}">
                <a16:creationId xmlns:a16="http://schemas.microsoft.com/office/drawing/2014/main" id="{395F146E-E563-431C-BA3D-46BC5F792BFB}"/>
              </a:ext>
            </a:extLst>
          </p:cNvPr>
          <p:cNvSpPr>
            <a:spLocks xmlns:a="http://schemas.openxmlformats.org/drawingml/2006/main" noGrp="1"/>
          </p:cNvSpPr>
          <p:nvPr/>
        </p:nvSpPr>
        <p:spPr>
          <a:xfrm xmlns:a="http://schemas.openxmlformats.org/drawingml/2006/main">
            <a:off x="1571625" y="49149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Doctors / Nurses</a:t>
            </a:r>
          </a:p>
        </p:txBody>
      </p:sp>
      <p:sp>
        <p:nvSpPr>
          <p:cNvPr id="25" name="">
            <a:extLst xmlns:a="http://schemas.openxmlformats.org/drawingml/2006/main">
              <a:ext uri="{FF2B5EF4-FFF2-40B4-BE49-F238E27FC236}">
                <a16:creationId xmlns:a16="http://schemas.microsoft.com/office/drawing/2014/main" id="{382557C5-0E26-4DFA-8BEF-1E2A7BEEB2D9}"/>
              </a:ext>
            </a:extLst>
          </p:cNvPr>
          <p:cNvSpPr>
            <a:spLocks xmlns:a="http://schemas.openxmlformats.org/drawingml/2006/main" noGrp="1"/>
          </p:cNvSpPr>
          <p:nvPr/>
        </p:nvSpPr>
        <p:spPr>
          <a:xfrm xmlns:a="http://schemas.openxmlformats.org/drawingml/2006/main">
            <a:off x="5476875" y="49339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Provide education, case documentation and clinical explanations.</a:t>
            </a:r>
          </a:p>
        </p:txBody>
      </p:sp>
      <p:sp>
        <p:nvSpPr>
          <p:cNvPr id="26" name="">
            <a:extLst xmlns:a="http://schemas.openxmlformats.org/drawingml/2006/main">
              <a:ext uri="{FF2B5EF4-FFF2-40B4-BE49-F238E27FC236}">
                <a16:creationId xmlns:a16="http://schemas.microsoft.com/office/drawing/2014/main" id="{9A431EEA-67E4-47AA-85EB-4CA8239B8244}"/>
              </a:ext>
            </a:extLst>
          </p:cNvPr>
          <p:cNvSpPr>
            <a:spLocks xmlns:a="http://schemas.openxmlformats.org/drawingml/2006/main" noGrp="1"/>
          </p:cNvSpPr>
          <p:nvPr/>
        </p:nvSpPr>
        <p:spPr>
          <a:xfrm xmlns:a="http://schemas.openxmlformats.org/drawingml/2006/main">
            <a:off x="1571625" y="5524500"/>
            <a:ext cx="12001500" cy="9525"/>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A353B18-F5A9-44FE-A8B6-F56E6ED3E49E}"/>
              </a:ext>
            </a:extLst>
          </p:cNvPr>
          <p:cNvSpPr>
            <a:spLocks xmlns:a="http://schemas.openxmlformats.org/drawingml/2006/main" noGrp="1"/>
          </p:cNvSpPr>
          <p:nvPr/>
        </p:nvSpPr>
        <p:spPr>
          <a:xfrm xmlns:a="http://schemas.openxmlformats.org/drawingml/2006/main">
            <a:off x="952500" y="5781675"/>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38AC3"/>
                </a:solidFill>
                <a:latin typeface="Arial"/>
                <a:ea typeface="Arial"/>
                <a:cs typeface="Arial"/>
              </a:defRPr>
            </a:pPr>
            <a:r>
              <a:rPr sz="1050" b="1" i="0">
                <a:solidFill>
                  <a:srgbClr val="538AC3"/>
                </a:solidFill>
                <a:latin typeface="Arial"/>
                <a:ea typeface="Arial"/>
                <a:cs typeface="Arial"/>
              </a:rPr>
              <a:t>05</a:t>
            </a:r>
          </a:p>
        </p:txBody>
      </p:sp>
      <p:sp>
        <p:nvSpPr>
          <p:cNvPr id="28" name="">
            <a:extLst xmlns:a="http://schemas.openxmlformats.org/drawingml/2006/main">
              <a:ext uri="{FF2B5EF4-FFF2-40B4-BE49-F238E27FC236}">
                <a16:creationId xmlns:a16="http://schemas.microsoft.com/office/drawing/2014/main" id="{20C876E5-A2C8-4C8C-B130-C318B18A6B21}"/>
              </a:ext>
            </a:extLst>
          </p:cNvPr>
          <p:cNvSpPr>
            <a:spLocks xmlns:a="http://schemas.openxmlformats.org/drawingml/2006/main" noGrp="1"/>
          </p:cNvSpPr>
          <p:nvPr/>
        </p:nvSpPr>
        <p:spPr>
          <a:xfrm xmlns:a="http://schemas.openxmlformats.org/drawingml/2006/main">
            <a:off x="1571625" y="57531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173"/>
                </a:solidFill>
                <a:latin typeface="Arial"/>
                <a:ea typeface="Arial"/>
                <a:cs typeface="Arial"/>
              </a:defRPr>
            </a:pPr>
            <a:r>
              <a:rPr sz="1800" b="1" i="0">
                <a:solidFill>
                  <a:srgbClr val="234173"/>
                </a:solidFill>
                <a:latin typeface="Arial"/>
                <a:ea typeface="Arial"/>
                <a:cs typeface="Arial"/>
              </a:rPr>
              <a:t>Designer / Editor</a:t>
            </a:r>
          </a:p>
        </p:txBody>
      </p:sp>
      <p:sp>
        <p:nvSpPr>
          <p:cNvPr id="29" name="">
            <a:extLst xmlns:a="http://schemas.openxmlformats.org/drawingml/2006/main">
              <a:ext uri="{FF2B5EF4-FFF2-40B4-BE49-F238E27FC236}">
                <a16:creationId xmlns:a16="http://schemas.microsoft.com/office/drawing/2014/main" id="{F4411BC0-3A5F-45FB-B519-017EB0D2E78B}"/>
              </a:ext>
            </a:extLst>
          </p:cNvPr>
          <p:cNvSpPr>
            <a:spLocks xmlns:a="http://schemas.openxmlformats.org/drawingml/2006/main" noGrp="1"/>
          </p:cNvSpPr>
          <p:nvPr/>
        </p:nvSpPr>
        <p:spPr>
          <a:xfrm xmlns:a="http://schemas.openxmlformats.org/drawingml/2006/main">
            <a:off x="5476875" y="577215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1E293B"/>
                </a:solidFill>
                <a:latin typeface="Arial"/>
                <a:ea typeface="Arial"/>
                <a:cs typeface="Arial"/>
              </a:defRPr>
            </a:pPr>
            <a:r>
              <a:rPr sz="1500" b="0" i="0">
                <a:solidFill>
                  <a:srgbClr val="1E293B"/>
                </a:solidFill>
                <a:latin typeface="Arial"/>
                <a:ea typeface="Arial"/>
                <a:cs typeface="Arial"/>
              </a:rPr>
              <a:t>Produce approved posters, videos, landing-page assets and advertising variations.</a:t>
            </a:r>
          </a:p>
        </p:txBody>
      </p:sp>
      <p:sp>
        <p:nvSpPr>
          <p:cNvPr id="30" name="">
            <a:extLst xmlns:a="http://schemas.openxmlformats.org/drawingml/2006/main">
              <a:ext uri="{FF2B5EF4-FFF2-40B4-BE49-F238E27FC236}">
                <a16:creationId xmlns:a16="http://schemas.microsoft.com/office/drawing/2014/main" id="{28933DC4-D5A1-4408-8B9E-E22F1F16A245}"/>
              </a:ext>
            </a:extLst>
          </p:cNvPr>
          <p:cNvSpPr>
            <a:spLocks xmlns:a="http://schemas.openxmlformats.org/drawingml/2006/main" noGrp="1"/>
          </p:cNvSpPr>
          <p:nvPr/>
        </p:nvSpPr>
        <p:spPr>
          <a:xfrm xmlns:a="http://schemas.openxmlformats.org/drawingml/2006/main">
            <a:off x="857250" y="6838950"/>
            <a:ext cx="13287375" cy="666750"/>
          </a:xfrm>
          <a:prstGeom xmlns:a="http://schemas.openxmlformats.org/drawingml/2006/main" prst="rect">
            <a:avLst/>
          </a:prstGeom>
          <a:solidFill xmlns:a="http://schemas.openxmlformats.org/drawingml/2006/main">
            <a:srgbClr val="234173"/>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26B98F9-AC9A-4BFA-B555-91DD37A57492}"/>
              </a:ext>
            </a:extLst>
          </p:cNvPr>
          <p:cNvSpPr>
            <a:spLocks xmlns:a="http://schemas.openxmlformats.org/drawingml/2006/main" noGrp="1"/>
          </p:cNvSpPr>
          <p:nvPr/>
        </p:nvSpPr>
        <p:spPr>
          <a:xfrm xmlns:a="http://schemas.openxmlformats.org/drawingml/2006/main">
            <a:off x="1143000" y="70389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538AC3"/>
                </a:solidFill>
                <a:latin typeface="Arial"/>
                <a:ea typeface="Arial"/>
                <a:cs typeface="Arial"/>
              </a:defRPr>
            </a:pPr>
            <a:r>
              <a:rPr sz="1500" b="1" i="0">
                <a:solidFill>
                  <a:srgbClr val="538AC3"/>
                </a:solidFill>
                <a:latin typeface="Arial"/>
                <a:ea typeface="Arial"/>
                <a:cs typeface="Arial"/>
              </a:rPr>
              <a:t>Weekly management rhythm</a:t>
            </a:r>
          </a:p>
        </p:txBody>
      </p:sp>
      <p:sp>
        <p:nvSpPr>
          <p:cNvPr id="32" name="">
            <a:extLst xmlns:a="http://schemas.openxmlformats.org/drawingml/2006/main">
              <a:ext uri="{FF2B5EF4-FFF2-40B4-BE49-F238E27FC236}">
                <a16:creationId xmlns:a16="http://schemas.microsoft.com/office/drawing/2014/main" id="{75D0AABE-8F61-4464-B51C-620389955737}"/>
              </a:ext>
            </a:extLst>
          </p:cNvPr>
          <p:cNvSpPr>
            <a:spLocks xmlns:a="http://schemas.openxmlformats.org/drawingml/2006/main" noGrp="1"/>
          </p:cNvSpPr>
          <p:nvPr/>
        </p:nvSpPr>
        <p:spPr>
          <a:xfrm xmlns:a="http://schemas.openxmlformats.org/drawingml/2006/main">
            <a:off x="4238625" y="7010400"/>
            <a:ext cx="9477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FFFFFF"/>
                </a:solidFill>
                <a:latin typeface="Arial"/>
                <a:ea typeface="Arial"/>
                <a:cs typeface="Arial"/>
              </a:defRPr>
            </a:pPr>
            <a:r>
              <a:rPr sz="1575" b="1" i="0">
                <a:solidFill>
                  <a:srgbClr val="FFFFFF"/>
                </a:solidFill>
                <a:latin typeface="Arial"/>
                <a:ea typeface="Arial"/>
                <a:cs typeface="Arial"/>
              </a:rPr>
              <a:t>30 minutes to review leads, appointments, conversion, revenue, budget and operational issues.</a:t>
            </a:r>
          </a:p>
        </p:txBody>
      </p:sp>
    </p:spTree>
    <p:extLst>
      <p:ext uri="{BB962C8B-B14F-4D97-AF65-F5344CB8AC3E}">
        <p14:creationId xmlns:p14="http://schemas.microsoft.com/office/powerpoint/2010/main" val="9169427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a7eb5ea12434eb4"/>
          <a:stretch xmlns:a="http://schemas.openxmlformats.org/drawingml/2006/main"/>
        </p:blipFill>
        <p:spPr>
          <a:xfrm xmlns:a="http://schemas.openxmlformats.org/drawingml/2006/main">
            <a:off x="748866" y="257175"/>
            <a:ext cx="2236069"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328899D-1A04-470B-B370-FA2E4B3F7FED}"/>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9CA2FED6-BC3F-4E87-A122-9A7240CB748D}"/>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119BA623-1C2A-421A-A7BE-03E3AD185E52}"/>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CE2B3A-64EE-4043-B329-D7A37FA80327}"/>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D7E2E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8528664-5767-491B-B273-6062FF22B591}"/>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34173"/>
                </a:solidFill>
                <a:latin typeface="Arial"/>
                <a:ea typeface="Arial"/>
                <a:cs typeface="Arial"/>
              </a:defRPr>
            </a:pPr>
            <a:r>
              <a:rPr sz="900" b="1" i="0">
                <a:solidFill>
                  <a:srgbClr val="234173"/>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AF826D8B-EC7D-441F-8C58-0EBE4EEAE016}"/>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64748B"/>
                </a:solidFill>
                <a:latin typeface="Arial"/>
                <a:ea typeface="Arial"/>
                <a:cs typeface="Arial"/>
              </a:defRPr>
            </a:pPr>
            <a:r>
              <a:rPr sz="825" b="0" i="0">
                <a:solidFill>
                  <a:srgbClr val="64748B"/>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BBF955E1-7956-41A7-817A-8257FCBE1C02}"/>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234173"/>
                </a:solidFill>
                <a:latin typeface="Arial"/>
                <a:ea typeface="Arial"/>
                <a:cs typeface="Arial"/>
              </a:defRPr>
            </a:pPr>
            <a:r>
              <a:rPr sz="1125" b="1" i="0">
                <a:solidFill>
                  <a:srgbClr val="234173"/>
                </a:solidFill>
                <a:latin typeface="Arial"/>
                <a:ea typeface="Arial"/>
                <a:cs typeface="Arial"/>
              </a:rPr>
              <a:t>19</a:t>
            </a:r>
          </a:p>
        </p:txBody>
      </p:sp>
      <p:sp>
        <p:nvSpPr>
          <p:cNvPr id="9" name="">
            <a:extLst xmlns:a="http://schemas.openxmlformats.org/drawingml/2006/main">
              <a:ext uri="{FF2B5EF4-FFF2-40B4-BE49-F238E27FC236}">
                <a16:creationId xmlns:a16="http://schemas.microsoft.com/office/drawing/2014/main" id="{4F04D30D-75CE-4E93-A41F-FFED1B6CE28F}"/>
              </a:ext>
            </a:extLst>
          </p:cNvPr>
          <p:cNvSpPr>
            <a:spLocks xmlns:a="http://schemas.openxmlformats.org/drawingml/2006/main" noGrp="1"/>
          </p:cNvSpPr>
          <p:nvPr/>
        </p:nvSpPr>
        <p:spPr>
          <a:xfrm xmlns:a="http://schemas.openxmlformats.org/drawingml/2006/main">
            <a:off x="838200" y="10858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538AC3"/>
                </a:solidFill>
                <a:latin typeface="Arial"/>
                <a:ea typeface="Arial"/>
                <a:cs typeface="Arial"/>
              </a:defRPr>
            </a:pPr>
            <a:r>
              <a:rPr sz="1125" b="1" i="0">
                <a:solidFill>
                  <a:srgbClr val="538AC3"/>
                </a:solidFill>
                <a:latin typeface="Arial"/>
                <a:ea typeface="Arial"/>
                <a:cs typeface="Arial"/>
              </a:rPr>
              <a:t>COMPLIANCE AND RISK CONTROLS</a:t>
            </a:r>
          </a:p>
        </p:txBody>
      </p:sp>
      <p:sp>
        <p:nvSpPr>
          <p:cNvPr id="10" name="">
            <a:extLst xmlns:a="http://schemas.openxmlformats.org/drawingml/2006/main">
              <a:ext uri="{FF2B5EF4-FFF2-40B4-BE49-F238E27FC236}">
                <a16:creationId xmlns:a16="http://schemas.microsoft.com/office/drawing/2014/main" id="{1D4FE364-1393-4CB4-9BA4-F130EFBFCB6A}"/>
              </a:ext>
            </a:extLst>
          </p:cNvPr>
          <p:cNvSpPr>
            <a:spLocks xmlns:a="http://schemas.openxmlformats.org/drawingml/2006/main" noGrp="1"/>
          </p:cNvSpPr>
          <p:nvPr/>
        </p:nvSpPr>
        <p:spPr>
          <a:xfrm xmlns:a="http://schemas.openxmlformats.org/drawingml/2006/main">
            <a:off x="838200" y="1409700"/>
            <a:ext cx="13563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234173"/>
                </a:solidFill>
                <a:latin typeface="Arial"/>
                <a:ea typeface="Arial"/>
                <a:cs typeface="Arial"/>
              </a:defRPr>
            </a:pPr>
            <a:r>
              <a:rPr sz="3150" b="1" i="0">
                <a:solidFill>
                  <a:srgbClr val="234173"/>
                </a:solidFill>
                <a:latin typeface="Arial"/>
                <a:ea typeface="Arial"/>
                <a:cs typeface="Arial"/>
              </a:rPr>
              <a:t>Registration is not automatic approval for every advertisement</a:t>
            </a:r>
          </a:p>
        </p:txBody>
      </p:sp>
      <p:sp>
        <p:nvSpPr>
          <p:cNvPr id="11" name="">
            <a:extLst xmlns:a="http://schemas.openxmlformats.org/drawingml/2006/main">
              <a:ext uri="{FF2B5EF4-FFF2-40B4-BE49-F238E27FC236}">
                <a16:creationId xmlns:a16="http://schemas.microsoft.com/office/drawing/2014/main" id="{60D98BCB-63B5-4399-85F6-DC1A480D9125}"/>
              </a:ext>
            </a:extLst>
          </p:cNvPr>
          <p:cNvSpPr>
            <a:spLocks xmlns:a="http://schemas.openxmlformats.org/drawingml/2006/main" noGrp="1"/>
          </p:cNvSpPr>
          <p:nvPr/>
        </p:nvSpPr>
        <p:spPr>
          <a:xfrm xmlns:a="http://schemas.openxmlformats.org/drawingml/2006/main">
            <a:off x="857250" y="2133600"/>
            <a:ext cx="13287375" cy="666750"/>
          </a:xfrm>
          <a:prstGeom xmlns:a="http://schemas.openxmlformats.org/drawingml/2006/main" prst="rect">
            <a:avLst/>
          </a:prstGeom>
          <a:solidFill xmlns:a="http://schemas.openxmlformats.org/drawingml/2006/main">
            <a:srgbClr val="FFF7E6"/>
          </a:solidFill>
          <a:ln xmlns:a="http://schemas.openxmlformats.org/drawingml/2006/main" w="9525">
            <a:solidFill>
              <a:srgbClr val="F6D69A"/>
            </a:solidFill>
            <a:prstDash val="solid"/>
          </a:ln>
        </p:spPr>
      </p:sp>
      <p:sp>
        <p:nvSpPr>
          <p:cNvPr id="12" name="">
            <a:extLst xmlns:a="http://schemas.openxmlformats.org/drawingml/2006/main">
              <a:ext uri="{FF2B5EF4-FFF2-40B4-BE49-F238E27FC236}">
                <a16:creationId xmlns:a16="http://schemas.microsoft.com/office/drawing/2014/main" id="{713B8313-82B6-4A6E-B499-27B3FBF8EA7C}"/>
              </a:ext>
            </a:extLst>
          </p:cNvPr>
          <p:cNvSpPr>
            <a:spLocks xmlns:a="http://schemas.openxmlformats.org/drawingml/2006/main" noGrp="1"/>
          </p:cNvSpPr>
          <p:nvPr/>
        </p:nvSpPr>
        <p:spPr>
          <a:xfrm xmlns:a="http://schemas.openxmlformats.org/drawingml/2006/main">
            <a:off x="1143000" y="2333625"/>
            <a:ext cx="114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9A5A00"/>
                </a:solidFill>
                <a:latin typeface="Arial"/>
                <a:ea typeface="Arial"/>
                <a:cs typeface="Arial"/>
              </a:defRPr>
            </a:pPr>
            <a:r>
              <a:rPr sz="1350" b="1" i="0">
                <a:solidFill>
                  <a:srgbClr val="9A5A00"/>
                </a:solidFill>
                <a:latin typeface="Arial"/>
                <a:ea typeface="Arial"/>
                <a:cs typeface="Arial"/>
              </a:rPr>
              <a:t>Important</a:t>
            </a:r>
          </a:p>
        </p:txBody>
      </p:sp>
      <p:sp>
        <p:nvSpPr>
          <p:cNvPr id="13" name="">
            <a:extLst xmlns:a="http://schemas.openxmlformats.org/drawingml/2006/main">
              <a:ext uri="{FF2B5EF4-FFF2-40B4-BE49-F238E27FC236}">
                <a16:creationId xmlns:a16="http://schemas.microsoft.com/office/drawing/2014/main" id="{57AD1994-AFCB-4719-B427-83FF20A0BE6A}"/>
              </a:ext>
            </a:extLst>
          </p:cNvPr>
          <p:cNvSpPr>
            <a:spLocks xmlns:a="http://schemas.openxmlformats.org/drawingml/2006/main" noGrp="1"/>
          </p:cNvSpPr>
          <p:nvPr/>
        </p:nvSpPr>
        <p:spPr>
          <a:xfrm xmlns:a="http://schemas.openxmlformats.org/drawingml/2006/main">
            <a:off x="2333625" y="2295525"/>
            <a:ext cx="11382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E293B"/>
                </a:solidFill>
                <a:latin typeface="Arial"/>
                <a:ea typeface="Arial"/>
                <a:cs typeface="Arial"/>
              </a:defRPr>
            </a:pPr>
            <a:r>
              <a:rPr sz="1500" b="1" i="0">
                <a:solidFill>
                  <a:srgbClr val="1E293B"/>
                </a:solidFill>
                <a:latin typeface="Arial"/>
                <a:ea typeface="Arial"/>
                <a:cs typeface="Arial"/>
              </a:rPr>
              <a:t>Every public poster, video, script and claim still needs the applicable approval path and authorised artwork.</a:t>
            </a:r>
          </a:p>
        </p:txBody>
      </p:sp>
      <p:sp>
        <p:nvSpPr>
          <p:cNvPr id="14" name="">
            <a:extLst xmlns:a="http://schemas.openxmlformats.org/drawingml/2006/main">
              <a:ext uri="{FF2B5EF4-FFF2-40B4-BE49-F238E27FC236}">
                <a16:creationId xmlns:a16="http://schemas.microsoft.com/office/drawing/2014/main" id="{C3D311AE-5D1B-41BE-A194-8D813B58B959}"/>
              </a:ext>
            </a:extLst>
          </p:cNvPr>
          <p:cNvSpPr>
            <a:spLocks xmlns:a="http://schemas.openxmlformats.org/drawingml/2006/main" noGrp="1"/>
          </p:cNvSpPr>
          <p:nvPr/>
        </p:nvSpPr>
        <p:spPr>
          <a:xfrm xmlns:a="http://schemas.openxmlformats.org/drawingml/2006/main">
            <a:off x="904875" y="3209925"/>
            <a:ext cx="57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9.1</a:t>
            </a:r>
          </a:p>
        </p:txBody>
      </p:sp>
      <p:sp>
        <p:nvSpPr>
          <p:cNvPr id="15" name="">
            <a:extLst xmlns:a="http://schemas.openxmlformats.org/drawingml/2006/main">
              <a:ext uri="{FF2B5EF4-FFF2-40B4-BE49-F238E27FC236}">
                <a16:creationId xmlns:a16="http://schemas.microsoft.com/office/drawing/2014/main" id="{1F1C77E4-3426-455A-89C7-579FB5E6511A}"/>
              </a:ext>
            </a:extLst>
          </p:cNvPr>
          <p:cNvSpPr>
            <a:spLocks xmlns:a="http://schemas.openxmlformats.org/drawingml/2006/main" noGrp="1"/>
          </p:cNvSpPr>
          <p:nvPr/>
        </p:nvSpPr>
        <p:spPr>
          <a:xfrm xmlns:a="http://schemas.openxmlformats.org/drawingml/2006/main">
            <a:off x="1476375" y="320992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E293B"/>
                </a:solidFill>
                <a:latin typeface="Arial"/>
                <a:ea typeface="Arial"/>
                <a:cs typeface="Arial"/>
              </a:defRPr>
            </a:pPr>
            <a:r>
              <a:rPr sz="1425" b="0" i="0">
                <a:solidFill>
                  <a:srgbClr val="1E293B"/>
                </a:solidFill>
                <a:latin typeface="Arial"/>
                <a:ea typeface="Arial"/>
                <a:cs typeface="Arial"/>
              </a:rPr>
              <a:t>Confirm registration number GD8996426-239437 against the current certificate.</a:t>
            </a:r>
          </a:p>
        </p:txBody>
      </p:sp>
      <p:sp>
        <p:nvSpPr>
          <p:cNvPr id="16" name="">
            <a:extLst xmlns:a="http://schemas.openxmlformats.org/drawingml/2006/main">
              <a:ext uri="{FF2B5EF4-FFF2-40B4-BE49-F238E27FC236}">
                <a16:creationId xmlns:a16="http://schemas.microsoft.com/office/drawing/2014/main" id="{8EB833C4-2CCF-4142-849C-FD61FB65D688}"/>
              </a:ext>
            </a:extLst>
          </p:cNvPr>
          <p:cNvSpPr>
            <a:spLocks xmlns:a="http://schemas.openxmlformats.org/drawingml/2006/main" noGrp="1"/>
          </p:cNvSpPr>
          <p:nvPr/>
        </p:nvSpPr>
        <p:spPr>
          <a:xfrm xmlns:a="http://schemas.openxmlformats.org/drawingml/2006/main">
            <a:off x="904875" y="3905250"/>
            <a:ext cx="60960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4336C91-68BA-40DC-B061-33EBBE71903C}"/>
              </a:ext>
            </a:extLst>
          </p:cNvPr>
          <p:cNvSpPr>
            <a:spLocks xmlns:a="http://schemas.openxmlformats.org/drawingml/2006/main" noGrp="1"/>
          </p:cNvSpPr>
          <p:nvPr/>
        </p:nvSpPr>
        <p:spPr>
          <a:xfrm xmlns:a="http://schemas.openxmlformats.org/drawingml/2006/main">
            <a:off x="904875" y="4086225"/>
            <a:ext cx="57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9.2</a:t>
            </a:r>
          </a:p>
        </p:txBody>
      </p:sp>
      <p:sp>
        <p:nvSpPr>
          <p:cNvPr id="18" name="">
            <a:extLst xmlns:a="http://schemas.openxmlformats.org/drawingml/2006/main">
              <a:ext uri="{FF2B5EF4-FFF2-40B4-BE49-F238E27FC236}">
                <a16:creationId xmlns:a16="http://schemas.microsoft.com/office/drawing/2014/main" id="{78467A40-B8DC-4222-BFEE-8415312DEA19}"/>
              </a:ext>
            </a:extLst>
          </p:cNvPr>
          <p:cNvSpPr>
            <a:spLocks xmlns:a="http://schemas.openxmlformats.org/drawingml/2006/main" noGrp="1"/>
          </p:cNvSpPr>
          <p:nvPr/>
        </p:nvSpPr>
        <p:spPr>
          <a:xfrm xmlns:a="http://schemas.openxmlformats.org/drawingml/2006/main">
            <a:off x="1476375" y="408622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E293B"/>
                </a:solidFill>
                <a:latin typeface="Arial"/>
                <a:ea typeface="Arial"/>
                <a:cs typeface="Arial"/>
              </a:defRPr>
            </a:pPr>
            <a:r>
              <a:rPr sz="1425" b="0" i="0">
                <a:solidFill>
                  <a:srgbClr val="1E293B"/>
                </a:solidFill>
                <a:latin typeface="Arial"/>
                <a:ea typeface="Arial"/>
                <a:cs typeface="Arial"/>
              </a:rPr>
              <a:t>Follow the applicable MDA approval route and use approved artwork or scripts.</a:t>
            </a:r>
          </a:p>
        </p:txBody>
      </p:sp>
      <p:sp>
        <p:nvSpPr>
          <p:cNvPr id="19" name="">
            <a:extLst xmlns:a="http://schemas.openxmlformats.org/drawingml/2006/main">
              <a:ext uri="{FF2B5EF4-FFF2-40B4-BE49-F238E27FC236}">
                <a16:creationId xmlns:a16="http://schemas.microsoft.com/office/drawing/2014/main" id="{425314AB-05DF-456C-9B0B-597029A52158}"/>
              </a:ext>
            </a:extLst>
          </p:cNvPr>
          <p:cNvSpPr>
            <a:spLocks xmlns:a="http://schemas.openxmlformats.org/drawingml/2006/main" noGrp="1"/>
          </p:cNvSpPr>
          <p:nvPr/>
        </p:nvSpPr>
        <p:spPr>
          <a:xfrm xmlns:a="http://schemas.openxmlformats.org/drawingml/2006/main">
            <a:off x="904875" y="4781550"/>
            <a:ext cx="60960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547072F-BC4B-4D88-A000-84C04A6BB967}"/>
              </a:ext>
            </a:extLst>
          </p:cNvPr>
          <p:cNvSpPr>
            <a:spLocks xmlns:a="http://schemas.openxmlformats.org/drawingml/2006/main" noGrp="1"/>
          </p:cNvSpPr>
          <p:nvPr/>
        </p:nvSpPr>
        <p:spPr>
          <a:xfrm xmlns:a="http://schemas.openxmlformats.org/drawingml/2006/main">
            <a:off x="904875" y="4962525"/>
            <a:ext cx="57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9.3</a:t>
            </a:r>
          </a:p>
        </p:txBody>
      </p:sp>
      <p:sp>
        <p:nvSpPr>
          <p:cNvPr id="21" name="">
            <a:extLst xmlns:a="http://schemas.openxmlformats.org/drawingml/2006/main">
              <a:ext uri="{FF2B5EF4-FFF2-40B4-BE49-F238E27FC236}">
                <a16:creationId xmlns:a16="http://schemas.microsoft.com/office/drawing/2014/main" id="{B6E2B247-75C4-4147-B656-25A094B6AEBA}"/>
              </a:ext>
            </a:extLst>
          </p:cNvPr>
          <p:cNvSpPr>
            <a:spLocks xmlns:a="http://schemas.openxmlformats.org/drawingml/2006/main" noGrp="1"/>
          </p:cNvSpPr>
          <p:nvPr/>
        </p:nvSpPr>
        <p:spPr>
          <a:xfrm xmlns:a="http://schemas.openxmlformats.org/drawingml/2006/main">
            <a:off x="1476375" y="496252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E293B"/>
                </a:solidFill>
                <a:latin typeface="Arial"/>
                <a:ea typeface="Arial"/>
                <a:cs typeface="Arial"/>
              </a:defRPr>
            </a:pPr>
            <a:r>
              <a:rPr sz="1425" b="0" i="0">
                <a:solidFill>
                  <a:srgbClr val="1E293B"/>
                </a:solidFill>
                <a:latin typeface="Arial"/>
                <a:ea typeface="Arial"/>
                <a:cs typeface="Arial"/>
              </a:rPr>
              <a:t>Display Act 737, registration and advertisement-approval details when required.</a:t>
            </a:r>
          </a:p>
        </p:txBody>
      </p:sp>
      <p:sp>
        <p:nvSpPr>
          <p:cNvPr id="22" name="">
            <a:extLst xmlns:a="http://schemas.openxmlformats.org/drawingml/2006/main">
              <a:ext uri="{FF2B5EF4-FFF2-40B4-BE49-F238E27FC236}">
                <a16:creationId xmlns:a16="http://schemas.microsoft.com/office/drawing/2014/main" id="{B9CC2C59-FE3D-4591-B978-C2ECF9012B43}"/>
              </a:ext>
            </a:extLst>
          </p:cNvPr>
          <p:cNvSpPr>
            <a:spLocks xmlns:a="http://schemas.openxmlformats.org/drawingml/2006/main" noGrp="1"/>
          </p:cNvSpPr>
          <p:nvPr/>
        </p:nvSpPr>
        <p:spPr>
          <a:xfrm xmlns:a="http://schemas.openxmlformats.org/drawingml/2006/main">
            <a:off x="904875" y="5657850"/>
            <a:ext cx="60960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584102A-9DBA-4A8F-A876-9F6924D7B1A9}"/>
              </a:ext>
            </a:extLst>
          </p:cNvPr>
          <p:cNvSpPr>
            <a:spLocks xmlns:a="http://schemas.openxmlformats.org/drawingml/2006/main" noGrp="1"/>
          </p:cNvSpPr>
          <p:nvPr/>
        </p:nvSpPr>
        <p:spPr>
          <a:xfrm xmlns:a="http://schemas.openxmlformats.org/drawingml/2006/main">
            <a:off x="904875" y="5838825"/>
            <a:ext cx="57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9.4</a:t>
            </a:r>
          </a:p>
        </p:txBody>
      </p:sp>
      <p:sp>
        <p:nvSpPr>
          <p:cNvPr id="24" name="">
            <a:extLst xmlns:a="http://schemas.openxmlformats.org/drawingml/2006/main">
              <a:ext uri="{FF2B5EF4-FFF2-40B4-BE49-F238E27FC236}">
                <a16:creationId xmlns:a16="http://schemas.microsoft.com/office/drawing/2014/main" id="{23154D6F-E0DD-4B76-B63D-828A3BF1ADE9}"/>
              </a:ext>
            </a:extLst>
          </p:cNvPr>
          <p:cNvSpPr>
            <a:spLocks xmlns:a="http://schemas.openxmlformats.org/drawingml/2006/main" noGrp="1"/>
          </p:cNvSpPr>
          <p:nvPr/>
        </p:nvSpPr>
        <p:spPr>
          <a:xfrm xmlns:a="http://schemas.openxmlformats.org/drawingml/2006/main">
            <a:off x="1476375" y="583882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E293B"/>
                </a:solidFill>
                <a:latin typeface="Arial"/>
                <a:ea typeface="Arial"/>
                <a:cs typeface="Arial"/>
              </a:defRPr>
            </a:pPr>
            <a:r>
              <a:rPr sz="1425" b="0" i="0">
                <a:solidFill>
                  <a:srgbClr val="1E293B"/>
                </a:solidFill>
                <a:latin typeface="Arial"/>
                <a:ea typeface="Arial"/>
                <a:cs typeface="Arial"/>
              </a:rPr>
              <a:t>Obtain written manufacturer or authorised-representative permission.</a:t>
            </a:r>
          </a:p>
        </p:txBody>
      </p:sp>
      <p:sp>
        <p:nvSpPr>
          <p:cNvPr id="25" name="">
            <a:extLst xmlns:a="http://schemas.openxmlformats.org/drawingml/2006/main">
              <a:ext uri="{FF2B5EF4-FFF2-40B4-BE49-F238E27FC236}">
                <a16:creationId xmlns:a16="http://schemas.microsoft.com/office/drawing/2014/main" id="{F6993900-5610-4FB1-B753-9B9C75F9A052}"/>
              </a:ext>
            </a:extLst>
          </p:cNvPr>
          <p:cNvSpPr>
            <a:spLocks xmlns:a="http://schemas.openxmlformats.org/drawingml/2006/main" noGrp="1"/>
          </p:cNvSpPr>
          <p:nvPr/>
        </p:nvSpPr>
        <p:spPr>
          <a:xfrm xmlns:a="http://schemas.openxmlformats.org/drawingml/2006/main">
            <a:off x="7762875" y="3209925"/>
            <a:ext cx="57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9.5</a:t>
            </a:r>
          </a:p>
        </p:txBody>
      </p:sp>
      <p:sp>
        <p:nvSpPr>
          <p:cNvPr id="26" name="">
            <a:extLst xmlns:a="http://schemas.openxmlformats.org/drawingml/2006/main">
              <a:ext uri="{FF2B5EF4-FFF2-40B4-BE49-F238E27FC236}">
                <a16:creationId xmlns:a16="http://schemas.microsoft.com/office/drawing/2014/main" id="{73A812EA-6AC9-4BA3-B052-22C1A0BE419C}"/>
              </a:ext>
            </a:extLst>
          </p:cNvPr>
          <p:cNvSpPr>
            <a:spLocks xmlns:a="http://schemas.openxmlformats.org/drawingml/2006/main" noGrp="1"/>
          </p:cNvSpPr>
          <p:nvPr/>
        </p:nvSpPr>
        <p:spPr>
          <a:xfrm xmlns:a="http://schemas.openxmlformats.org/drawingml/2006/main">
            <a:off x="8334375" y="320992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E293B"/>
                </a:solidFill>
                <a:latin typeface="Arial"/>
                <a:ea typeface="Arial"/>
                <a:cs typeface="Arial"/>
              </a:defRPr>
            </a:pPr>
            <a:r>
              <a:rPr sz="1425" b="0" i="0">
                <a:solidFill>
                  <a:srgbClr val="1E293B"/>
                </a:solidFill>
                <a:latin typeface="Arial"/>
                <a:ea typeface="Arial"/>
                <a:cs typeface="Arial"/>
              </a:rPr>
              <a:t>Review clinic-service advertising against MAB requirements before publication.</a:t>
            </a:r>
          </a:p>
        </p:txBody>
      </p:sp>
      <p:sp>
        <p:nvSpPr>
          <p:cNvPr id="27" name="">
            <a:extLst xmlns:a="http://schemas.openxmlformats.org/drawingml/2006/main">
              <a:ext uri="{FF2B5EF4-FFF2-40B4-BE49-F238E27FC236}">
                <a16:creationId xmlns:a16="http://schemas.microsoft.com/office/drawing/2014/main" id="{3FA715FE-EB9A-46B4-AED2-7E37AFDAFB36}"/>
              </a:ext>
            </a:extLst>
          </p:cNvPr>
          <p:cNvSpPr>
            <a:spLocks xmlns:a="http://schemas.openxmlformats.org/drawingml/2006/main" noGrp="1"/>
          </p:cNvSpPr>
          <p:nvPr/>
        </p:nvSpPr>
        <p:spPr>
          <a:xfrm xmlns:a="http://schemas.openxmlformats.org/drawingml/2006/main">
            <a:off x="7762875" y="3905250"/>
            <a:ext cx="60960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AA3F4F7-1168-40E0-B564-FB7DA9CC5DDF}"/>
              </a:ext>
            </a:extLst>
          </p:cNvPr>
          <p:cNvSpPr>
            <a:spLocks xmlns:a="http://schemas.openxmlformats.org/drawingml/2006/main" noGrp="1"/>
          </p:cNvSpPr>
          <p:nvPr/>
        </p:nvSpPr>
        <p:spPr>
          <a:xfrm xmlns:a="http://schemas.openxmlformats.org/drawingml/2006/main">
            <a:off x="7762875" y="4086225"/>
            <a:ext cx="57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9.6</a:t>
            </a:r>
          </a:p>
        </p:txBody>
      </p:sp>
      <p:sp>
        <p:nvSpPr>
          <p:cNvPr id="29" name="">
            <a:extLst xmlns:a="http://schemas.openxmlformats.org/drawingml/2006/main">
              <a:ext uri="{FF2B5EF4-FFF2-40B4-BE49-F238E27FC236}">
                <a16:creationId xmlns:a16="http://schemas.microsoft.com/office/drawing/2014/main" id="{894CDE2B-98AE-4892-850F-D024CA7EBDF5}"/>
              </a:ext>
            </a:extLst>
          </p:cNvPr>
          <p:cNvSpPr>
            <a:spLocks xmlns:a="http://schemas.openxmlformats.org/drawingml/2006/main" noGrp="1"/>
          </p:cNvSpPr>
          <p:nvPr/>
        </p:nvSpPr>
        <p:spPr>
          <a:xfrm xmlns:a="http://schemas.openxmlformats.org/drawingml/2006/main">
            <a:off x="8334375" y="408622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E293B"/>
                </a:solidFill>
                <a:latin typeface="Arial"/>
                <a:ea typeface="Arial"/>
                <a:cs typeface="Arial"/>
              </a:defRPr>
            </a:pPr>
            <a:r>
              <a:rPr sz="1425" b="0" i="0">
                <a:solidFill>
                  <a:srgbClr val="1E293B"/>
                </a:solidFill>
                <a:latin typeface="Arial"/>
                <a:ea typeface="Arial"/>
                <a:cs typeface="Arial"/>
              </a:rPr>
              <a:t>Avoid cure guarantees, superlatives, risk-free claims or unsupported comparisons.</a:t>
            </a:r>
          </a:p>
        </p:txBody>
      </p:sp>
      <p:sp>
        <p:nvSpPr>
          <p:cNvPr id="30" name="">
            <a:extLst xmlns:a="http://schemas.openxmlformats.org/drawingml/2006/main">
              <a:ext uri="{FF2B5EF4-FFF2-40B4-BE49-F238E27FC236}">
                <a16:creationId xmlns:a16="http://schemas.microsoft.com/office/drawing/2014/main" id="{4DD314DD-74D7-4204-A7A5-4304EA4B015D}"/>
              </a:ext>
            </a:extLst>
          </p:cNvPr>
          <p:cNvSpPr>
            <a:spLocks xmlns:a="http://schemas.openxmlformats.org/drawingml/2006/main" noGrp="1"/>
          </p:cNvSpPr>
          <p:nvPr/>
        </p:nvSpPr>
        <p:spPr>
          <a:xfrm xmlns:a="http://schemas.openxmlformats.org/drawingml/2006/main">
            <a:off x="7762875" y="4781550"/>
            <a:ext cx="60960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122819E-441D-4D68-9F98-22EDE2292F58}"/>
              </a:ext>
            </a:extLst>
          </p:cNvPr>
          <p:cNvSpPr>
            <a:spLocks xmlns:a="http://schemas.openxmlformats.org/drawingml/2006/main" noGrp="1"/>
          </p:cNvSpPr>
          <p:nvPr/>
        </p:nvSpPr>
        <p:spPr>
          <a:xfrm xmlns:a="http://schemas.openxmlformats.org/drawingml/2006/main">
            <a:off x="7762875" y="4962525"/>
            <a:ext cx="57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9.7</a:t>
            </a:r>
          </a:p>
        </p:txBody>
      </p:sp>
      <p:sp>
        <p:nvSpPr>
          <p:cNvPr id="32" name="">
            <a:extLst xmlns:a="http://schemas.openxmlformats.org/drawingml/2006/main">
              <a:ext uri="{FF2B5EF4-FFF2-40B4-BE49-F238E27FC236}">
                <a16:creationId xmlns:a16="http://schemas.microsoft.com/office/drawing/2014/main" id="{47D50F17-93BD-47E3-AAE2-85C8295CA515}"/>
              </a:ext>
            </a:extLst>
          </p:cNvPr>
          <p:cNvSpPr>
            <a:spLocks xmlns:a="http://schemas.openxmlformats.org/drawingml/2006/main" noGrp="1"/>
          </p:cNvSpPr>
          <p:nvPr/>
        </p:nvSpPr>
        <p:spPr>
          <a:xfrm xmlns:a="http://schemas.openxmlformats.org/drawingml/2006/main">
            <a:off x="8334375" y="496252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E293B"/>
                </a:solidFill>
                <a:latin typeface="Arial"/>
                <a:ea typeface="Arial"/>
                <a:cs typeface="Arial"/>
              </a:defRPr>
            </a:pPr>
            <a:r>
              <a:rPr sz="1425" b="0" i="0">
                <a:solidFill>
                  <a:srgbClr val="1E293B"/>
                </a:solidFill>
                <a:latin typeface="Arial"/>
                <a:ea typeface="Arial"/>
                <a:cs typeface="Arial"/>
              </a:rPr>
              <a:t>Use written consent for patient images or testimonials; protect identity and health data.</a:t>
            </a:r>
          </a:p>
        </p:txBody>
      </p:sp>
      <p:sp>
        <p:nvSpPr>
          <p:cNvPr id="33" name="">
            <a:extLst xmlns:a="http://schemas.openxmlformats.org/drawingml/2006/main">
              <a:ext uri="{FF2B5EF4-FFF2-40B4-BE49-F238E27FC236}">
                <a16:creationId xmlns:a16="http://schemas.microsoft.com/office/drawing/2014/main" id="{1D25FD74-B4E0-46D1-8DCA-3712D52302AB}"/>
              </a:ext>
            </a:extLst>
          </p:cNvPr>
          <p:cNvSpPr>
            <a:spLocks xmlns:a="http://schemas.openxmlformats.org/drawingml/2006/main" noGrp="1"/>
          </p:cNvSpPr>
          <p:nvPr/>
        </p:nvSpPr>
        <p:spPr>
          <a:xfrm xmlns:a="http://schemas.openxmlformats.org/drawingml/2006/main">
            <a:off x="7762875" y="5657850"/>
            <a:ext cx="6096000" cy="9525"/>
          </a:xfrm>
          <a:prstGeom xmlns:a="http://schemas.openxmlformats.org/drawingml/2006/main" prst="rect">
            <a:avLst/>
          </a:prstGeom>
          <a:solidFill xmlns:a="http://schemas.openxmlformats.org/drawingml/2006/main">
            <a:srgbClr val="EAF1F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540B4C1-583C-4F23-B9FB-9465F9107DDF}"/>
              </a:ext>
            </a:extLst>
          </p:cNvPr>
          <p:cNvSpPr>
            <a:spLocks xmlns:a="http://schemas.openxmlformats.org/drawingml/2006/main" noGrp="1"/>
          </p:cNvSpPr>
          <p:nvPr/>
        </p:nvSpPr>
        <p:spPr>
          <a:xfrm xmlns:a="http://schemas.openxmlformats.org/drawingml/2006/main">
            <a:off x="7762875" y="5838825"/>
            <a:ext cx="571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173"/>
                </a:solidFill>
                <a:latin typeface="Arial"/>
                <a:ea typeface="Arial"/>
                <a:cs typeface="Arial"/>
              </a:defRPr>
            </a:pPr>
            <a:r>
              <a:rPr sz="1500" b="1" i="0">
                <a:solidFill>
                  <a:srgbClr val="234173"/>
                </a:solidFill>
                <a:latin typeface="Arial"/>
                <a:ea typeface="Arial"/>
                <a:cs typeface="Arial"/>
              </a:rPr>
              <a:t>9.8</a:t>
            </a:r>
          </a:p>
        </p:txBody>
      </p:sp>
      <p:sp>
        <p:nvSpPr>
          <p:cNvPr id="35" name="">
            <a:extLst xmlns:a="http://schemas.openxmlformats.org/drawingml/2006/main">
              <a:ext uri="{FF2B5EF4-FFF2-40B4-BE49-F238E27FC236}">
                <a16:creationId xmlns:a16="http://schemas.microsoft.com/office/drawing/2014/main" id="{DBA796C0-4BF6-4292-9CE6-D1407E915970}"/>
              </a:ext>
            </a:extLst>
          </p:cNvPr>
          <p:cNvSpPr>
            <a:spLocks xmlns:a="http://schemas.openxmlformats.org/drawingml/2006/main" noGrp="1"/>
          </p:cNvSpPr>
          <p:nvPr/>
        </p:nvSpPr>
        <p:spPr>
          <a:xfrm xmlns:a="http://schemas.openxmlformats.org/drawingml/2006/main">
            <a:off x="8334375" y="583882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E293B"/>
                </a:solidFill>
                <a:latin typeface="Arial"/>
                <a:ea typeface="Arial"/>
                <a:cs typeface="Arial"/>
              </a:defRPr>
            </a:pPr>
            <a:r>
              <a:rPr sz="1425" b="0" i="0">
                <a:solidFill>
                  <a:srgbClr val="1E293B"/>
                </a:solidFill>
                <a:latin typeface="Arial"/>
                <a:ea typeface="Arial"/>
                <a:cs typeface="Arial"/>
              </a:rPr>
              <a:t>Recheck approval when language, claims or visual messages change materially.</a:t>
            </a:r>
          </a:p>
        </p:txBody>
      </p:sp>
      <p:sp>
        <p:nvSpPr>
          <p:cNvPr id="36" name="">
            <a:extLst xmlns:a="http://schemas.openxmlformats.org/drawingml/2006/main">
              <a:ext uri="{FF2B5EF4-FFF2-40B4-BE49-F238E27FC236}">
                <a16:creationId xmlns:a16="http://schemas.microsoft.com/office/drawing/2014/main" id="{FAC029D9-59E7-4EBF-8648-24AD0D33E03F}"/>
              </a:ext>
            </a:extLst>
          </p:cNvPr>
          <p:cNvSpPr>
            <a:spLocks xmlns:a="http://schemas.openxmlformats.org/drawingml/2006/main" noGrp="1"/>
          </p:cNvSpPr>
          <p:nvPr/>
        </p:nvSpPr>
        <p:spPr>
          <a:xfrm xmlns:a="http://schemas.openxmlformats.org/drawingml/2006/main">
            <a:off x="904875" y="7124700"/>
            <a:ext cx="1323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4748B"/>
                </a:solidFill>
                <a:latin typeface="Arial"/>
                <a:ea typeface="Arial"/>
                <a:cs typeface="Arial"/>
              </a:defRPr>
            </a:pPr>
            <a:r>
              <a:rPr sz="975" b="0" i="0">
                <a:solidFill>
                  <a:srgbClr val="64748B"/>
                </a:solidFill>
                <a:latin typeface="Arial"/>
                <a:ea typeface="Arial"/>
                <a:cs typeface="Arial"/>
              </a:rPr>
              <a:t>References: Medical Device Authority advertisement guidance; MDA/GL/04; Ministry of Health Pharmaceutical Services advertising FAQ.</a:t>
            </a:r>
          </a:p>
        </p:txBody>
      </p:sp>
    </p:spTree>
    <p:extLst>
      <p:ext uri="{BB962C8B-B14F-4D97-AF65-F5344CB8AC3E}">
        <p14:creationId xmlns:p14="http://schemas.microsoft.com/office/powerpoint/2010/main" val="1843309914"/>
      </p:ext>
    </p:extLst>
  </p:cSld>
</p:sld>
</file>

<file path=ppt/slides/slide20.xml><?xml version="1.0" encoding="utf-8"?>
<p:sld xmlns:p="http://schemas.openxmlformats.org/presentationml/2006/main">
  <p:cSld>
    <p:bg>
      <p:bgPr>
        <a:solidFill xmlns:a="http://schemas.openxmlformats.org/drawingml/2006/main">
          <a:srgbClr val="234173"/>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96c6ba1af80464e"/>
          <a:stretch xmlns:a="http://schemas.openxmlformats.org/drawingml/2006/main"/>
        </p:blipFill>
        <p:spPr>
          <a:xfrm xmlns:a="http://schemas.openxmlformats.org/drawingml/2006/main">
            <a:off x="979118" y="257175"/>
            <a:ext cx="1775563" cy="571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134B34-C9D0-4F07-A232-8D6DEE4C46B0}"/>
              </a:ext>
            </a:extLst>
          </p:cNvPr>
          <p:cNvSpPr>
            <a:spLocks xmlns:a="http://schemas.openxmlformats.org/drawingml/2006/main" noGrp="1"/>
          </p:cNvSpPr>
          <p:nvPr/>
        </p:nvSpPr>
        <p:spPr>
          <a:xfrm xmlns:a="http://schemas.openxmlformats.org/drawingml/2006/main">
            <a:off x="9620250" y="3333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SALES &amp; MARKETING PLAN 2026</a:t>
            </a:r>
          </a:p>
        </p:txBody>
      </p:sp>
      <p:sp>
        <p:nvSpPr>
          <p:cNvPr id="3" name="">
            <a:extLst xmlns:a="http://schemas.openxmlformats.org/drawingml/2006/main">
              <a:ext uri="{FF2B5EF4-FFF2-40B4-BE49-F238E27FC236}">
                <a16:creationId xmlns:a16="http://schemas.microsoft.com/office/drawing/2014/main" id="{24D5A24F-E6FD-454A-A98B-4922A5F66F39}"/>
              </a:ext>
            </a:extLst>
          </p:cNvPr>
          <p:cNvSpPr>
            <a:spLocks xmlns:a="http://schemas.openxmlformats.org/drawingml/2006/main" noGrp="1"/>
          </p:cNvSpPr>
          <p:nvPr/>
        </p:nvSpPr>
        <p:spPr>
          <a:xfrm xmlns:a="http://schemas.openxmlformats.org/drawingml/2006/main">
            <a:off x="8858250" y="581025"/>
            <a:ext cx="552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D6E3F2"/>
                </a:solidFill>
                <a:latin typeface="Arial"/>
                <a:ea typeface="Arial"/>
                <a:cs typeface="Arial"/>
              </a:defRPr>
            </a:pPr>
            <a:r>
              <a:rPr sz="975" b="0" i="0">
                <a:solidFill>
                  <a:srgbClr val="D6E3F2"/>
                </a:solidFill>
                <a:latin typeface="Arial"/>
                <a:ea typeface="Arial"/>
                <a:cs typeface="Arial"/>
              </a:rPr>
              <a:t>Cellmax New Phase | August-December 2026</a:t>
            </a:r>
          </a:p>
        </p:txBody>
      </p:sp>
      <p:sp>
        <p:nvSpPr>
          <p:cNvPr id="4" name="">
            <a:extLst xmlns:a="http://schemas.openxmlformats.org/drawingml/2006/main">
              <a:ext uri="{FF2B5EF4-FFF2-40B4-BE49-F238E27FC236}">
                <a16:creationId xmlns:a16="http://schemas.microsoft.com/office/drawing/2014/main" id="{7241CAA0-7B08-4C39-8AE7-73CCA173D05E}"/>
              </a:ext>
            </a:extLst>
          </p:cNvPr>
          <p:cNvSpPr>
            <a:spLocks xmlns:a="http://schemas.openxmlformats.org/drawingml/2006/main" noGrp="1"/>
          </p:cNvSpPr>
          <p:nvPr/>
        </p:nvSpPr>
        <p:spPr>
          <a:xfrm xmlns:a="http://schemas.openxmlformats.org/drawingml/2006/main">
            <a:off x="742950" y="962025"/>
            <a:ext cx="13639800" cy="19050"/>
          </a:xfrm>
          <a:prstGeom xmlns:a="http://schemas.openxmlformats.org/drawingml/2006/main" prst="rect">
            <a:avLst/>
          </a:prstGeom>
          <a:solidFill xmlns:a="http://schemas.openxmlformats.org/drawingml/2006/main">
            <a:srgbClr val="5C78A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6023514-4737-4A1D-972F-C4E473413EE1}"/>
              </a:ext>
            </a:extLst>
          </p:cNvPr>
          <p:cNvSpPr>
            <a:spLocks xmlns:a="http://schemas.openxmlformats.org/drawingml/2006/main" noGrp="1"/>
          </p:cNvSpPr>
          <p:nvPr/>
        </p:nvSpPr>
        <p:spPr>
          <a:xfrm xmlns:a="http://schemas.openxmlformats.org/drawingml/2006/main">
            <a:off x="742950" y="7867650"/>
            <a:ext cx="13639800" cy="19050"/>
          </a:xfrm>
          <a:prstGeom xmlns:a="http://schemas.openxmlformats.org/drawingml/2006/main" prst="rect">
            <a:avLst/>
          </a:prstGeom>
          <a:solidFill xmlns:a="http://schemas.openxmlformats.org/drawingml/2006/main">
            <a:srgbClr val="5C78A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ED0F17D-DDF0-4E4E-95E9-3F1B8AD504F0}"/>
              </a:ext>
            </a:extLst>
          </p:cNvPr>
          <p:cNvSpPr>
            <a:spLocks xmlns:a="http://schemas.openxmlformats.org/drawingml/2006/main" noGrp="1"/>
          </p:cNvSpPr>
          <p:nvPr/>
        </p:nvSpPr>
        <p:spPr>
          <a:xfrm xmlns:a="http://schemas.openxmlformats.org/drawingml/2006/main">
            <a:off x="762000" y="8010525"/>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FFFFF"/>
                </a:solidFill>
                <a:latin typeface="Arial"/>
                <a:ea typeface="Arial"/>
                <a:cs typeface="Arial"/>
              </a:defRPr>
            </a:pPr>
            <a:r>
              <a:rPr sz="900" b="1" i="0">
                <a:solidFill>
                  <a:srgbClr val="FFFFFF"/>
                </a:solidFill>
                <a:latin typeface="Arial"/>
                <a:ea typeface="Arial"/>
                <a:cs typeface="Arial"/>
              </a:rPr>
              <a:t>G06 &amp; G07, VUE Residence Service Suite 102, Jalan Pahang, 53300 Kuala Lumpur</a:t>
            </a:r>
          </a:p>
        </p:txBody>
      </p:sp>
      <p:sp>
        <p:nvSpPr>
          <p:cNvPr id="7" name="">
            <a:extLst xmlns:a="http://schemas.openxmlformats.org/drawingml/2006/main">
              <a:ext uri="{FF2B5EF4-FFF2-40B4-BE49-F238E27FC236}">
                <a16:creationId xmlns:a16="http://schemas.microsoft.com/office/drawing/2014/main" id="{9B3697F0-9929-404E-BB55-E1E312CD858D}"/>
              </a:ext>
            </a:extLst>
          </p:cNvPr>
          <p:cNvSpPr>
            <a:spLocks xmlns:a="http://schemas.openxmlformats.org/drawingml/2006/main" noGrp="1"/>
          </p:cNvSpPr>
          <p:nvPr/>
        </p:nvSpPr>
        <p:spPr>
          <a:xfrm xmlns:a="http://schemas.openxmlformats.org/drawingml/2006/main">
            <a:off x="762000" y="8201025"/>
            <a:ext cx="92392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0" i="0">
                <a:solidFill>
                  <a:srgbClr val="D6E3F2"/>
                </a:solidFill>
                <a:latin typeface="Arial"/>
                <a:ea typeface="Arial"/>
                <a:cs typeface="Arial"/>
              </a:defRPr>
            </a:pPr>
            <a:r>
              <a:rPr sz="825" b="0" i="0">
                <a:solidFill>
                  <a:srgbClr val="D6E3F2"/>
                </a:solidFill>
                <a:latin typeface="Arial"/>
                <a:ea typeface="Arial"/>
                <a:cs typeface="Arial"/>
              </a:rPr>
              <a:t>T +60 3-9771 4550  |  WA +60 17-897 4751  |  klinikinocare.com</a:t>
            </a:r>
          </a:p>
        </p:txBody>
      </p:sp>
      <p:sp>
        <p:nvSpPr>
          <p:cNvPr id="8" name="">
            <a:extLst xmlns:a="http://schemas.openxmlformats.org/drawingml/2006/main">
              <a:ext uri="{FF2B5EF4-FFF2-40B4-BE49-F238E27FC236}">
                <a16:creationId xmlns:a16="http://schemas.microsoft.com/office/drawing/2014/main" id="{0C279500-4107-474C-A7B7-F77129EE7D91}"/>
              </a:ext>
            </a:extLst>
          </p:cNvPr>
          <p:cNvSpPr>
            <a:spLocks xmlns:a="http://schemas.openxmlformats.org/drawingml/2006/main" noGrp="1"/>
          </p:cNvSpPr>
          <p:nvPr/>
        </p:nvSpPr>
        <p:spPr>
          <a:xfrm xmlns:a="http://schemas.openxmlformats.org/drawingml/2006/main">
            <a:off x="13668375" y="80105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125" b="1" i="0">
                <a:solidFill>
                  <a:srgbClr val="FFFFFF"/>
                </a:solidFill>
                <a:latin typeface="Arial"/>
                <a:ea typeface="Arial"/>
                <a:cs typeface="Arial"/>
              </a:defRPr>
            </a:pPr>
            <a:r>
              <a:rPr sz="1125" b="1" i="0">
                <a:solidFill>
                  <a:srgbClr val="FFFFFF"/>
                </a:solidFill>
                <a:latin typeface="Arial"/>
                <a:ea typeface="Arial"/>
                <a:cs typeface="Arial"/>
              </a:rPr>
              <a:t>20</a:t>
            </a:r>
          </a:p>
        </p:txBody>
      </p:sp>
      <p:sp>
        <p:nvSpPr>
          <p:cNvPr id="9" name="">
            <a:extLst xmlns:a="http://schemas.openxmlformats.org/drawingml/2006/main">
              <a:ext uri="{FF2B5EF4-FFF2-40B4-BE49-F238E27FC236}">
                <a16:creationId xmlns:a16="http://schemas.microsoft.com/office/drawing/2014/main" id="{78F0C5B5-3C63-4053-8AE1-B264DC98ED95}"/>
              </a:ext>
            </a:extLst>
          </p:cNvPr>
          <p:cNvSpPr>
            <a:spLocks xmlns:a="http://schemas.openxmlformats.org/drawingml/2006/main" noGrp="1"/>
          </p:cNvSpPr>
          <p:nvPr/>
        </p:nvSpPr>
        <p:spPr>
          <a:xfrm xmlns:a="http://schemas.openxmlformats.org/drawingml/2006/main">
            <a:off x="857250" y="13906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538AC3"/>
                </a:solidFill>
                <a:latin typeface="Arial"/>
                <a:ea typeface="Arial"/>
                <a:cs typeface="Arial"/>
              </a:defRPr>
            </a:pPr>
            <a:r>
              <a:rPr sz="1275" b="1" i="0">
                <a:solidFill>
                  <a:srgbClr val="538AC3"/>
                </a:solidFill>
                <a:latin typeface="Arial"/>
                <a:ea typeface="Arial"/>
                <a:cs typeface="Arial"/>
              </a:rPr>
              <a:t>DECISIONS REQUIRED</a:t>
            </a:r>
          </a:p>
        </p:txBody>
      </p:sp>
      <p:sp>
        <p:nvSpPr>
          <p:cNvPr id="10" name="">
            <a:extLst xmlns:a="http://schemas.openxmlformats.org/drawingml/2006/main">
              <a:ext uri="{FF2B5EF4-FFF2-40B4-BE49-F238E27FC236}">
                <a16:creationId xmlns:a16="http://schemas.microsoft.com/office/drawing/2014/main" id="{D6687C8A-F010-4028-86C6-DD7E65D49A51}"/>
              </a:ext>
            </a:extLst>
          </p:cNvPr>
          <p:cNvSpPr>
            <a:spLocks xmlns:a="http://schemas.openxmlformats.org/drawingml/2006/main" noGrp="1"/>
          </p:cNvSpPr>
          <p:nvPr/>
        </p:nvSpPr>
        <p:spPr>
          <a:xfrm xmlns:a="http://schemas.openxmlformats.org/drawingml/2006/main">
            <a:off x="857250" y="1828800"/>
            <a:ext cx="1000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375" b="1" i="0">
                <a:solidFill>
                  <a:srgbClr val="FFFFFF"/>
                </a:solidFill>
                <a:latin typeface="Arial"/>
                <a:ea typeface="Arial"/>
                <a:cs typeface="Arial"/>
              </a:defRPr>
            </a:pPr>
            <a:r>
              <a:rPr sz="3375" b="1" i="0">
                <a:solidFill>
                  <a:srgbClr val="FFFFFF"/>
                </a:solidFill>
                <a:latin typeface="Arial"/>
                <a:ea typeface="Arial"/>
                <a:cs typeface="Arial"/>
              </a:rPr>
              <a:t>Six approvals unlock the soft launch</a:t>
            </a:r>
          </a:p>
        </p:txBody>
      </p:sp>
      <p:sp>
        <p:nvSpPr>
          <p:cNvPr id="11" name="">
            <a:extLst xmlns:a="http://schemas.openxmlformats.org/drawingml/2006/main">
              <a:ext uri="{FF2B5EF4-FFF2-40B4-BE49-F238E27FC236}">
                <a16:creationId xmlns:a16="http://schemas.microsoft.com/office/drawing/2014/main" id="{165D6C54-AD91-4528-AFDA-535C7898BC04}"/>
              </a:ext>
            </a:extLst>
          </p:cNvPr>
          <p:cNvSpPr>
            <a:spLocks xmlns:a="http://schemas.openxmlformats.org/drawingml/2006/main" noGrp="1"/>
          </p:cNvSpPr>
          <p:nvPr/>
        </p:nvSpPr>
        <p:spPr>
          <a:xfrm xmlns:a="http://schemas.openxmlformats.org/drawingml/2006/main">
            <a:off x="857250" y="29051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10.1</a:t>
            </a:r>
          </a:p>
        </p:txBody>
      </p:sp>
      <p:sp>
        <p:nvSpPr>
          <p:cNvPr id="12" name="">
            <a:extLst xmlns:a="http://schemas.openxmlformats.org/drawingml/2006/main">
              <a:ext uri="{FF2B5EF4-FFF2-40B4-BE49-F238E27FC236}">
                <a16:creationId xmlns:a16="http://schemas.microsoft.com/office/drawing/2014/main" id="{68E8596D-261D-472F-A16E-56F5B820C511}"/>
              </a:ext>
            </a:extLst>
          </p:cNvPr>
          <p:cNvSpPr>
            <a:spLocks xmlns:a="http://schemas.openxmlformats.org/drawingml/2006/main" noGrp="1"/>
          </p:cNvSpPr>
          <p:nvPr/>
        </p:nvSpPr>
        <p:spPr>
          <a:xfrm xmlns:a="http://schemas.openxmlformats.org/drawingml/2006/main">
            <a:off x="1666875" y="2886075"/>
            <a:ext cx="561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i="0">
                <a:solidFill>
                  <a:srgbClr val="FFFFFF"/>
                </a:solidFill>
                <a:latin typeface="Arial"/>
                <a:ea typeface="Arial"/>
                <a:cs typeface="Arial"/>
              </a:defRPr>
            </a:pPr>
            <a:r>
              <a:rPr sz="1725" b="1" i="0">
                <a:solidFill>
                  <a:srgbClr val="FFFFFF"/>
                </a:solidFill>
                <a:latin typeface="Arial"/>
                <a:ea typeface="Arial"/>
                <a:cs typeface="Arial"/>
              </a:rPr>
              <a:t>Monthly revenue targets and average treatment-plan value</a:t>
            </a:r>
          </a:p>
        </p:txBody>
      </p:sp>
      <p:sp>
        <p:nvSpPr>
          <p:cNvPr id="13" name="">
            <a:extLst xmlns:a="http://schemas.openxmlformats.org/drawingml/2006/main">
              <a:ext uri="{FF2B5EF4-FFF2-40B4-BE49-F238E27FC236}">
                <a16:creationId xmlns:a16="http://schemas.microsoft.com/office/drawing/2014/main" id="{AEDC8D7F-608C-464F-BB3A-62669B5D8A4D}"/>
              </a:ext>
            </a:extLst>
          </p:cNvPr>
          <p:cNvSpPr>
            <a:spLocks xmlns:a="http://schemas.openxmlformats.org/drawingml/2006/main" noGrp="1"/>
          </p:cNvSpPr>
          <p:nvPr/>
        </p:nvSpPr>
        <p:spPr>
          <a:xfrm xmlns:a="http://schemas.openxmlformats.org/drawingml/2006/main">
            <a:off x="857250" y="3857625"/>
            <a:ext cx="6191250"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042FF32-A9D5-497D-9712-F8EC17BB4BBF}"/>
              </a:ext>
            </a:extLst>
          </p:cNvPr>
          <p:cNvSpPr>
            <a:spLocks xmlns:a="http://schemas.openxmlformats.org/drawingml/2006/main" noGrp="1"/>
          </p:cNvSpPr>
          <p:nvPr/>
        </p:nvSpPr>
        <p:spPr>
          <a:xfrm xmlns:a="http://schemas.openxmlformats.org/drawingml/2006/main">
            <a:off x="7715250" y="29051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10.2</a:t>
            </a:r>
          </a:p>
        </p:txBody>
      </p:sp>
      <p:sp>
        <p:nvSpPr>
          <p:cNvPr id="15" name="">
            <a:extLst xmlns:a="http://schemas.openxmlformats.org/drawingml/2006/main">
              <a:ext uri="{FF2B5EF4-FFF2-40B4-BE49-F238E27FC236}">
                <a16:creationId xmlns:a16="http://schemas.microsoft.com/office/drawing/2014/main" id="{136E5055-B4D0-4D89-9A96-B24052EAF227}"/>
              </a:ext>
            </a:extLst>
          </p:cNvPr>
          <p:cNvSpPr>
            <a:spLocks xmlns:a="http://schemas.openxmlformats.org/drawingml/2006/main" noGrp="1"/>
          </p:cNvSpPr>
          <p:nvPr/>
        </p:nvSpPr>
        <p:spPr>
          <a:xfrm xmlns:a="http://schemas.openxmlformats.org/drawingml/2006/main">
            <a:off x="8524875" y="2886075"/>
            <a:ext cx="561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i="0">
                <a:solidFill>
                  <a:srgbClr val="FFFFFF"/>
                </a:solidFill>
                <a:latin typeface="Arial"/>
                <a:ea typeface="Arial"/>
                <a:cs typeface="Arial"/>
              </a:defRPr>
            </a:pPr>
            <a:r>
              <a:rPr sz="1725" b="1" i="0">
                <a:solidFill>
                  <a:srgbClr val="FFFFFF"/>
                </a:solidFill>
                <a:latin typeface="Arial"/>
                <a:ea typeface="Arial"/>
                <a:cs typeface="Arial"/>
              </a:rPr>
              <a:t>Pricing, package inclusions, payment options and weekly capacity</a:t>
            </a:r>
          </a:p>
        </p:txBody>
      </p:sp>
      <p:sp>
        <p:nvSpPr>
          <p:cNvPr id="16" name="">
            <a:extLst xmlns:a="http://schemas.openxmlformats.org/drawingml/2006/main">
              <a:ext uri="{FF2B5EF4-FFF2-40B4-BE49-F238E27FC236}">
                <a16:creationId xmlns:a16="http://schemas.microsoft.com/office/drawing/2014/main" id="{EB1EEBF1-AF84-4959-B075-FA1ED2E1A98E}"/>
              </a:ext>
            </a:extLst>
          </p:cNvPr>
          <p:cNvSpPr>
            <a:spLocks xmlns:a="http://schemas.openxmlformats.org/drawingml/2006/main" noGrp="1"/>
          </p:cNvSpPr>
          <p:nvPr/>
        </p:nvSpPr>
        <p:spPr>
          <a:xfrm xmlns:a="http://schemas.openxmlformats.org/drawingml/2006/main">
            <a:off x="7715250" y="3857625"/>
            <a:ext cx="6191250"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B7A3425-D9D5-45C8-956C-1E70F648D020}"/>
              </a:ext>
            </a:extLst>
          </p:cNvPr>
          <p:cNvSpPr>
            <a:spLocks xmlns:a="http://schemas.openxmlformats.org/drawingml/2006/main" noGrp="1"/>
          </p:cNvSpPr>
          <p:nvPr/>
        </p:nvSpPr>
        <p:spPr>
          <a:xfrm xmlns:a="http://schemas.openxmlformats.org/drawingml/2006/main">
            <a:off x="857250" y="414337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10.3</a:t>
            </a:r>
          </a:p>
        </p:txBody>
      </p:sp>
      <p:sp>
        <p:nvSpPr>
          <p:cNvPr id="18" name="">
            <a:extLst xmlns:a="http://schemas.openxmlformats.org/drawingml/2006/main">
              <a:ext uri="{FF2B5EF4-FFF2-40B4-BE49-F238E27FC236}">
                <a16:creationId xmlns:a16="http://schemas.microsoft.com/office/drawing/2014/main" id="{23D4E35F-55E5-4EBE-9DD0-DD651573824E}"/>
              </a:ext>
            </a:extLst>
          </p:cNvPr>
          <p:cNvSpPr>
            <a:spLocks xmlns:a="http://schemas.openxmlformats.org/drawingml/2006/main" noGrp="1"/>
          </p:cNvSpPr>
          <p:nvPr/>
        </p:nvSpPr>
        <p:spPr>
          <a:xfrm xmlns:a="http://schemas.openxmlformats.org/drawingml/2006/main">
            <a:off x="1666875" y="4124325"/>
            <a:ext cx="561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i="0">
                <a:solidFill>
                  <a:srgbClr val="FFFFFF"/>
                </a:solidFill>
                <a:latin typeface="Arial"/>
                <a:ea typeface="Arial"/>
                <a:cs typeface="Arial"/>
              </a:defRPr>
            </a:pPr>
            <a:r>
              <a:rPr sz="1725" b="1" i="0">
                <a:solidFill>
                  <a:srgbClr val="FFFFFF"/>
                </a:solidFill>
                <a:latin typeface="Arial"/>
                <a:ea typeface="Arial"/>
                <a:cs typeface="Arial"/>
              </a:rPr>
              <a:t>August-December paid-media budget and scaling limits</a:t>
            </a:r>
          </a:p>
        </p:txBody>
      </p:sp>
      <p:sp>
        <p:nvSpPr>
          <p:cNvPr id="19" name="">
            <a:extLst xmlns:a="http://schemas.openxmlformats.org/drawingml/2006/main">
              <a:ext uri="{FF2B5EF4-FFF2-40B4-BE49-F238E27FC236}">
                <a16:creationId xmlns:a16="http://schemas.microsoft.com/office/drawing/2014/main" id="{49DD12A0-4744-4291-BAFB-6196BD54AFBD}"/>
              </a:ext>
            </a:extLst>
          </p:cNvPr>
          <p:cNvSpPr>
            <a:spLocks xmlns:a="http://schemas.openxmlformats.org/drawingml/2006/main" noGrp="1"/>
          </p:cNvSpPr>
          <p:nvPr/>
        </p:nvSpPr>
        <p:spPr>
          <a:xfrm xmlns:a="http://schemas.openxmlformats.org/drawingml/2006/main">
            <a:off x="857250" y="5095875"/>
            <a:ext cx="6191250"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178F05F-C5A1-4F58-B52E-4B88FC89F1E6}"/>
              </a:ext>
            </a:extLst>
          </p:cNvPr>
          <p:cNvSpPr>
            <a:spLocks xmlns:a="http://schemas.openxmlformats.org/drawingml/2006/main" noGrp="1"/>
          </p:cNvSpPr>
          <p:nvPr/>
        </p:nvSpPr>
        <p:spPr>
          <a:xfrm xmlns:a="http://schemas.openxmlformats.org/drawingml/2006/main">
            <a:off x="7715250" y="414337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10.4</a:t>
            </a:r>
          </a:p>
        </p:txBody>
      </p:sp>
      <p:sp>
        <p:nvSpPr>
          <p:cNvPr id="21" name="">
            <a:extLst xmlns:a="http://schemas.openxmlformats.org/drawingml/2006/main">
              <a:ext uri="{FF2B5EF4-FFF2-40B4-BE49-F238E27FC236}">
                <a16:creationId xmlns:a16="http://schemas.microsoft.com/office/drawing/2014/main" id="{434E4AF3-C0C5-4491-BAB2-4DDCA3DD0570}"/>
              </a:ext>
            </a:extLst>
          </p:cNvPr>
          <p:cNvSpPr>
            <a:spLocks xmlns:a="http://schemas.openxmlformats.org/drawingml/2006/main" noGrp="1"/>
          </p:cNvSpPr>
          <p:nvPr/>
        </p:nvSpPr>
        <p:spPr>
          <a:xfrm xmlns:a="http://schemas.openxmlformats.org/drawingml/2006/main">
            <a:off x="8524875" y="4124325"/>
            <a:ext cx="561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i="0">
                <a:solidFill>
                  <a:srgbClr val="FFFFFF"/>
                </a:solidFill>
                <a:latin typeface="Arial"/>
                <a:ea typeface="Arial"/>
                <a:cs typeface="Arial"/>
              </a:defRPr>
            </a:pPr>
            <a:r>
              <a:rPr sz="1725" b="1" i="0">
                <a:solidFill>
                  <a:srgbClr val="FFFFFF"/>
                </a:solidFill>
                <a:latin typeface="Arial"/>
                <a:ea typeface="Arial"/>
                <a:cs typeface="Arial"/>
              </a:rPr>
              <a:t>MDA/MAB status, advertising authorisation and approver for each asset</a:t>
            </a:r>
          </a:p>
        </p:txBody>
      </p:sp>
      <p:sp>
        <p:nvSpPr>
          <p:cNvPr id="22" name="">
            <a:extLst xmlns:a="http://schemas.openxmlformats.org/drawingml/2006/main">
              <a:ext uri="{FF2B5EF4-FFF2-40B4-BE49-F238E27FC236}">
                <a16:creationId xmlns:a16="http://schemas.microsoft.com/office/drawing/2014/main" id="{7CFCA120-ECEA-4A73-9BEA-00E728100043}"/>
              </a:ext>
            </a:extLst>
          </p:cNvPr>
          <p:cNvSpPr>
            <a:spLocks xmlns:a="http://schemas.openxmlformats.org/drawingml/2006/main" noGrp="1"/>
          </p:cNvSpPr>
          <p:nvPr/>
        </p:nvSpPr>
        <p:spPr>
          <a:xfrm xmlns:a="http://schemas.openxmlformats.org/drawingml/2006/main">
            <a:off x="7715250" y="5095875"/>
            <a:ext cx="6191250" cy="9525"/>
          </a:xfrm>
          <a:prstGeom xmlns:a="http://schemas.openxmlformats.org/drawingml/2006/main" prst="rect">
            <a:avLst/>
          </a:prstGeom>
          <a:solidFill xmlns:a="http://schemas.openxmlformats.org/drawingml/2006/main">
            <a:srgbClr val="49658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0B16CDE-8D76-498D-914B-D9B05B8C704F}"/>
              </a:ext>
            </a:extLst>
          </p:cNvPr>
          <p:cNvSpPr>
            <a:spLocks xmlns:a="http://schemas.openxmlformats.org/drawingml/2006/main" noGrp="1"/>
          </p:cNvSpPr>
          <p:nvPr/>
        </p:nvSpPr>
        <p:spPr>
          <a:xfrm xmlns:a="http://schemas.openxmlformats.org/drawingml/2006/main">
            <a:off x="857250" y="53816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10.5</a:t>
            </a:r>
          </a:p>
        </p:txBody>
      </p:sp>
      <p:sp>
        <p:nvSpPr>
          <p:cNvPr id="24" name="">
            <a:extLst xmlns:a="http://schemas.openxmlformats.org/drawingml/2006/main">
              <a:ext uri="{FF2B5EF4-FFF2-40B4-BE49-F238E27FC236}">
                <a16:creationId xmlns:a16="http://schemas.microsoft.com/office/drawing/2014/main" id="{DB1FF811-FB9F-451E-85E1-F04648CB757B}"/>
              </a:ext>
            </a:extLst>
          </p:cNvPr>
          <p:cNvSpPr>
            <a:spLocks xmlns:a="http://schemas.openxmlformats.org/drawingml/2006/main" noGrp="1"/>
          </p:cNvSpPr>
          <p:nvPr/>
        </p:nvSpPr>
        <p:spPr>
          <a:xfrm xmlns:a="http://schemas.openxmlformats.org/drawingml/2006/main">
            <a:off x="1666875" y="5362575"/>
            <a:ext cx="561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i="0">
                <a:solidFill>
                  <a:srgbClr val="FFFFFF"/>
                </a:solidFill>
                <a:latin typeface="Arial"/>
                <a:ea typeface="Arial"/>
                <a:cs typeface="Arial"/>
              </a:defRPr>
            </a:pPr>
            <a:r>
              <a:rPr sz="1725" b="1" i="0">
                <a:solidFill>
                  <a:srgbClr val="FFFFFF"/>
                </a:solidFill>
                <a:latin typeface="Arial"/>
                <a:ea typeface="Arial"/>
                <a:cs typeface="Arial"/>
              </a:rPr>
              <a:t>Owners for content, WhatsApp, partnerships, reporting and clinical approval</a:t>
            </a:r>
          </a:p>
        </p:txBody>
      </p:sp>
      <p:sp>
        <p:nvSpPr>
          <p:cNvPr id="25" name="">
            <a:extLst xmlns:a="http://schemas.openxmlformats.org/drawingml/2006/main">
              <a:ext uri="{FF2B5EF4-FFF2-40B4-BE49-F238E27FC236}">
                <a16:creationId xmlns:a16="http://schemas.microsoft.com/office/drawing/2014/main" id="{B8816090-6A0F-4556-8130-91C61E0376EE}"/>
              </a:ext>
            </a:extLst>
          </p:cNvPr>
          <p:cNvSpPr>
            <a:spLocks xmlns:a="http://schemas.openxmlformats.org/drawingml/2006/main" noGrp="1"/>
          </p:cNvSpPr>
          <p:nvPr/>
        </p:nvSpPr>
        <p:spPr>
          <a:xfrm xmlns:a="http://schemas.openxmlformats.org/drawingml/2006/main">
            <a:off x="7715250" y="5381625"/>
            <a:ext cx="714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538AC3"/>
                </a:solidFill>
                <a:latin typeface="Arial"/>
                <a:ea typeface="Arial"/>
                <a:cs typeface="Arial"/>
              </a:defRPr>
            </a:pPr>
            <a:r>
              <a:rPr sz="1200" b="1" i="0">
                <a:solidFill>
                  <a:srgbClr val="538AC3"/>
                </a:solidFill>
                <a:latin typeface="Arial"/>
                <a:ea typeface="Arial"/>
                <a:cs typeface="Arial"/>
              </a:rPr>
              <a:t>10.6</a:t>
            </a:r>
          </a:p>
        </p:txBody>
      </p:sp>
      <p:sp>
        <p:nvSpPr>
          <p:cNvPr id="26" name="">
            <a:extLst xmlns:a="http://schemas.openxmlformats.org/drawingml/2006/main">
              <a:ext uri="{FF2B5EF4-FFF2-40B4-BE49-F238E27FC236}">
                <a16:creationId xmlns:a16="http://schemas.microsoft.com/office/drawing/2014/main" id="{0B7D5FE5-420C-446A-ABFA-1F5A3DD42792}"/>
              </a:ext>
            </a:extLst>
          </p:cNvPr>
          <p:cNvSpPr>
            <a:spLocks xmlns:a="http://schemas.openxmlformats.org/drawingml/2006/main" noGrp="1"/>
          </p:cNvSpPr>
          <p:nvPr/>
        </p:nvSpPr>
        <p:spPr>
          <a:xfrm xmlns:a="http://schemas.openxmlformats.org/drawingml/2006/main">
            <a:off x="8524875" y="5362575"/>
            <a:ext cx="561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1" i="0">
                <a:solidFill>
                  <a:srgbClr val="FFFFFF"/>
                </a:solidFill>
                <a:latin typeface="Arial"/>
                <a:ea typeface="Arial"/>
                <a:cs typeface="Arial"/>
              </a:defRPr>
            </a:pPr>
            <a:r>
              <a:rPr sz="1725" b="1" i="0">
                <a:solidFill>
                  <a:srgbClr val="FFFFFF"/>
                </a:solidFill>
                <a:latin typeface="Arial"/>
                <a:ea typeface="Arial"/>
                <a:cs typeface="Arial"/>
              </a:rPr>
              <a:t>Soft-launch date and first performance-review date</a:t>
            </a:r>
          </a:p>
        </p:txBody>
      </p:sp>
      <p:sp>
        <p:nvSpPr>
          <p:cNvPr id="27" name="">
            <a:extLst xmlns:a="http://schemas.openxmlformats.org/drawingml/2006/main">
              <a:ext uri="{FF2B5EF4-FFF2-40B4-BE49-F238E27FC236}">
                <a16:creationId xmlns:a16="http://schemas.microsoft.com/office/drawing/2014/main" id="{CE0776BE-CE08-4AC4-BC78-5D1B100E2C63}"/>
              </a:ext>
            </a:extLst>
          </p:cNvPr>
          <p:cNvSpPr>
            <a:spLocks xmlns:a="http://schemas.openxmlformats.org/drawingml/2006/main" noGrp="1"/>
          </p:cNvSpPr>
          <p:nvPr/>
        </p:nvSpPr>
        <p:spPr>
          <a:xfrm xmlns:a="http://schemas.openxmlformats.org/drawingml/2006/main">
            <a:off x="857250" y="6705600"/>
            <a:ext cx="1524000" cy="47625"/>
          </a:xfrm>
          <a:prstGeom xmlns:a="http://schemas.openxmlformats.org/drawingml/2006/main" prst="rect">
            <a:avLst/>
          </a:prstGeom>
          <a:solidFill xmlns:a="http://schemas.openxmlformats.org/drawingml/2006/main">
            <a:srgbClr val="538AC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F5ECD4A-CC1E-46C8-B90B-063DE226BE26}"/>
              </a:ext>
            </a:extLst>
          </p:cNvPr>
          <p:cNvSpPr>
            <a:spLocks xmlns:a="http://schemas.openxmlformats.org/drawingml/2006/main" noGrp="1"/>
          </p:cNvSpPr>
          <p:nvPr/>
        </p:nvSpPr>
        <p:spPr>
          <a:xfrm xmlns:a="http://schemas.openxmlformats.org/drawingml/2006/main">
            <a:off x="857250" y="6981825"/>
            <a:ext cx="125253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75" b="1" i="0">
                <a:solidFill>
                  <a:srgbClr val="DCE7F4"/>
                </a:solidFill>
                <a:latin typeface="Arial"/>
                <a:ea typeface="Arial"/>
                <a:cs typeface="Arial"/>
              </a:defRPr>
            </a:pPr>
            <a:r>
              <a:rPr sz="1875" b="1" i="0">
                <a:solidFill>
                  <a:srgbClr val="DCE7F4"/>
                </a:solidFill>
                <a:latin typeface="Arial"/>
                <a:ea typeface="Arial"/>
                <a:cs typeface="Arial"/>
              </a:rPr>
              <a:t>Approve the operating system first. Then scale only the channels that produce qualified patients, booked assessments and clinically appropriate care plans.</a:t>
            </a:r>
          </a:p>
        </p:txBody>
      </p:sp>
    </p:spTree>
    <p:extLst>
      <p:ext uri="{BB962C8B-B14F-4D97-AF65-F5344CB8AC3E}">
        <p14:creationId xmlns:p14="http://schemas.microsoft.com/office/powerpoint/2010/main" val="1535024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2026-08-14T22:17:43.0690000Z</dcterms:created>
  <dcterms:modified xsi:type="dcterms:W3CDTF">2026-08-14T22:17:43.0690000Z</dcterms:modified>
</coreProperties>
</file>